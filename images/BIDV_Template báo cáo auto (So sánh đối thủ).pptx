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4.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5.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6.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7" r:id="rId2"/>
    <p:sldId id="282" r:id="rId3"/>
    <p:sldId id="3723" r:id="rId4"/>
    <p:sldId id="3724" r:id="rId5"/>
    <p:sldId id="287" r:id="rId6"/>
    <p:sldId id="3719" r:id="rId7"/>
    <p:sldId id="3722" r:id="rId8"/>
    <p:sldId id="3718" r:id="rId9"/>
    <p:sldId id="30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0E1372A-7CBF-C4AF-5215-7846CC37CAAF}" name="Tran Huu Nghi" initials="TN" userId="8338bb4bcdb3f398"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A5A5"/>
    <a:srgbClr val="0E6C69"/>
    <a:srgbClr val="F63840"/>
    <a:srgbClr val="131DD2"/>
    <a:srgbClr val="158D4A"/>
    <a:srgbClr val="20B0F1"/>
    <a:srgbClr val="131DD3"/>
    <a:srgbClr val="158C49"/>
    <a:srgbClr val="0C5E9A"/>
    <a:srgbClr val="0F63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488" autoAdjust="0"/>
    <p:restoredTop sz="94774"/>
  </p:normalViewPr>
  <p:slideViewPr>
    <p:cSldViewPr snapToGrid="0">
      <p:cViewPr varScale="1">
        <p:scale>
          <a:sx n="77" d="100"/>
          <a:sy n="77" d="100"/>
        </p:scale>
        <p:origin x="35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4692443532891791E-2"/>
          <c:y val="3.7710674788154173E-2"/>
          <c:w val="0.95767611797810315"/>
          <c:h val="0.88605978218936754"/>
        </c:manualLayout>
      </c:layout>
      <c:doughnutChart>
        <c:varyColors val="1"/>
        <c:ser>
          <c:idx val="0"/>
          <c:order val="0"/>
          <c:tx>
            <c:strRef>
              <c:f>Sheet1!$B$1</c:f>
              <c:strCache>
                <c:ptCount val="1"/>
                <c:pt idx="0">
                  <c:v>Sales</c:v>
                </c:pt>
              </c:strCache>
            </c:strRef>
          </c:tx>
          <c:spPr>
            <a:ln>
              <a:noFill/>
            </a:ln>
            <a:effectLst/>
          </c:spPr>
          <c:dPt>
            <c:idx val="0"/>
            <c:bubble3D val="0"/>
            <c:spPr>
              <a:solidFill>
                <a:srgbClr val="84A392"/>
              </a:solidFill>
              <a:ln w="19050">
                <a:noFill/>
              </a:ln>
              <a:effectLst/>
            </c:spPr>
            <c:extLst>
              <c:ext xmlns:c16="http://schemas.microsoft.com/office/drawing/2014/chart" uri="{C3380CC4-5D6E-409C-BE32-E72D297353CC}">
                <c16:uniqueId val="{00000001-1491-4047-868B-20B419FFF121}"/>
              </c:ext>
            </c:extLst>
          </c:dPt>
          <c:dPt>
            <c:idx val="1"/>
            <c:bubble3D val="0"/>
            <c:spPr>
              <a:solidFill>
                <a:srgbClr val="7FD7F7"/>
              </a:solidFill>
              <a:ln w="19050">
                <a:noFill/>
              </a:ln>
              <a:effectLst/>
            </c:spPr>
            <c:extLst>
              <c:ext xmlns:c16="http://schemas.microsoft.com/office/drawing/2014/chart" uri="{C3380CC4-5D6E-409C-BE32-E72D297353CC}">
                <c16:uniqueId val="{00000003-1491-4047-868B-20B419FFF121}"/>
              </c:ext>
            </c:extLst>
          </c:dPt>
          <c:dPt>
            <c:idx val="2"/>
            <c:bubble3D val="0"/>
            <c:explosion val="3"/>
            <c:spPr>
              <a:solidFill>
                <a:srgbClr val="7FB5B4"/>
              </a:solidFill>
              <a:ln w="19050">
                <a:noFill/>
              </a:ln>
              <a:effectLst/>
            </c:spPr>
            <c:extLst>
              <c:ext xmlns:c16="http://schemas.microsoft.com/office/drawing/2014/chart" uri="{C3380CC4-5D6E-409C-BE32-E72D297353CC}">
                <c16:uniqueId val="{00000005-1491-4047-868B-20B419FFF121}"/>
              </c:ext>
            </c:extLst>
          </c:dPt>
          <c:dPt>
            <c:idx val="3"/>
            <c:bubble3D val="0"/>
            <c:spPr>
              <a:solidFill>
                <a:srgbClr val="FF7F7F"/>
              </a:solidFill>
              <a:ln w="19050">
                <a:noFill/>
              </a:ln>
              <a:effectLst/>
            </c:spPr>
            <c:extLst>
              <c:ext xmlns:c16="http://schemas.microsoft.com/office/drawing/2014/chart" uri="{C3380CC4-5D6E-409C-BE32-E72D297353CC}">
                <c16:uniqueId val="{00000007-1491-4047-868B-20B419FFF121}"/>
              </c:ext>
            </c:extLst>
          </c:dPt>
          <c:dPt>
            <c:idx val="4"/>
            <c:bubble3D val="0"/>
            <c:spPr>
              <a:solidFill>
                <a:srgbClr val="7FC49E"/>
              </a:solidFill>
              <a:ln w="19050">
                <a:noFill/>
              </a:ln>
              <a:effectLst/>
            </c:spPr>
            <c:extLst>
              <c:ext xmlns:c16="http://schemas.microsoft.com/office/drawing/2014/chart" uri="{C3380CC4-5D6E-409C-BE32-E72D297353CC}">
                <c16:uniqueId val="{00000009-1491-4047-868B-20B419FFF121}"/>
              </c:ext>
            </c:extLst>
          </c:dPt>
          <c:dPt>
            <c:idx val="5"/>
            <c:bubble3D val="0"/>
            <c:spPr>
              <a:solidFill>
                <a:srgbClr val="7FACC5"/>
              </a:solidFill>
              <a:ln w="19050">
                <a:noFill/>
              </a:ln>
              <a:effectLst/>
            </c:spPr>
            <c:extLst>
              <c:ext xmlns:c16="http://schemas.microsoft.com/office/drawing/2014/chart" uri="{C3380CC4-5D6E-409C-BE32-E72D297353CC}">
                <c16:uniqueId val="{0000000B-1491-4047-868B-20B419FFF121}"/>
              </c:ext>
            </c:extLst>
          </c:dPt>
          <c:dPt>
            <c:idx val="6"/>
            <c:bubble3D val="0"/>
            <c:spPr>
              <a:solidFill>
                <a:srgbClr val="898EE9"/>
              </a:solidFill>
              <a:ln w="19050">
                <a:noFill/>
              </a:ln>
              <a:effectLst/>
            </c:spPr>
            <c:extLst>
              <c:ext xmlns:c16="http://schemas.microsoft.com/office/drawing/2014/chart" uri="{C3380CC4-5D6E-409C-BE32-E72D297353CC}">
                <c16:uniqueId val="{0000000D-1491-4047-868B-20B419FFF121}"/>
              </c:ext>
            </c:extLst>
          </c:dPt>
          <c:dPt>
            <c:idx val="7"/>
            <c:bubble3D val="0"/>
            <c:spPr>
              <a:solidFill>
                <a:srgbClr val="D98EA0"/>
              </a:solidFill>
              <a:ln w="19050">
                <a:noFill/>
              </a:ln>
              <a:effectLst/>
            </c:spPr>
            <c:extLst>
              <c:ext xmlns:c16="http://schemas.microsoft.com/office/drawing/2014/chart" uri="{C3380CC4-5D6E-409C-BE32-E72D297353CC}">
                <c16:uniqueId val="{0000000F-1491-4047-868B-20B419FFF121}"/>
              </c:ext>
            </c:extLst>
          </c:dPt>
          <c:dLbls>
            <c:dLbl>
              <c:idx val="0"/>
              <c:layout>
                <c:manualLayout>
                  <c:x val="-2.2446558112118763E-7"/>
                  <c:y val="7.7892737923513236E-3"/>
                </c:manualLayout>
              </c:layout>
              <c:tx>
                <c:rich>
                  <a:bodyPr/>
                  <a:lstStyle/>
                  <a:p>
                    <a:fld id="{483B095B-319C-4CB8-ABA9-4F5D995C3AAC}" type="PERCENTAGE">
                      <a:rPr lang="en-US">
                        <a:latin typeface="SVN-Product Sans" panose="020B0403030502040203"/>
                      </a:rPr>
                      <a:pPr/>
                      <a:t>[PERCENTAGE]</a:t>
                    </a:fld>
                    <a:endParaRPr lang="en-US"/>
                  </a:p>
                </c:rich>
              </c:tx>
              <c:showLegendKey val="0"/>
              <c:showVal val="0"/>
              <c:showCatName val="0"/>
              <c:showSerName val="0"/>
              <c:showPercent val="1"/>
              <c:showBubbleSize val="0"/>
              <c:extLst>
                <c:ext xmlns:c15="http://schemas.microsoft.com/office/drawing/2012/chart" uri="{CE6537A1-D6FC-4f65-9D91-7224C49458BB}">
                  <c15:layout>
                    <c:manualLayout>
                      <c:w val="0.25848332346449326"/>
                      <c:h val="0.11739948576497586"/>
                    </c:manualLayout>
                  </c15:layout>
                  <c15:dlblFieldTable/>
                  <c15:showDataLabelsRange val="0"/>
                </c:ext>
                <c:ext xmlns:c16="http://schemas.microsoft.com/office/drawing/2014/chart" uri="{C3380CC4-5D6E-409C-BE32-E72D297353CC}">
                  <c16:uniqueId val="{00000001-1491-4047-868B-20B419FFF121}"/>
                </c:ext>
              </c:extLst>
            </c:dLbl>
            <c:dLbl>
              <c:idx val="4"/>
              <c:showLegendKey val="0"/>
              <c:showVal val="0"/>
              <c:showCatName val="0"/>
              <c:showSerName val="0"/>
              <c:showPercent val="1"/>
              <c:showBubbleSize val="0"/>
              <c:extLst>
                <c:ext xmlns:c15="http://schemas.microsoft.com/office/drawing/2012/chart" uri="{CE6537A1-D6FC-4f65-9D91-7224C49458BB}">
                  <c15:layout>
                    <c:manualLayout>
                      <c:w val="0.19899636949369096"/>
                      <c:h val="0.12618955531836842"/>
                    </c:manualLayout>
                  </c15:layout>
                </c:ext>
                <c:ext xmlns:c16="http://schemas.microsoft.com/office/drawing/2014/chart" uri="{C3380CC4-5D6E-409C-BE32-E72D297353CC}">
                  <c16:uniqueId val="{00000009-1491-4047-868B-20B419FFF121}"/>
                </c:ext>
              </c:extLst>
            </c:dLbl>
            <c:numFmt formatCode="0.0%" sourceLinked="0"/>
            <c:spPr>
              <a:noFill/>
              <a:ln>
                <a:noFill/>
              </a:ln>
              <a:effectLst/>
            </c:spPr>
            <c:txPr>
              <a:bodyPr rot="0" spcFirstLastPara="1" vertOverflow="clip" horzOverflow="clip" vert="horz" wrap="square" lIns="38100" tIns="19050" rIns="38100" bIns="19050" anchor="ctr" anchorCtr="1">
                <a:spAutoFit/>
              </a:bodyPr>
              <a:lstStyle/>
              <a:p>
                <a:pPr>
                  <a:defRPr sz="850" b="1" i="0" u="none" strike="noStrike" kern="1200" baseline="0">
                    <a:solidFill>
                      <a:schemeClr val="bg1"/>
                    </a:solidFill>
                    <a:latin typeface="SVN-Product Sans" panose="020B0403030502040203" pitchFamily="34" charset="0"/>
                    <a:ea typeface="+mn-ea"/>
                    <a:cs typeface="Arial" panose="020B0604020202020204" pitchFamily="34" charset="0"/>
                  </a:defRPr>
                </a:pPr>
                <a:endParaRPr lang="en-VN"/>
              </a:p>
            </c:txPr>
            <c:showLegendKey val="0"/>
            <c:showVal val="0"/>
            <c:showCatName val="0"/>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Sheet1!$A$2:$A$9</c:f>
              <c:strCache>
                <c:ptCount val="8"/>
                <c:pt idx="0">
                  <c:v>Vietcombank</c:v>
                </c:pt>
                <c:pt idx="1">
                  <c:v>ACB</c:v>
                </c:pt>
                <c:pt idx="2">
                  <c:v>BIDV</c:v>
                </c:pt>
                <c:pt idx="3">
                  <c:v>Techcombank</c:v>
                </c:pt>
                <c:pt idx="4">
                  <c:v>VPBank</c:v>
                </c:pt>
                <c:pt idx="5">
                  <c:v>Vietinbank</c:v>
                </c:pt>
                <c:pt idx="6">
                  <c:v>MBBank</c:v>
                </c:pt>
                <c:pt idx="7">
                  <c:v>Agribank</c:v>
                </c:pt>
              </c:strCache>
            </c:strRef>
          </c:cat>
          <c:val>
            <c:numRef>
              <c:f>Sheet1!$B$2:$B$9</c:f>
              <c:numCache>
                <c:formatCode>_(* #,##0_);_(* \(#,##0\);_(* "-"??_);_(@_)</c:formatCode>
                <c:ptCount val="8"/>
                <c:pt idx="0">
                  <c:v>98085</c:v>
                </c:pt>
                <c:pt idx="1">
                  <c:v>52352</c:v>
                </c:pt>
                <c:pt idx="2">
                  <c:v>72282</c:v>
                </c:pt>
                <c:pt idx="3">
                  <c:v>160869</c:v>
                </c:pt>
                <c:pt idx="4">
                  <c:v>233453</c:v>
                </c:pt>
                <c:pt idx="5">
                  <c:v>65669</c:v>
                </c:pt>
                <c:pt idx="6">
                  <c:v>84597</c:v>
                </c:pt>
                <c:pt idx="7">
                  <c:v>59072</c:v>
                </c:pt>
              </c:numCache>
            </c:numRef>
          </c:val>
          <c:extLst>
            <c:ext xmlns:c16="http://schemas.microsoft.com/office/drawing/2014/chart" uri="{C3380CC4-5D6E-409C-BE32-E72D297353CC}">
              <c16:uniqueId val="{00000010-1491-4047-868B-20B419FFF121}"/>
            </c:ext>
          </c:extLst>
        </c:ser>
        <c:dLbls>
          <c:showLegendKey val="0"/>
          <c:showVal val="0"/>
          <c:showCatName val="0"/>
          <c:showSerName val="0"/>
          <c:showPercent val="0"/>
          <c:showBubbleSize val="0"/>
          <c:showLeaderLines val="0"/>
        </c:dLbls>
        <c:firstSliceAng val="0"/>
        <c:holeSize val="5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V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4692443532891791E-2"/>
          <c:y val="3.7710674788154173E-2"/>
          <c:w val="0.95767611797810315"/>
          <c:h val="0.88605978218936754"/>
        </c:manualLayout>
      </c:layout>
      <c:doughnutChart>
        <c:varyColors val="1"/>
        <c:ser>
          <c:idx val="0"/>
          <c:order val="0"/>
          <c:tx>
            <c:strRef>
              <c:f>Sheet1!$B$1</c:f>
              <c:strCache>
                <c:ptCount val="1"/>
                <c:pt idx="0">
                  <c:v>Sales</c:v>
                </c:pt>
              </c:strCache>
            </c:strRef>
          </c:tx>
          <c:spPr>
            <a:ln>
              <a:noFill/>
            </a:ln>
            <a:effectLst/>
          </c:spPr>
          <c:dPt>
            <c:idx val="0"/>
            <c:bubble3D val="0"/>
            <c:spPr>
              <a:solidFill>
                <a:srgbClr val="008D4B"/>
              </a:solidFill>
              <a:ln w="19050">
                <a:noFill/>
              </a:ln>
              <a:effectLst/>
            </c:spPr>
            <c:extLst>
              <c:ext xmlns:c16="http://schemas.microsoft.com/office/drawing/2014/chart" uri="{C3380CC4-5D6E-409C-BE32-E72D297353CC}">
                <c16:uniqueId val="{00000001-1F89-47D4-8E1B-5649CD56260A}"/>
              </c:ext>
            </c:extLst>
          </c:dPt>
          <c:dPt>
            <c:idx val="1"/>
            <c:bubble3D val="0"/>
            <c:spPr>
              <a:solidFill>
                <a:srgbClr val="FF0000"/>
              </a:solidFill>
              <a:ln w="19050">
                <a:noFill/>
              </a:ln>
              <a:effectLst/>
            </c:spPr>
            <c:extLst>
              <c:ext xmlns:c16="http://schemas.microsoft.com/office/drawing/2014/chart" uri="{C3380CC4-5D6E-409C-BE32-E72D297353CC}">
                <c16:uniqueId val="{00000003-1F89-47D4-8E1B-5649CD56260A}"/>
              </c:ext>
            </c:extLst>
          </c:dPt>
          <c:dPt>
            <c:idx val="2"/>
            <c:bubble3D val="0"/>
            <c:spPr>
              <a:solidFill>
                <a:srgbClr val="0B4825"/>
              </a:solidFill>
              <a:ln w="19050">
                <a:noFill/>
              </a:ln>
              <a:effectLst/>
            </c:spPr>
            <c:extLst>
              <c:ext xmlns:c16="http://schemas.microsoft.com/office/drawing/2014/chart" uri="{C3380CC4-5D6E-409C-BE32-E72D297353CC}">
                <c16:uniqueId val="{00000005-1F89-47D4-8E1B-5649CD56260A}"/>
              </c:ext>
            </c:extLst>
          </c:dPt>
          <c:dPt>
            <c:idx val="3"/>
            <c:bubble3D val="0"/>
            <c:spPr>
              <a:solidFill>
                <a:srgbClr val="141ED3"/>
              </a:solidFill>
              <a:ln w="19050">
                <a:noFill/>
              </a:ln>
              <a:effectLst/>
            </c:spPr>
            <c:extLst>
              <c:ext xmlns:c16="http://schemas.microsoft.com/office/drawing/2014/chart" uri="{C3380CC4-5D6E-409C-BE32-E72D297353CC}">
                <c16:uniqueId val="{00000007-1F89-47D4-8E1B-5649CD56260A}"/>
              </c:ext>
            </c:extLst>
          </c:dPt>
          <c:dPt>
            <c:idx val="4"/>
            <c:bubble3D val="0"/>
            <c:explosion val="3"/>
            <c:spPr>
              <a:solidFill>
                <a:srgbClr val="006C69"/>
              </a:solidFill>
              <a:ln w="19050">
                <a:noFill/>
              </a:ln>
              <a:effectLst/>
            </c:spPr>
            <c:extLst>
              <c:ext xmlns:c16="http://schemas.microsoft.com/office/drawing/2014/chart" uri="{C3380CC4-5D6E-409C-BE32-E72D297353CC}">
                <c16:uniqueId val="{00000009-1F89-47D4-8E1B-5649CD56260A}"/>
              </c:ext>
            </c:extLst>
          </c:dPt>
          <c:dPt>
            <c:idx val="5"/>
            <c:bubble3D val="0"/>
            <c:spPr>
              <a:solidFill>
                <a:srgbClr val="005E99"/>
              </a:solidFill>
              <a:ln w="19050">
                <a:noFill/>
              </a:ln>
              <a:effectLst/>
            </c:spPr>
            <c:extLst>
              <c:ext xmlns:c16="http://schemas.microsoft.com/office/drawing/2014/chart" uri="{C3380CC4-5D6E-409C-BE32-E72D297353CC}">
                <c16:uniqueId val="{0000000B-F911-48BE-8CB6-34462FE58B0D}"/>
              </c:ext>
            </c:extLst>
          </c:dPt>
          <c:dPt>
            <c:idx val="6"/>
            <c:bubble3D val="0"/>
            <c:spPr>
              <a:solidFill>
                <a:srgbClr val="B41D41"/>
              </a:solidFill>
              <a:ln w="19050">
                <a:noFill/>
              </a:ln>
              <a:effectLst/>
            </c:spPr>
            <c:extLst>
              <c:ext xmlns:c16="http://schemas.microsoft.com/office/drawing/2014/chart" uri="{C3380CC4-5D6E-409C-BE32-E72D297353CC}">
                <c16:uniqueId val="{0000000D-F911-48BE-8CB6-34462FE58B0D}"/>
              </c:ext>
            </c:extLst>
          </c:dPt>
          <c:dPt>
            <c:idx val="7"/>
            <c:bubble3D val="0"/>
            <c:spPr>
              <a:solidFill>
                <a:srgbClr val="00B0F0"/>
              </a:solidFill>
              <a:ln w="19050">
                <a:noFill/>
              </a:ln>
              <a:effectLst/>
            </c:spPr>
            <c:extLst>
              <c:ext xmlns:c16="http://schemas.microsoft.com/office/drawing/2014/chart" uri="{C3380CC4-5D6E-409C-BE32-E72D297353CC}">
                <c16:uniqueId val="{0000000F-F911-48BE-8CB6-34462FE58B0D}"/>
              </c:ext>
            </c:extLst>
          </c:dPt>
          <c:dLbls>
            <c:dLbl>
              <c:idx val="0"/>
              <c:layout>
                <c:manualLayout>
                  <c:x val="5.0145610822462864E-4"/>
                  <c:y val="6.4903698514850669E-4"/>
                </c:manualLayout>
              </c:layout>
              <c:tx>
                <c:rich>
                  <a:bodyPr/>
                  <a:lstStyle/>
                  <a:p>
                    <a:fld id="{483B095B-319C-4CB8-ABA9-4F5D995C3AAC}" type="PERCENTAGE">
                      <a:rPr lang="en-US">
                        <a:latin typeface="SVN-Product Sans" panose="020B0403030502040203"/>
                      </a:rPr>
                      <a:pPr/>
                      <a:t>[PERCENTAGE]</a:t>
                    </a:fld>
                    <a:endParaRPr lang="en-US"/>
                  </a:p>
                </c:rich>
              </c:tx>
              <c:showLegendKey val="0"/>
              <c:showVal val="0"/>
              <c:showCatName val="0"/>
              <c:showSerName val="0"/>
              <c:showPercent val="1"/>
              <c:showBubbleSize val="0"/>
              <c:extLst>
                <c:ext xmlns:c15="http://schemas.microsoft.com/office/drawing/2012/chart" uri="{CE6537A1-D6FC-4f65-9D91-7224C49458BB}">
                  <c15:layout>
                    <c:manualLayout>
                      <c:w val="0.22075740972106561"/>
                      <c:h val="0.10498878709760952"/>
                    </c:manualLayout>
                  </c15:layout>
                  <c15:dlblFieldTable/>
                  <c15:showDataLabelsRange val="0"/>
                </c:ext>
                <c:ext xmlns:c16="http://schemas.microsoft.com/office/drawing/2014/chart" uri="{C3380CC4-5D6E-409C-BE32-E72D297353CC}">
                  <c16:uniqueId val="{00000001-1F89-47D4-8E1B-5649CD56260A}"/>
                </c:ext>
              </c:extLst>
            </c:dLbl>
            <c:dLbl>
              <c:idx val="4"/>
              <c:showLegendKey val="0"/>
              <c:showVal val="0"/>
              <c:showCatName val="0"/>
              <c:showSerName val="0"/>
              <c:showPercent val="1"/>
              <c:showBubbleSize val="0"/>
              <c:extLst>
                <c:ext xmlns:c15="http://schemas.microsoft.com/office/drawing/2012/chart" uri="{CE6537A1-D6FC-4f65-9D91-7224C49458BB}">
                  <c15:layout>
                    <c:manualLayout>
                      <c:w val="0.2568503642089105"/>
                      <c:h val="0.16823260354120709"/>
                    </c:manualLayout>
                  </c15:layout>
                </c:ext>
                <c:ext xmlns:c16="http://schemas.microsoft.com/office/drawing/2014/chart" uri="{C3380CC4-5D6E-409C-BE32-E72D297353CC}">
                  <c16:uniqueId val="{00000009-1F89-47D4-8E1B-5649CD56260A}"/>
                </c:ext>
              </c:extLst>
            </c:dLbl>
            <c:numFmt formatCode="0.0%" sourceLinked="0"/>
            <c:spPr>
              <a:noFill/>
              <a:ln>
                <a:noFill/>
              </a:ln>
              <a:effectLst/>
            </c:spPr>
            <c:txPr>
              <a:bodyPr rot="0" spcFirstLastPara="1" vertOverflow="clip" horzOverflow="clip" vert="horz" wrap="square" lIns="38100" tIns="19050" rIns="38100" bIns="19050" anchor="ctr" anchorCtr="1">
                <a:spAutoFit/>
              </a:bodyPr>
              <a:lstStyle/>
              <a:p>
                <a:pPr>
                  <a:defRPr sz="850" b="1" i="0" u="none" strike="noStrike" kern="1200" baseline="0">
                    <a:solidFill>
                      <a:schemeClr val="bg1"/>
                    </a:solidFill>
                    <a:latin typeface="SVN-Product Sans" panose="020B0403030502040203" pitchFamily="34" charset="0"/>
                    <a:ea typeface="+mn-ea"/>
                    <a:cs typeface="Arial" panose="020B0604020202020204" pitchFamily="34" charset="0"/>
                  </a:defRPr>
                </a:pPr>
                <a:endParaRPr lang="en-VN"/>
              </a:p>
            </c:txPr>
            <c:showLegendKey val="0"/>
            <c:showVal val="0"/>
            <c:showCatName val="0"/>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Sheet1!$A$2:$A$9</c:f>
              <c:strCache>
                <c:ptCount val="8"/>
                <c:pt idx="0">
                  <c:v>VPBank</c:v>
                </c:pt>
                <c:pt idx="1">
                  <c:v>Techcombank</c:v>
                </c:pt>
                <c:pt idx="2">
                  <c:v>Vietcombank</c:v>
                </c:pt>
                <c:pt idx="3">
                  <c:v>MBBank</c:v>
                </c:pt>
                <c:pt idx="4">
                  <c:v>BIDV</c:v>
                </c:pt>
                <c:pt idx="5">
                  <c:v>Vietinbank</c:v>
                </c:pt>
                <c:pt idx="6">
                  <c:v>Agribank</c:v>
                </c:pt>
                <c:pt idx="7">
                  <c:v>ACB</c:v>
                </c:pt>
              </c:strCache>
            </c:strRef>
          </c:cat>
          <c:val>
            <c:numRef>
              <c:f>Sheet1!$B$2:$B$9</c:f>
              <c:numCache>
                <c:formatCode>0</c:formatCode>
                <c:ptCount val="8"/>
                <c:pt idx="0">
                  <c:v>148571</c:v>
                </c:pt>
                <c:pt idx="1">
                  <c:v>234314</c:v>
                </c:pt>
                <c:pt idx="2">
                  <c:v>126519</c:v>
                </c:pt>
                <c:pt idx="3">
                  <c:v>118155</c:v>
                </c:pt>
                <c:pt idx="4">
                  <c:v>85804</c:v>
                </c:pt>
                <c:pt idx="5">
                  <c:v>49545</c:v>
                </c:pt>
                <c:pt idx="6">
                  <c:v>37006</c:v>
                </c:pt>
                <c:pt idx="7">
                  <c:v>14711</c:v>
                </c:pt>
              </c:numCache>
            </c:numRef>
          </c:val>
          <c:extLst>
            <c:ext xmlns:c16="http://schemas.microsoft.com/office/drawing/2014/chart" uri="{C3380CC4-5D6E-409C-BE32-E72D297353CC}">
              <c16:uniqueId val="{0000000A-1F89-47D4-8E1B-5649CD56260A}"/>
            </c:ext>
          </c:extLst>
        </c:ser>
        <c:dLbls>
          <c:showLegendKey val="0"/>
          <c:showVal val="0"/>
          <c:showCatName val="0"/>
          <c:showSerName val="0"/>
          <c:showPercent val="0"/>
          <c:showBubbleSize val="0"/>
          <c:showLeaderLines val="0"/>
        </c:dLbls>
        <c:firstSliceAng val="0"/>
        <c:holeSize val="5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V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5.1788912747908287E-3"/>
          <c:w val="0.99468478317371067"/>
          <c:h val="0.9103607764796805"/>
        </c:manualLayout>
      </c:layout>
      <c:barChart>
        <c:barDir val="col"/>
        <c:grouping val="clustered"/>
        <c:varyColors val="0"/>
        <c:ser>
          <c:idx val="0"/>
          <c:order val="0"/>
          <c:tx>
            <c:strRef>
              <c:f>Sheet1!$B$1</c:f>
              <c:strCache>
                <c:ptCount val="1"/>
                <c:pt idx="0">
                  <c:v>Quý 2/2025</c:v>
                </c:pt>
              </c:strCache>
            </c:strRef>
          </c:tx>
          <c:spPr>
            <a:solidFill>
              <a:srgbClr val="006C69">
                <a:alpha val="50000"/>
              </a:srgbClr>
            </a:solidFill>
            <a:ln>
              <a:noFill/>
            </a:ln>
            <a:effectLst/>
          </c:spPr>
          <c:invertIfNegative val="0"/>
          <c:dPt>
            <c:idx val="0"/>
            <c:invertIfNegative val="0"/>
            <c:bubble3D val="0"/>
            <c:spPr>
              <a:solidFill>
                <a:srgbClr val="FF7F7F"/>
              </a:solidFill>
              <a:ln>
                <a:noFill/>
              </a:ln>
              <a:effectLst/>
            </c:spPr>
            <c:extLst>
              <c:ext xmlns:c16="http://schemas.microsoft.com/office/drawing/2014/chart" uri="{C3380CC4-5D6E-409C-BE32-E72D297353CC}">
                <c16:uniqueId val="{00000005-3EE3-4BD0-AAA8-C7EC44F05F68}"/>
              </c:ext>
            </c:extLst>
          </c:dPt>
          <c:dPt>
            <c:idx val="1"/>
            <c:invertIfNegative val="0"/>
            <c:bubble3D val="0"/>
            <c:spPr>
              <a:solidFill>
                <a:srgbClr val="7FC6A5"/>
              </a:solidFill>
              <a:ln>
                <a:noFill/>
              </a:ln>
              <a:effectLst/>
            </c:spPr>
            <c:extLst>
              <c:ext xmlns:c16="http://schemas.microsoft.com/office/drawing/2014/chart" uri="{C3380CC4-5D6E-409C-BE32-E72D297353CC}">
                <c16:uniqueId val="{00000004-3EE3-4BD0-AAA8-C7EC44F05F68}"/>
              </c:ext>
            </c:extLst>
          </c:dPt>
          <c:dPt>
            <c:idx val="2"/>
            <c:invertIfNegative val="0"/>
            <c:bubble3D val="0"/>
            <c:spPr>
              <a:solidFill>
                <a:srgbClr val="84A392"/>
              </a:solidFill>
              <a:ln>
                <a:noFill/>
              </a:ln>
              <a:effectLst/>
            </c:spPr>
            <c:extLst>
              <c:ext xmlns:c16="http://schemas.microsoft.com/office/drawing/2014/chart" uri="{C3380CC4-5D6E-409C-BE32-E72D297353CC}">
                <c16:uniqueId val="{00000003-3EE3-4BD0-AAA8-C7EC44F05F68}"/>
              </c:ext>
            </c:extLst>
          </c:dPt>
          <c:dPt>
            <c:idx val="3"/>
            <c:invertIfNegative val="0"/>
            <c:bubble3D val="0"/>
            <c:spPr>
              <a:solidFill>
                <a:srgbClr val="898EE9">
                  <a:alpha val="50000"/>
                </a:srgbClr>
              </a:solidFill>
              <a:ln>
                <a:noFill/>
              </a:ln>
              <a:effectLst/>
            </c:spPr>
            <c:extLst>
              <c:ext xmlns:c16="http://schemas.microsoft.com/office/drawing/2014/chart" uri="{C3380CC4-5D6E-409C-BE32-E72D297353CC}">
                <c16:uniqueId val="{00000000-E7A8-422E-8A50-AABE7CE485F6}"/>
              </c:ext>
            </c:extLst>
          </c:dPt>
          <c:dPt>
            <c:idx val="4"/>
            <c:invertIfNegative val="0"/>
            <c:bubble3D val="0"/>
            <c:spPr>
              <a:solidFill>
                <a:srgbClr val="7FB5B4"/>
              </a:solidFill>
              <a:ln>
                <a:noFill/>
              </a:ln>
              <a:effectLst/>
            </c:spPr>
            <c:extLst>
              <c:ext xmlns:c16="http://schemas.microsoft.com/office/drawing/2014/chart" uri="{C3380CC4-5D6E-409C-BE32-E72D297353CC}">
                <c16:uniqueId val="{00000002-7A69-4E2E-AA1F-09FDB19C8AA2}"/>
              </c:ext>
            </c:extLst>
          </c:dPt>
          <c:dPt>
            <c:idx val="5"/>
            <c:invertIfNegative val="0"/>
            <c:bubble3D val="0"/>
            <c:spPr>
              <a:solidFill>
                <a:srgbClr val="005E99">
                  <a:alpha val="50000"/>
                </a:srgbClr>
              </a:solidFill>
              <a:ln>
                <a:noFill/>
              </a:ln>
              <a:effectLst/>
            </c:spPr>
            <c:extLst>
              <c:ext xmlns:c16="http://schemas.microsoft.com/office/drawing/2014/chart" uri="{C3380CC4-5D6E-409C-BE32-E72D297353CC}">
                <c16:uniqueId val="{00000003-7A69-4E2E-AA1F-09FDB19C8AA2}"/>
              </c:ext>
            </c:extLst>
          </c:dPt>
          <c:dPt>
            <c:idx val="6"/>
            <c:invertIfNegative val="0"/>
            <c:bubble3D val="0"/>
            <c:spPr>
              <a:solidFill>
                <a:srgbClr val="D98EA0"/>
              </a:solidFill>
              <a:ln>
                <a:noFill/>
              </a:ln>
              <a:effectLst/>
            </c:spPr>
            <c:extLst>
              <c:ext xmlns:c16="http://schemas.microsoft.com/office/drawing/2014/chart" uri="{C3380CC4-5D6E-409C-BE32-E72D297353CC}">
                <c16:uniqueId val="{00000004-7A69-4E2E-AA1F-09FDB19C8AA2}"/>
              </c:ext>
            </c:extLst>
          </c:dPt>
          <c:dPt>
            <c:idx val="7"/>
            <c:invertIfNegative val="0"/>
            <c:bubble3D val="0"/>
            <c:spPr>
              <a:solidFill>
                <a:srgbClr val="7FD7F7">
                  <a:alpha val="50000"/>
                </a:srgbClr>
              </a:solidFill>
              <a:ln>
                <a:noFill/>
              </a:ln>
              <a:effectLst/>
            </c:spPr>
            <c:extLst>
              <c:ext xmlns:c16="http://schemas.microsoft.com/office/drawing/2014/chart" uri="{C3380CC4-5D6E-409C-BE32-E72D297353CC}">
                <c16:uniqueId val="{00000003-E7A8-422E-8A50-AABE7CE485F6}"/>
              </c:ext>
            </c:extLst>
          </c:dPt>
          <c:dLbls>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SVN-Product Sans" panose="020B0403030502040203" pitchFamily="34" charset="0"/>
                    <a:ea typeface="+mn-ea"/>
                    <a:cs typeface="+mn-cs"/>
                  </a:defRPr>
                </a:pPr>
                <a:endParaRPr lang="en-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Techcombank</c:v>
                </c:pt>
                <c:pt idx="1">
                  <c:v>VPBank</c:v>
                </c:pt>
                <c:pt idx="2">
                  <c:v>Vietcombank</c:v>
                </c:pt>
                <c:pt idx="3">
                  <c:v>MBBank</c:v>
                </c:pt>
                <c:pt idx="4">
                  <c:v>BIDV</c:v>
                </c:pt>
                <c:pt idx="5">
                  <c:v>Vietinbank</c:v>
                </c:pt>
                <c:pt idx="6">
                  <c:v>Agribank</c:v>
                </c:pt>
                <c:pt idx="7">
                  <c:v>ACB</c:v>
                </c:pt>
              </c:strCache>
            </c:strRef>
          </c:cat>
          <c:val>
            <c:numRef>
              <c:f>Sheet1!$B$2:$B$9</c:f>
              <c:numCache>
                <c:formatCode>_(* #,##0_);_(* \(#,##0\);_(* "-"??_);_(@_)</c:formatCode>
                <c:ptCount val="8"/>
                <c:pt idx="0">
                  <c:v>160869</c:v>
                </c:pt>
                <c:pt idx="1">
                  <c:v>233453</c:v>
                </c:pt>
                <c:pt idx="2">
                  <c:v>98085</c:v>
                </c:pt>
                <c:pt idx="3">
                  <c:v>84597</c:v>
                </c:pt>
                <c:pt idx="4">
                  <c:v>72282</c:v>
                </c:pt>
                <c:pt idx="5">
                  <c:v>65669</c:v>
                </c:pt>
                <c:pt idx="6">
                  <c:v>59072</c:v>
                </c:pt>
                <c:pt idx="7">
                  <c:v>52352</c:v>
                </c:pt>
              </c:numCache>
            </c:numRef>
          </c:val>
          <c:extLst>
            <c:ext xmlns:c16="http://schemas.microsoft.com/office/drawing/2014/chart" uri="{C3380CC4-5D6E-409C-BE32-E72D297353CC}">
              <c16:uniqueId val="{00000000-D205-4162-8A53-42201FD193A0}"/>
            </c:ext>
          </c:extLst>
        </c:ser>
        <c:ser>
          <c:idx val="1"/>
          <c:order val="1"/>
          <c:tx>
            <c:strRef>
              <c:f>Sheet1!$C$1</c:f>
              <c:strCache>
                <c:ptCount val="1"/>
                <c:pt idx="0">
                  <c:v>Quý 3/2025</c:v>
                </c:pt>
              </c:strCache>
            </c:strRef>
          </c:tx>
          <c:spPr>
            <a:solidFill>
              <a:srgbClr val="006C69"/>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1-3EE3-4BD0-AAA8-C7EC44F05F68}"/>
              </c:ext>
            </c:extLst>
          </c:dPt>
          <c:dPt>
            <c:idx val="1"/>
            <c:invertIfNegative val="0"/>
            <c:bubble3D val="0"/>
            <c:spPr>
              <a:solidFill>
                <a:srgbClr val="008D4B"/>
              </a:solidFill>
              <a:ln>
                <a:noFill/>
              </a:ln>
              <a:effectLst/>
            </c:spPr>
            <c:extLst>
              <c:ext xmlns:c16="http://schemas.microsoft.com/office/drawing/2014/chart" uri="{C3380CC4-5D6E-409C-BE32-E72D297353CC}">
                <c16:uniqueId val="{00000002-3EE3-4BD0-AAA8-C7EC44F05F68}"/>
              </c:ext>
            </c:extLst>
          </c:dPt>
          <c:dPt>
            <c:idx val="2"/>
            <c:invertIfNegative val="0"/>
            <c:bubble3D val="0"/>
            <c:spPr>
              <a:solidFill>
                <a:srgbClr val="0B4825"/>
              </a:solidFill>
              <a:ln>
                <a:noFill/>
              </a:ln>
              <a:effectLst/>
            </c:spPr>
            <c:extLst>
              <c:ext xmlns:c16="http://schemas.microsoft.com/office/drawing/2014/chart" uri="{C3380CC4-5D6E-409C-BE32-E72D297353CC}">
                <c16:uniqueId val="{00000007-E7A8-422E-8A50-AABE7CE485F6}"/>
              </c:ext>
            </c:extLst>
          </c:dPt>
          <c:dPt>
            <c:idx val="3"/>
            <c:invertIfNegative val="0"/>
            <c:bubble3D val="0"/>
            <c:spPr>
              <a:solidFill>
                <a:srgbClr val="141ED3"/>
              </a:solidFill>
              <a:ln>
                <a:noFill/>
              </a:ln>
              <a:effectLst/>
            </c:spPr>
            <c:extLst>
              <c:ext xmlns:c16="http://schemas.microsoft.com/office/drawing/2014/chart" uri="{C3380CC4-5D6E-409C-BE32-E72D297353CC}">
                <c16:uniqueId val="{00000001-7A69-4E2E-AA1F-09FDB19C8AA2}"/>
              </c:ext>
            </c:extLst>
          </c:dPt>
          <c:dPt>
            <c:idx val="4"/>
            <c:invertIfNegative val="0"/>
            <c:bubble3D val="0"/>
            <c:spPr>
              <a:solidFill>
                <a:srgbClr val="006C69"/>
              </a:solidFill>
              <a:ln>
                <a:noFill/>
              </a:ln>
              <a:effectLst/>
            </c:spPr>
            <c:extLst>
              <c:ext xmlns:c16="http://schemas.microsoft.com/office/drawing/2014/chart" uri="{C3380CC4-5D6E-409C-BE32-E72D297353CC}">
                <c16:uniqueId val="{00000006-E7A8-422E-8A50-AABE7CE485F6}"/>
              </c:ext>
            </c:extLst>
          </c:dPt>
          <c:dPt>
            <c:idx val="5"/>
            <c:invertIfNegative val="0"/>
            <c:bubble3D val="0"/>
            <c:spPr>
              <a:solidFill>
                <a:srgbClr val="005E99"/>
              </a:solidFill>
              <a:ln>
                <a:noFill/>
              </a:ln>
              <a:effectLst/>
            </c:spPr>
            <c:extLst>
              <c:ext xmlns:c16="http://schemas.microsoft.com/office/drawing/2014/chart" uri="{C3380CC4-5D6E-409C-BE32-E72D297353CC}">
                <c16:uniqueId val="{00000004-E7A8-422E-8A50-AABE7CE485F6}"/>
              </c:ext>
            </c:extLst>
          </c:dPt>
          <c:dPt>
            <c:idx val="6"/>
            <c:invertIfNegative val="0"/>
            <c:bubble3D val="0"/>
            <c:spPr>
              <a:solidFill>
                <a:srgbClr val="B41D41"/>
              </a:solidFill>
              <a:ln>
                <a:noFill/>
              </a:ln>
              <a:effectLst/>
            </c:spPr>
            <c:extLst>
              <c:ext xmlns:c16="http://schemas.microsoft.com/office/drawing/2014/chart" uri="{C3380CC4-5D6E-409C-BE32-E72D297353CC}">
                <c16:uniqueId val="{00000005-7A69-4E2E-AA1F-09FDB19C8AA2}"/>
              </c:ext>
            </c:extLst>
          </c:dPt>
          <c:dPt>
            <c:idx val="7"/>
            <c:invertIfNegative val="0"/>
            <c:bubble3D val="0"/>
            <c:spPr>
              <a:solidFill>
                <a:srgbClr val="00B0F0"/>
              </a:solidFill>
              <a:ln>
                <a:noFill/>
              </a:ln>
              <a:effectLst/>
            </c:spPr>
            <c:extLst>
              <c:ext xmlns:c16="http://schemas.microsoft.com/office/drawing/2014/chart" uri="{C3380CC4-5D6E-409C-BE32-E72D297353CC}">
                <c16:uniqueId val="{00000005-E7A8-422E-8A50-AABE7CE485F6}"/>
              </c:ext>
            </c:extLst>
          </c:dPt>
          <c:dLbls>
            <c:spPr>
              <a:noFill/>
              <a:ln>
                <a:noFill/>
              </a:ln>
              <a:effectLst/>
            </c:spPr>
            <c:txPr>
              <a:bodyPr rot="0" spcFirstLastPara="1" vertOverflow="ellipsis" vert="horz" wrap="square" anchor="ctr" anchorCtr="1"/>
              <a:lstStyle/>
              <a:p>
                <a:pPr>
                  <a:defRPr sz="800" b="1" i="0" u="none" strike="noStrike" kern="1200" baseline="0">
                    <a:solidFill>
                      <a:schemeClr val="tx1">
                        <a:lumMod val="75000"/>
                        <a:lumOff val="25000"/>
                      </a:schemeClr>
                    </a:solidFill>
                    <a:latin typeface="SVN-Product Sans" panose="020B0403030502040203" pitchFamily="34" charset="0"/>
                    <a:ea typeface="+mn-ea"/>
                    <a:cs typeface="+mn-cs"/>
                  </a:defRPr>
                </a:pPr>
                <a:endParaRPr lang="en-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Techcombank</c:v>
                </c:pt>
                <c:pt idx="1">
                  <c:v>VPBank</c:v>
                </c:pt>
                <c:pt idx="2">
                  <c:v>Vietcombank</c:v>
                </c:pt>
                <c:pt idx="3">
                  <c:v>MBBank</c:v>
                </c:pt>
                <c:pt idx="4">
                  <c:v>BIDV</c:v>
                </c:pt>
                <c:pt idx="5">
                  <c:v>Vietinbank</c:v>
                </c:pt>
                <c:pt idx="6">
                  <c:v>Agribank</c:v>
                </c:pt>
                <c:pt idx="7">
                  <c:v>ACB</c:v>
                </c:pt>
              </c:strCache>
            </c:strRef>
          </c:cat>
          <c:val>
            <c:numRef>
              <c:f>Sheet1!$C$2:$C$9</c:f>
              <c:numCache>
                <c:formatCode>#,##0</c:formatCode>
                <c:ptCount val="8"/>
                <c:pt idx="0">
                  <c:v>234314</c:v>
                </c:pt>
                <c:pt idx="1">
                  <c:v>148571</c:v>
                </c:pt>
                <c:pt idx="2">
                  <c:v>126519</c:v>
                </c:pt>
                <c:pt idx="3">
                  <c:v>118155</c:v>
                </c:pt>
                <c:pt idx="4">
                  <c:v>85804</c:v>
                </c:pt>
                <c:pt idx="5">
                  <c:v>49545</c:v>
                </c:pt>
                <c:pt idx="6">
                  <c:v>37006</c:v>
                </c:pt>
                <c:pt idx="7">
                  <c:v>14711</c:v>
                </c:pt>
              </c:numCache>
            </c:numRef>
          </c:val>
          <c:extLst>
            <c:ext xmlns:c16="http://schemas.microsoft.com/office/drawing/2014/chart" uri="{C3380CC4-5D6E-409C-BE32-E72D297353CC}">
              <c16:uniqueId val="{00000001-D205-4162-8A53-42201FD193A0}"/>
            </c:ext>
          </c:extLst>
        </c:ser>
        <c:dLbls>
          <c:showLegendKey val="0"/>
          <c:showVal val="0"/>
          <c:showCatName val="0"/>
          <c:showSerName val="0"/>
          <c:showPercent val="0"/>
          <c:showBubbleSize val="0"/>
        </c:dLbls>
        <c:gapWidth val="90"/>
        <c:axId val="1699661664"/>
        <c:axId val="1699645888"/>
      </c:barChart>
      <c:catAx>
        <c:axId val="1699661664"/>
        <c:scaling>
          <c:orientation val="minMax"/>
        </c:scaling>
        <c:delete val="1"/>
        <c:axPos val="b"/>
        <c:numFmt formatCode="General" sourceLinked="1"/>
        <c:majorTickMark val="out"/>
        <c:minorTickMark val="none"/>
        <c:tickLblPos val="nextTo"/>
        <c:crossAx val="1699645888"/>
        <c:crosses val="autoZero"/>
        <c:auto val="1"/>
        <c:lblAlgn val="ctr"/>
        <c:lblOffset val="100"/>
        <c:noMultiLvlLbl val="0"/>
      </c:catAx>
      <c:valAx>
        <c:axId val="1699645888"/>
        <c:scaling>
          <c:orientation val="minMax"/>
          <c:max val="300000"/>
          <c:min val="0"/>
        </c:scaling>
        <c:delete val="1"/>
        <c:axPos val="l"/>
        <c:numFmt formatCode="[&gt;=1000]#,##0,&quot;K&quot;;0" sourceLinked="0"/>
        <c:majorTickMark val="out"/>
        <c:minorTickMark val="none"/>
        <c:tickLblPos val="nextTo"/>
        <c:crossAx val="1699661664"/>
        <c:crosses val="autoZero"/>
        <c:crossBetween val="between"/>
      </c:valAx>
      <c:spPr>
        <a:noFill/>
        <a:ln>
          <a:noFill/>
        </a:ln>
        <a:effectLst/>
      </c:spPr>
    </c:plotArea>
    <c:legend>
      <c:legendPos val="b"/>
      <c:layout>
        <c:manualLayout>
          <c:xMode val="edge"/>
          <c:yMode val="edge"/>
          <c:x val="0.67683192371858136"/>
          <c:y val="1.857294514720147E-2"/>
          <c:w val="0.32152732112398047"/>
          <c:h val="6.2128658887182796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SVN-Product Sans" panose="020B0403030502040203" pitchFamily="34" charset="0"/>
              <a:ea typeface="+mn-ea"/>
              <a:cs typeface="+mn-cs"/>
            </a:defRPr>
          </a:pPr>
          <a:endParaRPr lang="en-V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700">
          <a:latin typeface="SVN-Product Sans" panose="020B0403030502040203" pitchFamily="34" charset="0"/>
        </a:defRPr>
      </a:pPr>
      <a:endParaRPr lang="en-V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2352681388867985"/>
          <c:y val="5.8016789120774466E-2"/>
          <c:w val="0.50127941908489326"/>
          <c:h val="0.86721169176505875"/>
        </c:manualLayout>
      </c:layout>
      <c:doughnutChart>
        <c:varyColors val="1"/>
        <c:ser>
          <c:idx val="0"/>
          <c:order val="0"/>
          <c:tx>
            <c:strRef>
              <c:f>Sheet1!$B$1</c:f>
              <c:strCache>
                <c:ptCount val="1"/>
                <c:pt idx="0">
                  <c:v>Sales</c:v>
                </c:pt>
              </c:strCache>
            </c:strRef>
          </c:tx>
          <c:spPr>
            <a:ln>
              <a:noFill/>
            </a:ln>
            <a:effectLst/>
          </c:spPr>
          <c:dPt>
            <c:idx val="0"/>
            <c:bubble3D val="0"/>
            <c:spPr>
              <a:solidFill>
                <a:srgbClr val="00B0F0"/>
              </a:solidFill>
              <a:ln w="19050">
                <a:noFill/>
              </a:ln>
              <a:effectLst/>
            </c:spPr>
            <c:extLst>
              <c:ext xmlns:c16="http://schemas.microsoft.com/office/drawing/2014/chart" uri="{C3380CC4-5D6E-409C-BE32-E72D297353CC}">
                <c16:uniqueId val="{00000001-535E-4F40-9CA7-C9830B5AA258}"/>
              </c:ext>
            </c:extLst>
          </c:dPt>
          <c:dPt>
            <c:idx val="1"/>
            <c:bubble3D val="0"/>
            <c:spPr>
              <a:solidFill>
                <a:srgbClr val="008D4B"/>
              </a:solidFill>
              <a:ln w="19050">
                <a:noFill/>
              </a:ln>
              <a:effectLst/>
            </c:spPr>
            <c:extLst>
              <c:ext xmlns:c16="http://schemas.microsoft.com/office/drawing/2014/chart" uri="{C3380CC4-5D6E-409C-BE32-E72D297353CC}">
                <c16:uniqueId val="{00000003-535E-4F40-9CA7-C9830B5AA258}"/>
              </c:ext>
            </c:extLst>
          </c:dPt>
          <c:dPt>
            <c:idx val="2"/>
            <c:bubble3D val="0"/>
            <c:spPr>
              <a:solidFill>
                <a:srgbClr val="0B4825"/>
              </a:solidFill>
              <a:ln w="19050">
                <a:noFill/>
              </a:ln>
              <a:effectLst/>
            </c:spPr>
            <c:extLst>
              <c:ext xmlns:c16="http://schemas.microsoft.com/office/drawing/2014/chart" uri="{C3380CC4-5D6E-409C-BE32-E72D297353CC}">
                <c16:uniqueId val="{00000005-535E-4F40-9CA7-C9830B5AA258}"/>
              </c:ext>
            </c:extLst>
          </c:dPt>
          <c:dPt>
            <c:idx val="3"/>
            <c:bubble3D val="0"/>
            <c:spPr>
              <a:solidFill>
                <a:srgbClr val="FF0000"/>
              </a:solidFill>
              <a:ln w="19050">
                <a:noFill/>
              </a:ln>
              <a:effectLst/>
            </c:spPr>
            <c:extLst>
              <c:ext xmlns:c16="http://schemas.microsoft.com/office/drawing/2014/chart" uri="{C3380CC4-5D6E-409C-BE32-E72D297353CC}">
                <c16:uniqueId val="{00000007-535E-4F40-9CA7-C9830B5AA258}"/>
              </c:ext>
            </c:extLst>
          </c:dPt>
          <c:dPt>
            <c:idx val="4"/>
            <c:bubble3D val="0"/>
            <c:spPr>
              <a:solidFill>
                <a:srgbClr val="006C69"/>
              </a:solidFill>
              <a:ln w="19050">
                <a:noFill/>
              </a:ln>
              <a:effectLst/>
            </c:spPr>
            <c:extLst>
              <c:ext xmlns:c16="http://schemas.microsoft.com/office/drawing/2014/chart" uri="{C3380CC4-5D6E-409C-BE32-E72D297353CC}">
                <c16:uniqueId val="{00000009-535E-4F40-9CA7-C9830B5AA258}"/>
              </c:ext>
            </c:extLst>
          </c:dPt>
          <c:dPt>
            <c:idx val="5"/>
            <c:bubble3D val="0"/>
            <c:spPr>
              <a:solidFill>
                <a:srgbClr val="141ED3"/>
              </a:solidFill>
              <a:ln w="19050">
                <a:noFill/>
              </a:ln>
              <a:effectLst/>
            </c:spPr>
            <c:extLst>
              <c:ext xmlns:c16="http://schemas.microsoft.com/office/drawing/2014/chart" uri="{C3380CC4-5D6E-409C-BE32-E72D297353CC}">
                <c16:uniqueId val="{0000000B-535E-4F40-9CA7-C9830B5AA258}"/>
              </c:ext>
            </c:extLst>
          </c:dPt>
          <c:dPt>
            <c:idx val="6"/>
            <c:bubble3D val="0"/>
            <c:spPr>
              <a:solidFill>
                <a:srgbClr val="005E99"/>
              </a:solidFill>
              <a:ln w="19050">
                <a:noFill/>
              </a:ln>
              <a:effectLst/>
            </c:spPr>
            <c:extLst>
              <c:ext xmlns:c16="http://schemas.microsoft.com/office/drawing/2014/chart" uri="{C3380CC4-5D6E-409C-BE32-E72D297353CC}">
                <c16:uniqueId val="{0000000D-535E-4F40-9CA7-C9830B5AA258}"/>
              </c:ext>
            </c:extLst>
          </c:dPt>
          <c:dPt>
            <c:idx val="7"/>
            <c:bubble3D val="0"/>
            <c:spPr>
              <a:solidFill>
                <a:srgbClr val="B41D41"/>
              </a:solidFill>
              <a:ln w="19050">
                <a:noFill/>
              </a:ln>
              <a:effectLst/>
            </c:spPr>
            <c:extLst>
              <c:ext xmlns:c16="http://schemas.microsoft.com/office/drawing/2014/chart" uri="{C3380CC4-5D6E-409C-BE32-E72D297353CC}">
                <c16:uniqueId val="{0000000F-535E-4F40-9CA7-C9830B5AA258}"/>
              </c:ext>
            </c:extLst>
          </c:dPt>
          <c:dLbls>
            <c:dLbl>
              <c:idx val="2"/>
              <c:layout>
                <c:manualLayout>
                  <c:x val="3.6703874729561198E-3"/>
                  <c:y val="8.7703464033827387E-3"/>
                </c:manualLayout>
              </c:layout>
              <c:tx>
                <c:rich>
                  <a:bodyPr/>
                  <a:lstStyle/>
                  <a:p>
                    <a:fld id="{483B095B-319C-4CB8-ABA9-4F5D995C3AAC}" type="PERCENTAGE">
                      <a:rPr lang="en-US">
                        <a:latin typeface="SVN-Product Sans" panose="020B0403030502040203"/>
                      </a:rPr>
                      <a:pPr/>
                      <a:t>[PERCENTAGE]</a:t>
                    </a:fld>
                    <a:endParaRPr lang="en-US"/>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535E-4F40-9CA7-C9830B5AA258}"/>
                </c:ext>
              </c:extLst>
            </c:dLbl>
            <c:dLbl>
              <c:idx val="7"/>
              <c:layout>
                <c:manualLayout>
                  <c:x val="9.7510503109663697E-3"/>
                  <c:y val="-1.8230434849701209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F-535E-4F40-9CA7-C9830B5AA258}"/>
                </c:ext>
              </c:extLst>
            </c:dLbl>
            <c:numFmt formatCode="0.0%" sourceLinked="0"/>
            <c:spPr>
              <a:noFill/>
              <a:ln>
                <a:no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bg1"/>
                    </a:solidFill>
                    <a:latin typeface="SVN-Product Sans" panose="020B0403030502040203" pitchFamily="34" charset="0"/>
                    <a:ea typeface="+mn-ea"/>
                    <a:cs typeface="Arial" panose="020B0604020202020204" pitchFamily="34" charset="0"/>
                  </a:defRPr>
                </a:pPr>
                <a:endParaRPr lang="en-VN"/>
              </a:p>
            </c:txPr>
            <c:showLegendKey val="0"/>
            <c:showVal val="0"/>
            <c:showCatName val="0"/>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Sheet1!$A$2:$A$9</c:f>
              <c:strCache>
                <c:ptCount val="8"/>
                <c:pt idx="0">
                  <c:v>ACB</c:v>
                </c:pt>
                <c:pt idx="1">
                  <c:v>VPBank</c:v>
                </c:pt>
                <c:pt idx="2">
                  <c:v>Vietcombank</c:v>
                </c:pt>
                <c:pt idx="3">
                  <c:v>Techcombank</c:v>
                </c:pt>
                <c:pt idx="4">
                  <c:v>BIDV</c:v>
                </c:pt>
                <c:pt idx="5">
                  <c:v>MBBank</c:v>
                </c:pt>
                <c:pt idx="6">
                  <c:v>Vietinbank</c:v>
                </c:pt>
                <c:pt idx="7">
                  <c:v>Agribank</c:v>
                </c:pt>
              </c:strCache>
            </c:strRef>
          </c:cat>
          <c:val>
            <c:numRef>
              <c:f>Sheet1!$B$2:$B$9</c:f>
              <c:numCache>
                <c:formatCode>General</c:formatCode>
                <c:ptCount val="8"/>
              </c:numCache>
            </c:numRef>
          </c:val>
          <c:extLst>
            <c:ext xmlns:c16="http://schemas.microsoft.com/office/drawing/2014/chart" uri="{C3380CC4-5D6E-409C-BE32-E72D297353CC}">
              <c16:uniqueId val="{00000010-535E-4F40-9CA7-C9830B5AA258}"/>
            </c:ext>
          </c:extLst>
        </c:ser>
        <c:dLbls>
          <c:showLegendKey val="0"/>
          <c:showVal val="0"/>
          <c:showCatName val="0"/>
          <c:showSerName val="0"/>
          <c:showPercent val="0"/>
          <c:showBubbleSize val="0"/>
          <c:showLeaderLines val="0"/>
        </c:dLbls>
        <c:firstSliceAng val="0"/>
        <c:holeSize val="58"/>
      </c:doughnutChart>
      <c:spPr>
        <a:noFill/>
        <a:ln w="25400">
          <a:noFill/>
        </a:ln>
        <a:effectLst/>
      </c:spPr>
    </c:plotArea>
    <c:legend>
      <c:legendPos val="l"/>
      <c:layout>
        <c:manualLayout>
          <c:xMode val="edge"/>
          <c:yMode val="edge"/>
          <c:x val="0"/>
          <c:y val="0"/>
          <c:w val="1"/>
          <c:h val="1"/>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SVN-Product Sans" panose="020B0403030502040203" pitchFamily="34" charset="0"/>
              <a:ea typeface="+mn-ea"/>
              <a:cs typeface="+mn-cs"/>
            </a:defRPr>
          </a:pPr>
          <a:endParaRPr lang="en-V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a:noFill/>
      <a:prstDash val="dash"/>
    </a:ln>
    <a:effectLst/>
  </c:spPr>
  <c:txPr>
    <a:bodyPr/>
    <a:lstStyle/>
    <a:p>
      <a:pPr>
        <a:defRPr/>
      </a:pPr>
      <a:endParaRPr lang="en-V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2583096135947199E-4"/>
          <c:y val="1.1364363335175478E-2"/>
          <c:w val="0.95786767810935425"/>
          <c:h val="0.88425600319508724"/>
        </c:manualLayout>
      </c:layout>
      <c:lineChart>
        <c:grouping val="standard"/>
        <c:varyColors val="0"/>
        <c:ser>
          <c:idx val="0"/>
          <c:order val="0"/>
          <c:tx>
            <c:strRef>
              <c:f>Sheet1!$B$1</c:f>
              <c:strCache>
                <c:ptCount val="1"/>
                <c:pt idx="0">
                  <c:v>BIDV</c:v>
                </c:pt>
              </c:strCache>
            </c:strRef>
          </c:tx>
          <c:spPr>
            <a:ln w="15875" cap="rnd">
              <a:solidFill>
                <a:srgbClr val="006C69"/>
              </a:solidFill>
              <a:round/>
            </a:ln>
            <a:effectLst/>
          </c:spPr>
          <c:marker>
            <c:symbol val="none"/>
          </c:marker>
          <c:cat>
            <c:numRef>
              <c:f>Sheet1!$A$2:$A$93</c:f>
              <c:numCache>
                <c:formatCode>m/d/yyyy</c:formatCode>
                <c:ptCount val="92"/>
                <c:pt idx="0">
                  <c:v>45824</c:v>
                </c:pt>
                <c:pt idx="1">
                  <c:v>45825</c:v>
                </c:pt>
                <c:pt idx="2">
                  <c:v>45826</c:v>
                </c:pt>
                <c:pt idx="3">
                  <c:v>45827</c:v>
                </c:pt>
                <c:pt idx="4">
                  <c:v>45828</c:v>
                </c:pt>
                <c:pt idx="5">
                  <c:v>45829</c:v>
                </c:pt>
                <c:pt idx="6">
                  <c:v>45830</c:v>
                </c:pt>
                <c:pt idx="7">
                  <c:v>45831</c:v>
                </c:pt>
                <c:pt idx="8">
                  <c:v>45832</c:v>
                </c:pt>
                <c:pt idx="9">
                  <c:v>45833</c:v>
                </c:pt>
                <c:pt idx="10">
                  <c:v>45834</c:v>
                </c:pt>
                <c:pt idx="11">
                  <c:v>45835</c:v>
                </c:pt>
                <c:pt idx="12">
                  <c:v>45836</c:v>
                </c:pt>
                <c:pt idx="13">
                  <c:v>45837</c:v>
                </c:pt>
                <c:pt idx="14">
                  <c:v>45838</c:v>
                </c:pt>
                <c:pt idx="15">
                  <c:v>45839</c:v>
                </c:pt>
                <c:pt idx="16">
                  <c:v>45840</c:v>
                </c:pt>
                <c:pt idx="17">
                  <c:v>45841</c:v>
                </c:pt>
                <c:pt idx="18">
                  <c:v>45842</c:v>
                </c:pt>
                <c:pt idx="19">
                  <c:v>45843</c:v>
                </c:pt>
                <c:pt idx="20">
                  <c:v>45844</c:v>
                </c:pt>
                <c:pt idx="21">
                  <c:v>45845</c:v>
                </c:pt>
                <c:pt idx="22">
                  <c:v>45846</c:v>
                </c:pt>
                <c:pt idx="23">
                  <c:v>45847</c:v>
                </c:pt>
                <c:pt idx="24">
                  <c:v>45848</c:v>
                </c:pt>
                <c:pt idx="25">
                  <c:v>45849</c:v>
                </c:pt>
                <c:pt idx="26">
                  <c:v>45850</c:v>
                </c:pt>
                <c:pt idx="27">
                  <c:v>45851</c:v>
                </c:pt>
                <c:pt idx="28">
                  <c:v>45852</c:v>
                </c:pt>
                <c:pt idx="29">
                  <c:v>45853</c:v>
                </c:pt>
                <c:pt idx="30">
                  <c:v>45854</c:v>
                </c:pt>
                <c:pt idx="31">
                  <c:v>45855</c:v>
                </c:pt>
                <c:pt idx="32">
                  <c:v>45856</c:v>
                </c:pt>
                <c:pt idx="33">
                  <c:v>45857</c:v>
                </c:pt>
                <c:pt idx="34">
                  <c:v>45858</c:v>
                </c:pt>
                <c:pt idx="35">
                  <c:v>45859</c:v>
                </c:pt>
                <c:pt idx="36">
                  <c:v>45860</c:v>
                </c:pt>
                <c:pt idx="37">
                  <c:v>45861</c:v>
                </c:pt>
                <c:pt idx="38">
                  <c:v>45862</c:v>
                </c:pt>
                <c:pt idx="39">
                  <c:v>45863</c:v>
                </c:pt>
                <c:pt idx="40">
                  <c:v>45864</c:v>
                </c:pt>
                <c:pt idx="41">
                  <c:v>45865</c:v>
                </c:pt>
                <c:pt idx="42">
                  <c:v>45866</c:v>
                </c:pt>
                <c:pt idx="43">
                  <c:v>45867</c:v>
                </c:pt>
                <c:pt idx="44">
                  <c:v>45868</c:v>
                </c:pt>
                <c:pt idx="45">
                  <c:v>45869</c:v>
                </c:pt>
                <c:pt idx="46">
                  <c:v>45870</c:v>
                </c:pt>
                <c:pt idx="47">
                  <c:v>45871</c:v>
                </c:pt>
                <c:pt idx="48">
                  <c:v>45872</c:v>
                </c:pt>
                <c:pt idx="49">
                  <c:v>45873</c:v>
                </c:pt>
                <c:pt idx="50">
                  <c:v>45874</c:v>
                </c:pt>
                <c:pt idx="51">
                  <c:v>45875</c:v>
                </c:pt>
                <c:pt idx="52">
                  <c:v>45876</c:v>
                </c:pt>
                <c:pt idx="53">
                  <c:v>45877</c:v>
                </c:pt>
                <c:pt idx="54">
                  <c:v>45878</c:v>
                </c:pt>
                <c:pt idx="55">
                  <c:v>45879</c:v>
                </c:pt>
                <c:pt idx="56">
                  <c:v>45880</c:v>
                </c:pt>
                <c:pt idx="57">
                  <c:v>45881</c:v>
                </c:pt>
                <c:pt idx="58">
                  <c:v>45882</c:v>
                </c:pt>
                <c:pt idx="59">
                  <c:v>45883</c:v>
                </c:pt>
                <c:pt idx="60">
                  <c:v>45884</c:v>
                </c:pt>
                <c:pt idx="61">
                  <c:v>45885</c:v>
                </c:pt>
                <c:pt idx="62">
                  <c:v>45886</c:v>
                </c:pt>
                <c:pt idx="63">
                  <c:v>45887</c:v>
                </c:pt>
                <c:pt idx="64">
                  <c:v>45888</c:v>
                </c:pt>
                <c:pt idx="65">
                  <c:v>45889</c:v>
                </c:pt>
                <c:pt idx="66">
                  <c:v>45890</c:v>
                </c:pt>
                <c:pt idx="67">
                  <c:v>45891</c:v>
                </c:pt>
                <c:pt idx="68">
                  <c:v>45892</c:v>
                </c:pt>
                <c:pt idx="69">
                  <c:v>45893</c:v>
                </c:pt>
                <c:pt idx="70">
                  <c:v>45894</c:v>
                </c:pt>
                <c:pt idx="71">
                  <c:v>45895</c:v>
                </c:pt>
                <c:pt idx="72">
                  <c:v>45896</c:v>
                </c:pt>
                <c:pt idx="73">
                  <c:v>45897</c:v>
                </c:pt>
                <c:pt idx="74">
                  <c:v>45898</c:v>
                </c:pt>
                <c:pt idx="75">
                  <c:v>45899</c:v>
                </c:pt>
                <c:pt idx="76">
                  <c:v>45900</c:v>
                </c:pt>
                <c:pt idx="77">
                  <c:v>45901</c:v>
                </c:pt>
                <c:pt idx="78">
                  <c:v>45902</c:v>
                </c:pt>
                <c:pt idx="79">
                  <c:v>45903</c:v>
                </c:pt>
                <c:pt idx="80">
                  <c:v>45904</c:v>
                </c:pt>
                <c:pt idx="81">
                  <c:v>45905</c:v>
                </c:pt>
                <c:pt idx="82">
                  <c:v>45906</c:v>
                </c:pt>
                <c:pt idx="83">
                  <c:v>45907</c:v>
                </c:pt>
                <c:pt idx="84">
                  <c:v>45908</c:v>
                </c:pt>
                <c:pt idx="85">
                  <c:v>45909</c:v>
                </c:pt>
                <c:pt idx="86">
                  <c:v>45910</c:v>
                </c:pt>
                <c:pt idx="87">
                  <c:v>45911</c:v>
                </c:pt>
                <c:pt idx="88">
                  <c:v>45912</c:v>
                </c:pt>
                <c:pt idx="89">
                  <c:v>45913</c:v>
                </c:pt>
                <c:pt idx="90">
                  <c:v>45914</c:v>
                </c:pt>
                <c:pt idx="91">
                  <c:v>45915</c:v>
                </c:pt>
              </c:numCache>
            </c:numRef>
          </c:cat>
          <c:val>
            <c:numRef>
              <c:f>Sheet1!$B$2:$B$93</c:f>
              <c:numCache>
                <c:formatCode>General</c:formatCode>
                <c:ptCount val="92"/>
                <c:pt idx="0">
                  <c:v>633</c:v>
                </c:pt>
                <c:pt idx="1">
                  <c:v>1184</c:v>
                </c:pt>
                <c:pt idx="2">
                  <c:v>701</c:v>
                </c:pt>
                <c:pt idx="3">
                  <c:v>489</c:v>
                </c:pt>
                <c:pt idx="4">
                  <c:v>564</c:v>
                </c:pt>
                <c:pt idx="5">
                  <c:v>153</c:v>
                </c:pt>
                <c:pt idx="6">
                  <c:v>199</c:v>
                </c:pt>
                <c:pt idx="7">
                  <c:v>351</c:v>
                </c:pt>
                <c:pt idx="8">
                  <c:v>1021</c:v>
                </c:pt>
                <c:pt idx="9">
                  <c:v>602</c:v>
                </c:pt>
                <c:pt idx="10">
                  <c:v>895</c:v>
                </c:pt>
                <c:pt idx="11">
                  <c:v>509</c:v>
                </c:pt>
                <c:pt idx="12">
                  <c:v>242</c:v>
                </c:pt>
                <c:pt idx="13">
                  <c:v>182</c:v>
                </c:pt>
                <c:pt idx="14">
                  <c:v>1119</c:v>
                </c:pt>
                <c:pt idx="15">
                  <c:v>933</c:v>
                </c:pt>
                <c:pt idx="16">
                  <c:v>617</c:v>
                </c:pt>
                <c:pt idx="17">
                  <c:v>511</c:v>
                </c:pt>
                <c:pt idx="18">
                  <c:v>426</c:v>
                </c:pt>
                <c:pt idx="19">
                  <c:v>283</c:v>
                </c:pt>
                <c:pt idx="20">
                  <c:v>287</c:v>
                </c:pt>
                <c:pt idx="21">
                  <c:v>584</c:v>
                </c:pt>
                <c:pt idx="22">
                  <c:v>577</c:v>
                </c:pt>
                <c:pt idx="23">
                  <c:v>701</c:v>
                </c:pt>
                <c:pt idx="24">
                  <c:v>4548</c:v>
                </c:pt>
                <c:pt idx="25">
                  <c:v>430</c:v>
                </c:pt>
                <c:pt idx="26">
                  <c:v>464</c:v>
                </c:pt>
                <c:pt idx="27">
                  <c:v>368</c:v>
                </c:pt>
                <c:pt idx="28">
                  <c:v>407</c:v>
                </c:pt>
                <c:pt idx="29">
                  <c:v>552</c:v>
                </c:pt>
                <c:pt idx="30">
                  <c:v>470</c:v>
                </c:pt>
                <c:pt idx="31">
                  <c:v>828</c:v>
                </c:pt>
                <c:pt idx="32">
                  <c:v>806</c:v>
                </c:pt>
                <c:pt idx="33">
                  <c:v>238</c:v>
                </c:pt>
                <c:pt idx="34">
                  <c:v>236</c:v>
                </c:pt>
                <c:pt idx="35">
                  <c:v>731</c:v>
                </c:pt>
                <c:pt idx="36">
                  <c:v>901</c:v>
                </c:pt>
                <c:pt idx="37">
                  <c:v>823</c:v>
                </c:pt>
                <c:pt idx="38">
                  <c:v>703</c:v>
                </c:pt>
                <c:pt idx="39">
                  <c:v>675</c:v>
                </c:pt>
                <c:pt idx="40">
                  <c:v>624</c:v>
                </c:pt>
                <c:pt idx="41">
                  <c:v>508</c:v>
                </c:pt>
                <c:pt idx="42">
                  <c:v>737</c:v>
                </c:pt>
                <c:pt idx="43">
                  <c:v>899</c:v>
                </c:pt>
                <c:pt idx="44">
                  <c:v>1253</c:v>
                </c:pt>
                <c:pt idx="45">
                  <c:v>592</c:v>
                </c:pt>
                <c:pt idx="46">
                  <c:v>676</c:v>
                </c:pt>
                <c:pt idx="47">
                  <c:v>342</c:v>
                </c:pt>
                <c:pt idx="48">
                  <c:v>256</c:v>
                </c:pt>
                <c:pt idx="49">
                  <c:v>694</c:v>
                </c:pt>
                <c:pt idx="50">
                  <c:v>926</c:v>
                </c:pt>
                <c:pt idx="51">
                  <c:v>1028</c:v>
                </c:pt>
                <c:pt idx="52">
                  <c:v>1201</c:v>
                </c:pt>
                <c:pt idx="53">
                  <c:v>827</c:v>
                </c:pt>
                <c:pt idx="54">
                  <c:v>399</c:v>
                </c:pt>
                <c:pt idx="55">
                  <c:v>408</c:v>
                </c:pt>
                <c:pt idx="56">
                  <c:v>567</c:v>
                </c:pt>
                <c:pt idx="57">
                  <c:v>1082</c:v>
                </c:pt>
                <c:pt idx="58">
                  <c:v>1074</c:v>
                </c:pt>
                <c:pt idx="59">
                  <c:v>964</c:v>
                </c:pt>
                <c:pt idx="60">
                  <c:v>575</c:v>
                </c:pt>
                <c:pt idx="61">
                  <c:v>647</c:v>
                </c:pt>
                <c:pt idx="62">
                  <c:v>437</c:v>
                </c:pt>
                <c:pt idx="63">
                  <c:v>1247</c:v>
                </c:pt>
                <c:pt idx="64">
                  <c:v>1909</c:v>
                </c:pt>
                <c:pt idx="65">
                  <c:v>2278</c:v>
                </c:pt>
                <c:pt idx="66">
                  <c:v>1505</c:v>
                </c:pt>
                <c:pt idx="67">
                  <c:v>1614</c:v>
                </c:pt>
                <c:pt idx="68">
                  <c:v>1152</c:v>
                </c:pt>
                <c:pt idx="69">
                  <c:v>511</c:v>
                </c:pt>
                <c:pt idx="70">
                  <c:v>795</c:v>
                </c:pt>
                <c:pt idx="71">
                  <c:v>855</c:v>
                </c:pt>
                <c:pt idx="72">
                  <c:v>1056</c:v>
                </c:pt>
                <c:pt idx="73">
                  <c:v>3254</c:v>
                </c:pt>
                <c:pt idx="74">
                  <c:v>5214</c:v>
                </c:pt>
                <c:pt idx="75">
                  <c:v>2827</c:v>
                </c:pt>
                <c:pt idx="76">
                  <c:v>2242</c:v>
                </c:pt>
                <c:pt idx="77">
                  <c:v>1325</c:v>
                </c:pt>
                <c:pt idx="78">
                  <c:v>803</c:v>
                </c:pt>
                <c:pt idx="79">
                  <c:v>3548</c:v>
                </c:pt>
                <c:pt idx="80">
                  <c:v>1262</c:v>
                </c:pt>
                <c:pt idx="81">
                  <c:v>1153</c:v>
                </c:pt>
                <c:pt idx="82">
                  <c:v>918</c:v>
                </c:pt>
                <c:pt idx="83">
                  <c:v>415</c:v>
                </c:pt>
                <c:pt idx="84">
                  <c:v>471</c:v>
                </c:pt>
                <c:pt idx="85">
                  <c:v>317</c:v>
                </c:pt>
                <c:pt idx="86">
                  <c:v>601</c:v>
                </c:pt>
                <c:pt idx="87">
                  <c:v>494</c:v>
                </c:pt>
                <c:pt idx="88">
                  <c:v>682</c:v>
                </c:pt>
                <c:pt idx="89">
                  <c:v>3102</c:v>
                </c:pt>
                <c:pt idx="90">
                  <c:v>593</c:v>
                </c:pt>
                <c:pt idx="91">
                  <c:v>2</c:v>
                </c:pt>
              </c:numCache>
            </c:numRef>
          </c:val>
          <c:smooth val="1"/>
          <c:extLst>
            <c:ext xmlns:c16="http://schemas.microsoft.com/office/drawing/2014/chart" uri="{C3380CC4-5D6E-409C-BE32-E72D297353CC}">
              <c16:uniqueId val="{00000000-B9F4-4FBB-9AE5-996E7C916E99}"/>
            </c:ext>
          </c:extLst>
        </c:ser>
        <c:ser>
          <c:idx val="1"/>
          <c:order val="1"/>
          <c:tx>
            <c:strRef>
              <c:f>Sheet1!$I$1</c:f>
              <c:strCache>
                <c:ptCount val="1"/>
                <c:pt idx="0">
                  <c:v>VPBank</c:v>
                </c:pt>
              </c:strCache>
            </c:strRef>
          </c:tx>
          <c:spPr>
            <a:ln w="9525" cap="rnd">
              <a:solidFill>
                <a:srgbClr val="008D4B"/>
              </a:solidFill>
              <a:round/>
            </a:ln>
            <a:effectLst/>
          </c:spPr>
          <c:marker>
            <c:symbol val="none"/>
          </c:marker>
          <c:cat>
            <c:numRef>
              <c:f>Sheet1!$A$2:$A$93</c:f>
              <c:numCache>
                <c:formatCode>m/d/yyyy</c:formatCode>
                <c:ptCount val="92"/>
                <c:pt idx="0">
                  <c:v>45824</c:v>
                </c:pt>
                <c:pt idx="1">
                  <c:v>45825</c:v>
                </c:pt>
                <c:pt idx="2">
                  <c:v>45826</c:v>
                </c:pt>
                <c:pt idx="3">
                  <c:v>45827</c:v>
                </c:pt>
                <c:pt idx="4">
                  <c:v>45828</c:v>
                </c:pt>
                <c:pt idx="5">
                  <c:v>45829</c:v>
                </c:pt>
                <c:pt idx="6">
                  <c:v>45830</c:v>
                </c:pt>
                <c:pt idx="7">
                  <c:v>45831</c:v>
                </c:pt>
                <c:pt idx="8">
                  <c:v>45832</c:v>
                </c:pt>
                <c:pt idx="9">
                  <c:v>45833</c:v>
                </c:pt>
                <c:pt idx="10">
                  <c:v>45834</c:v>
                </c:pt>
                <c:pt idx="11">
                  <c:v>45835</c:v>
                </c:pt>
                <c:pt idx="12">
                  <c:v>45836</c:v>
                </c:pt>
                <c:pt idx="13">
                  <c:v>45837</c:v>
                </c:pt>
                <c:pt idx="14">
                  <c:v>45838</c:v>
                </c:pt>
                <c:pt idx="15">
                  <c:v>45839</c:v>
                </c:pt>
                <c:pt idx="16">
                  <c:v>45840</c:v>
                </c:pt>
                <c:pt idx="17">
                  <c:v>45841</c:v>
                </c:pt>
                <c:pt idx="18">
                  <c:v>45842</c:v>
                </c:pt>
                <c:pt idx="19">
                  <c:v>45843</c:v>
                </c:pt>
                <c:pt idx="20">
                  <c:v>45844</c:v>
                </c:pt>
                <c:pt idx="21">
                  <c:v>45845</c:v>
                </c:pt>
                <c:pt idx="22">
                  <c:v>45846</c:v>
                </c:pt>
                <c:pt idx="23">
                  <c:v>45847</c:v>
                </c:pt>
                <c:pt idx="24">
                  <c:v>45848</c:v>
                </c:pt>
                <c:pt idx="25">
                  <c:v>45849</c:v>
                </c:pt>
                <c:pt idx="26">
                  <c:v>45850</c:v>
                </c:pt>
                <c:pt idx="27">
                  <c:v>45851</c:v>
                </c:pt>
                <c:pt idx="28">
                  <c:v>45852</c:v>
                </c:pt>
                <c:pt idx="29">
                  <c:v>45853</c:v>
                </c:pt>
                <c:pt idx="30">
                  <c:v>45854</c:v>
                </c:pt>
                <c:pt idx="31">
                  <c:v>45855</c:v>
                </c:pt>
                <c:pt idx="32">
                  <c:v>45856</c:v>
                </c:pt>
                <c:pt idx="33">
                  <c:v>45857</c:v>
                </c:pt>
                <c:pt idx="34">
                  <c:v>45858</c:v>
                </c:pt>
                <c:pt idx="35">
                  <c:v>45859</c:v>
                </c:pt>
                <c:pt idx="36">
                  <c:v>45860</c:v>
                </c:pt>
                <c:pt idx="37">
                  <c:v>45861</c:v>
                </c:pt>
                <c:pt idx="38">
                  <c:v>45862</c:v>
                </c:pt>
                <c:pt idx="39">
                  <c:v>45863</c:v>
                </c:pt>
                <c:pt idx="40">
                  <c:v>45864</c:v>
                </c:pt>
                <c:pt idx="41">
                  <c:v>45865</c:v>
                </c:pt>
                <c:pt idx="42">
                  <c:v>45866</c:v>
                </c:pt>
                <c:pt idx="43">
                  <c:v>45867</c:v>
                </c:pt>
                <c:pt idx="44">
                  <c:v>45868</c:v>
                </c:pt>
                <c:pt idx="45">
                  <c:v>45869</c:v>
                </c:pt>
                <c:pt idx="46">
                  <c:v>45870</c:v>
                </c:pt>
                <c:pt idx="47">
                  <c:v>45871</c:v>
                </c:pt>
                <c:pt idx="48">
                  <c:v>45872</c:v>
                </c:pt>
                <c:pt idx="49">
                  <c:v>45873</c:v>
                </c:pt>
                <c:pt idx="50">
                  <c:v>45874</c:v>
                </c:pt>
                <c:pt idx="51">
                  <c:v>45875</c:v>
                </c:pt>
                <c:pt idx="52">
                  <c:v>45876</c:v>
                </c:pt>
                <c:pt idx="53">
                  <c:v>45877</c:v>
                </c:pt>
                <c:pt idx="54">
                  <c:v>45878</c:v>
                </c:pt>
                <c:pt idx="55">
                  <c:v>45879</c:v>
                </c:pt>
                <c:pt idx="56">
                  <c:v>45880</c:v>
                </c:pt>
                <c:pt idx="57">
                  <c:v>45881</c:v>
                </c:pt>
                <c:pt idx="58">
                  <c:v>45882</c:v>
                </c:pt>
                <c:pt idx="59">
                  <c:v>45883</c:v>
                </c:pt>
                <c:pt idx="60">
                  <c:v>45884</c:v>
                </c:pt>
                <c:pt idx="61">
                  <c:v>45885</c:v>
                </c:pt>
                <c:pt idx="62">
                  <c:v>45886</c:v>
                </c:pt>
                <c:pt idx="63">
                  <c:v>45887</c:v>
                </c:pt>
                <c:pt idx="64">
                  <c:v>45888</c:v>
                </c:pt>
                <c:pt idx="65">
                  <c:v>45889</c:v>
                </c:pt>
                <c:pt idx="66">
                  <c:v>45890</c:v>
                </c:pt>
                <c:pt idx="67">
                  <c:v>45891</c:v>
                </c:pt>
                <c:pt idx="68">
                  <c:v>45892</c:v>
                </c:pt>
                <c:pt idx="69">
                  <c:v>45893</c:v>
                </c:pt>
                <c:pt idx="70">
                  <c:v>45894</c:v>
                </c:pt>
                <c:pt idx="71">
                  <c:v>45895</c:v>
                </c:pt>
                <c:pt idx="72">
                  <c:v>45896</c:v>
                </c:pt>
                <c:pt idx="73">
                  <c:v>45897</c:v>
                </c:pt>
                <c:pt idx="74">
                  <c:v>45898</c:v>
                </c:pt>
                <c:pt idx="75">
                  <c:v>45899</c:v>
                </c:pt>
                <c:pt idx="76">
                  <c:v>45900</c:v>
                </c:pt>
                <c:pt idx="77">
                  <c:v>45901</c:v>
                </c:pt>
                <c:pt idx="78">
                  <c:v>45902</c:v>
                </c:pt>
                <c:pt idx="79">
                  <c:v>45903</c:v>
                </c:pt>
                <c:pt idx="80">
                  <c:v>45904</c:v>
                </c:pt>
                <c:pt idx="81">
                  <c:v>45905</c:v>
                </c:pt>
                <c:pt idx="82">
                  <c:v>45906</c:v>
                </c:pt>
                <c:pt idx="83">
                  <c:v>45907</c:v>
                </c:pt>
                <c:pt idx="84">
                  <c:v>45908</c:v>
                </c:pt>
                <c:pt idx="85">
                  <c:v>45909</c:v>
                </c:pt>
                <c:pt idx="86">
                  <c:v>45910</c:v>
                </c:pt>
                <c:pt idx="87">
                  <c:v>45911</c:v>
                </c:pt>
                <c:pt idx="88">
                  <c:v>45912</c:v>
                </c:pt>
                <c:pt idx="89">
                  <c:v>45913</c:v>
                </c:pt>
                <c:pt idx="90">
                  <c:v>45914</c:v>
                </c:pt>
                <c:pt idx="91">
                  <c:v>45915</c:v>
                </c:pt>
              </c:numCache>
            </c:numRef>
          </c:cat>
          <c:val>
            <c:numRef>
              <c:f>Sheet1!$I$2:$I$93</c:f>
              <c:numCache>
                <c:formatCode>General</c:formatCode>
                <c:ptCount val="92"/>
                <c:pt idx="0">
                  <c:v>1486</c:v>
                </c:pt>
                <c:pt idx="1">
                  <c:v>712</c:v>
                </c:pt>
                <c:pt idx="2">
                  <c:v>3046</c:v>
                </c:pt>
                <c:pt idx="3">
                  <c:v>3429</c:v>
                </c:pt>
                <c:pt idx="4">
                  <c:v>2569</c:v>
                </c:pt>
                <c:pt idx="5">
                  <c:v>1518</c:v>
                </c:pt>
                <c:pt idx="6">
                  <c:v>4489</c:v>
                </c:pt>
                <c:pt idx="7">
                  <c:v>9833</c:v>
                </c:pt>
                <c:pt idx="8">
                  <c:v>2580</c:v>
                </c:pt>
                <c:pt idx="9">
                  <c:v>1833</c:v>
                </c:pt>
                <c:pt idx="10">
                  <c:v>2007</c:v>
                </c:pt>
                <c:pt idx="11">
                  <c:v>1278</c:v>
                </c:pt>
                <c:pt idx="12">
                  <c:v>889</c:v>
                </c:pt>
                <c:pt idx="13">
                  <c:v>823</c:v>
                </c:pt>
                <c:pt idx="14">
                  <c:v>1201</c:v>
                </c:pt>
                <c:pt idx="15">
                  <c:v>1907</c:v>
                </c:pt>
                <c:pt idx="16">
                  <c:v>2860</c:v>
                </c:pt>
                <c:pt idx="17">
                  <c:v>3181</c:v>
                </c:pt>
                <c:pt idx="18">
                  <c:v>2494</c:v>
                </c:pt>
                <c:pt idx="19">
                  <c:v>3437</c:v>
                </c:pt>
                <c:pt idx="20">
                  <c:v>2929</c:v>
                </c:pt>
                <c:pt idx="21">
                  <c:v>1427</c:v>
                </c:pt>
                <c:pt idx="22">
                  <c:v>1623</c:v>
                </c:pt>
                <c:pt idx="23">
                  <c:v>1451</c:v>
                </c:pt>
                <c:pt idx="24">
                  <c:v>1252</c:v>
                </c:pt>
                <c:pt idx="25">
                  <c:v>1058</c:v>
                </c:pt>
                <c:pt idx="26">
                  <c:v>826</c:v>
                </c:pt>
                <c:pt idx="27">
                  <c:v>697</c:v>
                </c:pt>
                <c:pt idx="28">
                  <c:v>1702</c:v>
                </c:pt>
                <c:pt idx="29">
                  <c:v>1573</c:v>
                </c:pt>
                <c:pt idx="30">
                  <c:v>780</c:v>
                </c:pt>
                <c:pt idx="31">
                  <c:v>592</c:v>
                </c:pt>
                <c:pt idx="32">
                  <c:v>673</c:v>
                </c:pt>
                <c:pt idx="33">
                  <c:v>321</c:v>
                </c:pt>
                <c:pt idx="34">
                  <c:v>353</c:v>
                </c:pt>
                <c:pt idx="35">
                  <c:v>1208</c:v>
                </c:pt>
                <c:pt idx="36">
                  <c:v>1113</c:v>
                </c:pt>
                <c:pt idx="37">
                  <c:v>1251</c:v>
                </c:pt>
                <c:pt idx="38">
                  <c:v>1032</c:v>
                </c:pt>
                <c:pt idx="39">
                  <c:v>917</c:v>
                </c:pt>
                <c:pt idx="40">
                  <c:v>405</c:v>
                </c:pt>
                <c:pt idx="41">
                  <c:v>440</c:v>
                </c:pt>
                <c:pt idx="42">
                  <c:v>1338</c:v>
                </c:pt>
                <c:pt idx="43">
                  <c:v>1277</c:v>
                </c:pt>
                <c:pt idx="44">
                  <c:v>1148</c:v>
                </c:pt>
                <c:pt idx="45">
                  <c:v>1930</c:v>
                </c:pt>
                <c:pt idx="46">
                  <c:v>1110</c:v>
                </c:pt>
                <c:pt idx="47">
                  <c:v>508</c:v>
                </c:pt>
                <c:pt idx="48">
                  <c:v>359</c:v>
                </c:pt>
                <c:pt idx="49">
                  <c:v>708</c:v>
                </c:pt>
                <c:pt idx="50">
                  <c:v>1914</c:v>
                </c:pt>
                <c:pt idx="51">
                  <c:v>13834</c:v>
                </c:pt>
                <c:pt idx="52">
                  <c:v>1145</c:v>
                </c:pt>
                <c:pt idx="53">
                  <c:v>920</c:v>
                </c:pt>
                <c:pt idx="54">
                  <c:v>2010</c:v>
                </c:pt>
                <c:pt idx="55">
                  <c:v>420</c:v>
                </c:pt>
                <c:pt idx="56">
                  <c:v>740</c:v>
                </c:pt>
                <c:pt idx="57">
                  <c:v>706</c:v>
                </c:pt>
                <c:pt idx="58">
                  <c:v>614</c:v>
                </c:pt>
                <c:pt idx="59">
                  <c:v>1137</c:v>
                </c:pt>
                <c:pt idx="60">
                  <c:v>1592</c:v>
                </c:pt>
                <c:pt idx="61">
                  <c:v>1369</c:v>
                </c:pt>
                <c:pt idx="62">
                  <c:v>466</c:v>
                </c:pt>
                <c:pt idx="63">
                  <c:v>1138</c:v>
                </c:pt>
                <c:pt idx="64">
                  <c:v>3430</c:v>
                </c:pt>
                <c:pt idx="65">
                  <c:v>1442</c:v>
                </c:pt>
                <c:pt idx="66">
                  <c:v>1407</c:v>
                </c:pt>
                <c:pt idx="67">
                  <c:v>1214</c:v>
                </c:pt>
                <c:pt idx="68">
                  <c:v>688</c:v>
                </c:pt>
                <c:pt idx="69">
                  <c:v>1339</c:v>
                </c:pt>
                <c:pt idx="70">
                  <c:v>5452</c:v>
                </c:pt>
                <c:pt idx="71">
                  <c:v>1394</c:v>
                </c:pt>
                <c:pt idx="72">
                  <c:v>1235</c:v>
                </c:pt>
                <c:pt idx="73">
                  <c:v>983</c:v>
                </c:pt>
                <c:pt idx="74">
                  <c:v>1964</c:v>
                </c:pt>
                <c:pt idx="75">
                  <c:v>495</c:v>
                </c:pt>
                <c:pt idx="76">
                  <c:v>343</c:v>
                </c:pt>
                <c:pt idx="77">
                  <c:v>373</c:v>
                </c:pt>
                <c:pt idx="78">
                  <c:v>413</c:v>
                </c:pt>
                <c:pt idx="79">
                  <c:v>1221</c:v>
                </c:pt>
                <c:pt idx="80">
                  <c:v>1600</c:v>
                </c:pt>
                <c:pt idx="81">
                  <c:v>2390</c:v>
                </c:pt>
                <c:pt idx="82">
                  <c:v>532</c:v>
                </c:pt>
                <c:pt idx="83">
                  <c:v>510</c:v>
                </c:pt>
                <c:pt idx="84">
                  <c:v>1018</c:v>
                </c:pt>
                <c:pt idx="85">
                  <c:v>1214</c:v>
                </c:pt>
                <c:pt idx="86">
                  <c:v>679</c:v>
                </c:pt>
                <c:pt idx="87">
                  <c:v>848</c:v>
                </c:pt>
                <c:pt idx="88">
                  <c:v>3235</c:v>
                </c:pt>
                <c:pt idx="89">
                  <c:v>438</c:v>
                </c:pt>
                <c:pt idx="90">
                  <c:v>348</c:v>
                </c:pt>
                <c:pt idx="91">
                  <c:v>788</c:v>
                </c:pt>
              </c:numCache>
            </c:numRef>
          </c:val>
          <c:smooth val="1"/>
          <c:extLst>
            <c:ext xmlns:c16="http://schemas.microsoft.com/office/drawing/2014/chart" uri="{C3380CC4-5D6E-409C-BE32-E72D297353CC}">
              <c16:uniqueId val="{00000001-B9F4-4FBB-9AE5-996E7C916E99}"/>
            </c:ext>
          </c:extLst>
        </c:ser>
        <c:ser>
          <c:idx val="2"/>
          <c:order val="2"/>
          <c:tx>
            <c:strRef>
              <c:f>Sheet1!$E$1</c:f>
              <c:strCache>
                <c:ptCount val="1"/>
                <c:pt idx="0">
                  <c:v>MBBank</c:v>
                </c:pt>
              </c:strCache>
            </c:strRef>
          </c:tx>
          <c:spPr>
            <a:ln w="9525" cap="rnd">
              <a:solidFill>
                <a:srgbClr val="141ED3"/>
              </a:solidFill>
              <a:round/>
            </a:ln>
            <a:effectLst/>
          </c:spPr>
          <c:marker>
            <c:symbol val="none"/>
          </c:marker>
          <c:cat>
            <c:numRef>
              <c:f>Sheet1!$A$2:$A$93</c:f>
              <c:numCache>
                <c:formatCode>m/d/yyyy</c:formatCode>
                <c:ptCount val="92"/>
                <c:pt idx="0">
                  <c:v>45824</c:v>
                </c:pt>
                <c:pt idx="1">
                  <c:v>45825</c:v>
                </c:pt>
                <c:pt idx="2">
                  <c:v>45826</c:v>
                </c:pt>
                <c:pt idx="3">
                  <c:v>45827</c:v>
                </c:pt>
                <c:pt idx="4">
                  <c:v>45828</c:v>
                </c:pt>
                <c:pt idx="5">
                  <c:v>45829</c:v>
                </c:pt>
                <c:pt idx="6">
                  <c:v>45830</c:v>
                </c:pt>
                <c:pt idx="7">
                  <c:v>45831</c:v>
                </c:pt>
                <c:pt idx="8">
                  <c:v>45832</c:v>
                </c:pt>
                <c:pt idx="9">
                  <c:v>45833</c:v>
                </c:pt>
                <c:pt idx="10">
                  <c:v>45834</c:v>
                </c:pt>
                <c:pt idx="11">
                  <c:v>45835</c:v>
                </c:pt>
                <c:pt idx="12">
                  <c:v>45836</c:v>
                </c:pt>
                <c:pt idx="13">
                  <c:v>45837</c:v>
                </c:pt>
                <c:pt idx="14">
                  <c:v>45838</c:v>
                </c:pt>
                <c:pt idx="15">
                  <c:v>45839</c:v>
                </c:pt>
                <c:pt idx="16">
                  <c:v>45840</c:v>
                </c:pt>
                <c:pt idx="17">
                  <c:v>45841</c:v>
                </c:pt>
                <c:pt idx="18">
                  <c:v>45842</c:v>
                </c:pt>
                <c:pt idx="19">
                  <c:v>45843</c:v>
                </c:pt>
                <c:pt idx="20">
                  <c:v>45844</c:v>
                </c:pt>
                <c:pt idx="21">
                  <c:v>45845</c:v>
                </c:pt>
                <c:pt idx="22">
                  <c:v>45846</c:v>
                </c:pt>
                <c:pt idx="23">
                  <c:v>45847</c:v>
                </c:pt>
                <c:pt idx="24">
                  <c:v>45848</c:v>
                </c:pt>
                <c:pt idx="25">
                  <c:v>45849</c:v>
                </c:pt>
                <c:pt idx="26">
                  <c:v>45850</c:v>
                </c:pt>
                <c:pt idx="27">
                  <c:v>45851</c:v>
                </c:pt>
                <c:pt idx="28">
                  <c:v>45852</c:v>
                </c:pt>
                <c:pt idx="29">
                  <c:v>45853</c:v>
                </c:pt>
                <c:pt idx="30">
                  <c:v>45854</c:v>
                </c:pt>
                <c:pt idx="31">
                  <c:v>45855</c:v>
                </c:pt>
                <c:pt idx="32">
                  <c:v>45856</c:v>
                </c:pt>
                <c:pt idx="33">
                  <c:v>45857</c:v>
                </c:pt>
                <c:pt idx="34">
                  <c:v>45858</c:v>
                </c:pt>
                <c:pt idx="35">
                  <c:v>45859</c:v>
                </c:pt>
                <c:pt idx="36">
                  <c:v>45860</c:v>
                </c:pt>
                <c:pt idx="37">
                  <c:v>45861</c:v>
                </c:pt>
                <c:pt idx="38">
                  <c:v>45862</c:v>
                </c:pt>
                <c:pt idx="39">
                  <c:v>45863</c:v>
                </c:pt>
                <c:pt idx="40">
                  <c:v>45864</c:v>
                </c:pt>
                <c:pt idx="41">
                  <c:v>45865</c:v>
                </c:pt>
                <c:pt idx="42">
                  <c:v>45866</c:v>
                </c:pt>
                <c:pt idx="43">
                  <c:v>45867</c:v>
                </c:pt>
                <c:pt idx="44">
                  <c:v>45868</c:v>
                </c:pt>
                <c:pt idx="45">
                  <c:v>45869</c:v>
                </c:pt>
                <c:pt idx="46">
                  <c:v>45870</c:v>
                </c:pt>
                <c:pt idx="47">
                  <c:v>45871</c:v>
                </c:pt>
                <c:pt idx="48">
                  <c:v>45872</c:v>
                </c:pt>
                <c:pt idx="49">
                  <c:v>45873</c:v>
                </c:pt>
                <c:pt idx="50">
                  <c:v>45874</c:v>
                </c:pt>
                <c:pt idx="51">
                  <c:v>45875</c:v>
                </c:pt>
                <c:pt idx="52">
                  <c:v>45876</c:v>
                </c:pt>
                <c:pt idx="53">
                  <c:v>45877</c:v>
                </c:pt>
                <c:pt idx="54">
                  <c:v>45878</c:v>
                </c:pt>
                <c:pt idx="55">
                  <c:v>45879</c:v>
                </c:pt>
                <c:pt idx="56">
                  <c:v>45880</c:v>
                </c:pt>
                <c:pt idx="57">
                  <c:v>45881</c:v>
                </c:pt>
                <c:pt idx="58">
                  <c:v>45882</c:v>
                </c:pt>
                <c:pt idx="59">
                  <c:v>45883</c:v>
                </c:pt>
                <c:pt idx="60">
                  <c:v>45884</c:v>
                </c:pt>
                <c:pt idx="61">
                  <c:v>45885</c:v>
                </c:pt>
                <c:pt idx="62">
                  <c:v>45886</c:v>
                </c:pt>
                <c:pt idx="63">
                  <c:v>45887</c:v>
                </c:pt>
                <c:pt idx="64">
                  <c:v>45888</c:v>
                </c:pt>
                <c:pt idx="65">
                  <c:v>45889</c:v>
                </c:pt>
                <c:pt idx="66">
                  <c:v>45890</c:v>
                </c:pt>
                <c:pt idx="67">
                  <c:v>45891</c:v>
                </c:pt>
                <c:pt idx="68">
                  <c:v>45892</c:v>
                </c:pt>
                <c:pt idx="69">
                  <c:v>45893</c:v>
                </c:pt>
                <c:pt idx="70">
                  <c:v>45894</c:v>
                </c:pt>
                <c:pt idx="71">
                  <c:v>45895</c:v>
                </c:pt>
                <c:pt idx="72">
                  <c:v>45896</c:v>
                </c:pt>
                <c:pt idx="73">
                  <c:v>45897</c:v>
                </c:pt>
                <c:pt idx="74">
                  <c:v>45898</c:v>
                </c:pt>
                <c:pt idx="75">
                  <c:v>45899</c:v>
                </c:pt>
                <c:pt idx="76">
                  <c:v>45900</c:v>
                </c:pt>
                <c:pt idx="77">
                  <c:v>45901</c:v>
                </c:pt>
                <c:pt idx="78">
                  <c:v>45902</c:v>
                </c:pt>
                <c:pt idx="79">
                  <c:v>45903</c:v>
                </c:pt>
                <c:pt idx="80">
                  <c:v>45904</c:v>
                </c:pt>
                <c:pt idx="81">
                  <c:v>45905</c:v>
                </c:pt>
                <c:pt idx="82">
                  <c:v>45906</c:v>
                </c:pt>
                <c:pt idx="83">
                  <c:v>45907</c:v>
                </c:pt>
                <c:pt idx="84">
                  <c:v>45908</c:v>
                </c:pt>
                <c:pt idx="85">
                  <c:v>45909</c:v>
                </c:pt>
                <c:pt idx="86">
                  <c:v>45910</c:v>
                </c:pt>
                <c:pt idx="87">
                  <c:v>45911</c:v>
                </c:pt>
                <c:pt idx="88">
                  <c:v>45912</c:v>
                </c:pt>
                <c:pt idx="89">
                  <c:v>45913</c:v>
                </c:pt>
                <c:pt idx="90">
                  <c:v>45914</c:v>
                </c:pt>
                <c:pt idx="91">
                  <c:v>45915</c:v>
                </c:pt>
              </c:numCache>
            </c:numRef>
          </c:cat>
          <c:val>
            <c:numRef>
              <c:f>Sheet1!$E$2:$E$93</c:f>
              <c:numCache>
                <c:formatCode>General</c:formatCode>
                <c:ptCount val="92"/>
                <c:pt idx="0">
                  <c:v>412</c:v>
                </c:pt>
                <c:pt idx="1">
                  <c:v>393</c:v>
                </c:pt>
                <c:pt idx="2">
                  <c:v>480</c:v>
                </c:pt>
                <c:pt idx="3">
                  <c:v>444</c:v>
                </c:pt>
                <c:pt idx="4">
                  <c:v>870</c:v>
                </c:pt>
                <c:pt idx="5">
                  <c:v>236</c:v>
                </c:pt>
                <c:pt idx="6">
                  <c:v>258</c:v>
                </c:pt>
                <c:pt idx="7">
                  <c:v>1124</c:v>
                </c:pt>
                <c:pt idx="8">
                  <c:v>1179</c:v>
                </c:pt>
                <c:pt idx="9">
                  <c:v>908</c:v>
                </c:pt>
                <c:pt idx="10">
                  <c:v>1077</c:v>
                </c:pt>
                <c:pt idx="11">
                  <c:v>870</c:v>
                </c:pt>
                <c:pt idx="12">
                  <c:v>837</c:v>
                </c:pt>
                <c:pt idx="13">
                  <c:v>540</c:v>
                </c:pt>
                <c:pt idx="14">
                  <c:v>805</c:v>
                </c:pt>
                <c:pt idx="15">
                  <c:v>2958</c:v>
                </c:pt>
                <c:pt idx="16">
                  <c:v>4026</c:v>
                </c:pt>
                <c:pt idx="17">
                  <c:v>4198</c:v>
                </c:pt>
                <c:pt idx="18">
                  <c:v>4418</c:v>
                </c:pt>
                <c:pt idx="19">
                  <c:v>3475</c:v>
                </c:pt>
                <c:pt idx="20">
                  <c:v>2997</c:v>
                </c:pt>
                <c:pt idx="21">
                  <c:v>1388</c:v>
                </c:pt>
                <c:pt idx="22">
                  <c:v>1175</c:v>
                </c:pt>
                <c:pt idx="23">
                  <c:v>1229</c:v>
                </c:pt>
                <c:pt idx="24">
                  <c:v>1129</c:v>
                </c:pt>
                <c:pt idx="25">
                  <c:v>912</c:v>
                </c:pt>
                <c:pt idx="26">
                  <c:v>738</c:v>
                </c:pt>
                <c:pt idx="27">
                  <c:v>807</c:v>
                </c:pt>
                <c:pt idx="28">
                  <c:v>1699</c:v>
                </c:pt>
                <c:pt idx="29">
                  <c:v>1604</c:v>
                </c:pt>
                <c:pt idx="30">
                  <c:v>936</c:v>
                </c:pt>
                <c:pt idx="31">
                  <c:v>429</c:v>
                </c:pt>
                <c:pt idx="32">
                  <c:v>591</c:v>
                </c:pt>
                <c:pt idx="33">
                  <c:v>303</c:v>
                </c:pt>
                <c:pt idx="34">
                  <c:v>245</c:v>
                </c:pt>
                <c:pt idx="35">
                  <c:v>661</c:v>
                </c:pt>
                <c:pt idx="36">
                  <c:v>617</c:v>
                </c:pt>
                <c:pt idx="37">
                  <c:v>715</c:v>
                </c:pt>
                <c:pt idx="38">
                  <c:v>1062</c:v>
                </c:pt>
                <c:pt idx="39">
                  <c:v>1219</c:v>
                </c:pt>
                <c:pt idx="40">
                  <c:v>6000</c:v>
                </c:pt>
                <c:pt idx="41">
                  <c:v>3115</c:v>
                </c:pt>
                <c:pt idx="42">
                  <c:v>3704</c:v>
                </c:pt>
                <c:pt idx="43">
                  <c:v>838</c:v>
                </c:pt>
                <c:pt idx="44">
                  <c:v>1027</c:v>
                </c:pt>
                <c:pt idx="45">
                  <c:v>722</c:v>
                </c:pt>
                <c:pt idx="46">
                  <c:v>550</c:v>
                </c:pt>
                <c:pt idx="47">
                  <c:v>261</c:v>
                </c:pt>
                <c:pt idx="48">
                  <c:v>795</c:v>
                </c:pt>
                <c:pt idx="49">
                  <c:v>530</c:v>
                </c:pt>
                <c:pt idx="50">
                  <c:v>1370</c:v>
                </c:pt>
                <c:pt idx="51">
                  <c:v>1060</c:v>
                </c:pt>
                <c:pt idx="52">
                  <c:v>601</c:v>
                </c:pt>
                <c:pt idx="53">
                  <c:v>660</c:v>
                </c:pt>
                <c:pt idx="54">
                  <c:v>3241</c:v>
                </c:pt>
                <c:pt idx="55">
                  <c:v>913</c:v>
                </c:pt>
                <c:pt idx="56">
                  <c:v>2046</c:v>
                </c:pt>
                <c:pt idx="57">
                  <c:v>722</c:v>
                </c:pt>
                <c:pt idx="58">
                  <c:v>1466</c:v>
                </c:pt>
                <c:pt idx="59">
                  <c:v>2467</c:v>
                </c:pt>
                <c:pt idx="60">
                  <c:v>2300</c:v>
                </c:pt>
                <c:pt idx="61">
                  <c:v>1926</c:v>
                </c:pt>
                <c:pt idx="62">
                  <c:v>4747</c:v>
                </c:pt>
                <c:pt idx="63">
                  <c:v>1809</c:v>
                </c:pt>
                <c:pt idx="64">
                  <c:v>1128</c:v>
                </c:pt>
                <c:pt idx="65">
                  <c:v>990</c:v>
                </c:pt>
                <c:pt idx="66">
                  <c:v>772</c:v>
                </c:pt>
                <c:pt idx="67">
                  <c:v>1145</c:v>
                </c:pt>
                <c:pt idx="68">
                  <c:v>494</c:v>
                </c:pt>
                <c:pt idx="69">
                  <c:v>985</c:v>
                </c:pt>
                <c:pt idx="70">
                  <c:v>1096</c:v>
                </c:pt>
                <c:pt idx="71">
                  <c:v>741</c:v>
                </c:pt>
                <c:pt idx="72">
                  <c:v>767</c:v>
                </c:pt>
                <c:pt idx="73">
                  <c:v>1162</c:v>
                </c:pt>
                <c:pt idx="74">
                  <c:v>1373</c:v>
                </c:pt>
                <c:pt idx="75">
                  <c:v>891</c:v>
                </c:pt>
                <c:pt idx="76">
                  <c:v>513</c:v>
                </c:pt>
                <c:pt idx="77">
                  <c:v>554</c:v>
                </c:pt>
                <c:pt idx="78">
                  <c:v>395</c:v>
                </c:pt>
                <c:pt idx="79">
                  <c:v>1225</c:v>
                </c:pt>
                <c:pt idx="80">
                  <c:v>979</c:v>
                </c:pt>
                <c:pt idx="81">
                  <c:v>1366</c:v>
                </c:pt>
                <c:pt idx="82">
                  <c:v>1124</c:v>
                </c:pt>
                <c:pt idx="83">
                  <c:v>774</c:v>
                </c:pt>
                <c:pt idx="84">
                  <c:v>810</c:v>
                </c:pt>
                <c:pt idx="85">
                  <c:v>891</c:v>
                </c:pt>
                <c:pt idx="86">
                  <c:v>1725</c:v>
                </c:pt>
                <c:pt idx="87">
                  <c:v>893</c:v>
                </c:pt>
                <c:pt idx="88">
                  <c:v>1089</c:v>
                </c:pt>
                <c:pt idx="89">
                  <c:v>425</c:v>
                </c:pt>
                <c:pt idx="90">
                  <c:v>295</c:v>
                </c:pt>
                <c:pt idx="91">
                  <c:v>719</c:v>
                </c:pt>
              </c:numCache>
            </c:numRef>
          </c:val>
          <c:smooth val="1"/>
          <c:extLst>
            <c:ext xmlns:c16="http://schemas.microsoft.com/office/drawing/2014/chart" uri="{C3380CC4-5D6E-409C-BE32-E72D297353CC}">
              <c16:uniqueId val="{00000002-B9F4-4FBB-9AE5-996E7C916E99}"/>
            </c:ext>
          </c:extLst>
        </c:ser>
        <c:ser>
          <c:idx val="3"/>
          <c:order val="3"/>
          <c:tx>
            <c:strRef>
              <c:f>Sheet1!$G$1</c:f>
              <c:strCache>
                <c:ptCount val="1"/>
                <c:pt idx="0">
                  <c:v>Vietcombank</c:v>
                </c:pt>
              </c:strCache>
            </c:strRef>
          </c:tx>
          <c:spPr>
            <a:ln w="9525" cap="rnd">
              <a:solidFill>
                <a:srgbClr val="0B4825"/>
              </a:solidFill>
              <a:round/>
            </a:ln>
            <a:effectLst/>
          </c:spPr>
          <c:marker>
            <c:symbol val="none"/>
          </c:marker>
          <c:cat>
            <c:numRef>
              <c:f>Sheet1!$A$2:$A$93</c:f>
              <c:numCache>
                <c:formatCode>m/d/yyyy</c:formatCode>
                <c:ptCount val="92"/>
                <c:pt idx="0">
                  <c:v>45824</c:v>
                </c:pt>
                <c:pt idx="1">
                  <c:v>45825</c:v>
                </c:pt>
                <c:pt idx="2">
                  <c:v>45826</c:v>
                </c:pt>
                <c:pt idx="3">
                  <c:v>45827</c:v>
                </c:pt>
                <c:pt idx="4">
                  <c:v>45828</c:v>
                </c:pt>
                <c:pt idx="5">
                  <c:v>45829</c:v>
                </c:pt>
                <c:pt idx="6">
                  <c:v>45830</c:v>
                </c:pt>
                <c:pt idx="7">
                  <c:v>45831</c:v>
                </c:pt>
                <c:pt idx="8">
                  <c:v>45832</c:v>
                </c:pt>
                <c:pt idx="9">
                  <c:v>45833</c:v>
                </c:pt>
                <c:pt idx="10">
                  <c:v>45834</c:v>
                </c:pt>
                <c:pt idx="11">
                  <c:v>45835</c:v>
                </c:pt>
                <c:pt idx="12">
                  <c:v>45836</c:v>
                </c:pt>
                <c:pt idx="13">
                  <c:v>45837</c:v>
                </c:pt>
                <c:pt idx="14">
                  <c:v>45838</c:v>
                </c:pt>
                <c:pt idx="15">
                  <c:v>45839</c:v>
                </c:pt>
                <c:pt idx="16">
                  <c:v>45840</c:v>
                </c:pt>
                <c:pt idx="17">
                  <c:v>45841</c:v>
                </c:pt>
                <c:pt idx="18">
                  <c:v>45842</c:v>
                </c:pt>
                <c:pt idx="19">
                  <c:v>45843</c:v>
                </c:pt>
                <c:pt idx="20">
                  <c:v>45844</c:v>
                </c:pt>
                <c:pt idx="21">
                  <c:v>45845</c:v>
                </c:pt>
                <c:pt idx="22">
                  <c:v>45846</c:v>
                </c:pt>
                <c:pt idx="23">
                  <c:v>45847</c:v>
                </c:pt>
                <c:pt idx="24">
                  <c:v>45848</c:v>
                </c:pt>
                <c:pt idx="25">
                  <c:v>45849</c:v>
                </c:pt>
                <c:pt idx="26">
                  <c:v>45850</c:v>
                </c:pt>
                <c:pt idx="27">
                  <c:v>45851</c:v>
                </c:pt>
                <c:pt idx="28">
                  <c:v>45852</c:v>
                </c:pt>
                <c:pt idx="29">
                  <c:v>45853</c:v>
                </c:pt>
                <c:pt idx="30">
                  <c:v>45854</c:v>
                </c:pt>
                <c:pt idx="31">
                  <c:v>45855</c:v>
                </c:pt>
                <c:pt idx="32">
                  <c:v>45856</c:v>
                </c:pt>
                <c:pt idx="33">
                  <c:v>45857</c:v>
                </c:pt>
                <c:pt idx="34">
                  <c:v>45858</c:v>
                </c:pt>
                <c:pt idx="35">
                  <c:v>45859</c:v>
                </c:pt>
                <c:pt idx="36">
                  <c:v>45860</c:v>
                </c:pt>
                <c:pt idx="37">
                  <c:v>45861</c:v>
                </c:pt>
                <c:pt idx="38">
                  <c:v>45862</c:v>
                </c:pt>
                <c:pt idx="39">
                  <c:v>45863</c:v>
                </c:pt>
                <c:pt idx="40">
                  <c:v>45864</c:v>
                </c:pt>
                <c:pt idx="41">
                  <c:v>45865</c:v>
                </c:pt>
                <c:pt idx="42">
                  <c:v>45866</c:v>
                </c:pt>
                <c:pt idx="43">
                  <c:v>45867</c:v>
                </c:pt>
                <c:pt idx="44">
                  <c:v>45868</c:v>
                </c:pt>
                <c:pt idx="45">
                  <c:v>45869</c:v>
                </c:pt>
                <c:pt idx="46">
                  <c:v>45870</c:v>
                </c:pt>
                <c:pt idx="47">
                  <c:v>45871</c:v>
                </c:pt>
                <c:pt idx="48">
                  <c:v>45872</c:v>
                </c:pt>
                <c:pt idx="49">
                  <c:v>45873</c:v>
                </c:pt>
                <c:pt idx="50">
                  <c:v>45874</c:v>
                </c:pt>
                <c:pt idx="51">
                  <c:v>45875</c:v>
                </c:pt>
                <c:pt idx="52">
                  <c:v>45876</c:v>
                </c:pt>
                <c:pt idx="53">
                  <c:v>45877</c:v>
                </c:pt>
                <c:pt idx="54">
                  <c:v>45878</c:v>
                </c:pt>
                <c:pt idx="55">
                  <c:v>45879</c:v>
                </c:pt>
                <c:pt idx="56">
                  <c:v>45880</c:v>
                </c:pt>
                <c:pt idx="57">
                  <c:v>45881</c:v>
                </c:pt>
                <c:pt idx="58">
                  <c:v>45882</c:v>
                </c:pt>
                <c:pt idx="59">
                  <c:v>45883</c:v>
                </c:pt>
                <c:pt idx="60">
                  <c:v>45884</c:v>
                </c:pt>
                <c:pt idx="61">
                  <c:v>45885</c:v>
                </c:pt>
                <c:pt idx="62">
                  <c:v>45886</c:v>
                </c:pt>
                <c:pt idx="63">
                  <c:v>45887</c:v>
                </c:pt>
                <c:pt idx="64">
                  <c:v>45888</c:v>
                </c:pt>
                <c:pt idx="65">
                  <c:v>45889</c:v>
                </c:pt>
                <c:pt idx="66">
                  <c:v>45890</c:v>
                </c:pt>
                <c:pt idx="67">
                  <c:v>45891</c:v>
                </c:pt>
                <c:pt idx="68">
                  <c:v>45892</c:v>
                </c:pt>
                <c:pt idx="69">
                  <c:v>45893</c:v>
                </c:pt>
                <c:pt idx="70">
                  <c:v>45894</c:v>
                </c:pt>
                <c:pt idx="71">
                  <c:v>45895</c:v>
                </c:pt>
                <c:pt idx="72">
                  <c:v>45896</c:v>
                </c:pt>
                <c:pt idx="73">
                  <c:v>45897</c:v>
                </c:pt>
                <c:pt idx="74">
                  <c:v>45898</c:v>
                </c:pt>
                <c:pt idx="75">
                  <c:v>45899</c:v>
                </c:pt>
                <c:pt idx="76">
                  <c:v>45900</c:v>
                </c:pt>
                <c:pt idx="77">
                  <c:v>45901</c:v>
                </c:pt>
                <c:pt idx="78">
                  <c:v>45902</c:v>
                </c:pt>
                <c:pt idx="79">
                  <c:v>45903</c:v>
                </c:pt>
                <c:pt idx="80">
                  <c:v>45904</c:v>
                </c:pt>
                <c:pt idx="81">
                  <c:v>45905</c:v>
                </c:pt>
                <c:pt idx="82">
                  <c:v>45906</c:v>
                </c:pt>
                <c:pt idx="83">
                  <c:v>45907</c:v>
                </c:pt>
                <c:pt idx="84">
                  <c:v>45908</c:v>
                </c:pt>
                <c:pt idx="85">
                  <c:v>45909</c:v>
                </c:pt>
                <c:pt idx="86">
                  <c:v>45910</c:v>
                </c:pt>
                <c:pt idx="87">
                  <c:v>45911</c:v>
                </c:pt>
                <c:pt idx="88">
                  <c:v>45912</c:v>
                </c:pt>
                <c:pt idx="89">
                  <c:v>45913</c:v>
                </c:pt>
                <c:pt idx="90">
                  <c:v>45914</c:v>
                </c:pt>
                <c:pt idx="91">
                  <c:v>45915</c:v>
                </c:pt>
              </c:numCache>
            </c:numRef>
          </c:cat>
          <c:val>
            <c:numRef>
              <c:f>Sheet1!$G$3:$G$93</c:f>
              <c:numCache>
                <c:formatCode>General</c:formatCode>
                <c:ptCount val="91"/>
                <c:pt idx="0">
                  <c:v>558</c:v>
                </c:pt>
                <c:pt idx="1">
                  <c:v>1541</c:v>
                </c:pt>
                <c:pt idx="2">
                  <c:v>815</c:v>
                </c:pt>
                <c:pt idx="3">
                  <c:v>629</c:v>
                </c:pt>
                <c:pt idx="4">
                  <c:v>829</c:v>
                </c:pt>
                <c:pt idx="5">
                  <c:v>1248</c:v>
                </c:pt>
                <c:pt idx="6">
                  <c:v>1444</c:v>
                </c:pt>
                <c:pt idx="7">
                  <c:v>1501</c:v>
                </c:pt>
                <c:pt idx="8">
                  <c:v>3281</c:v>
                </c:pt>
                <c:pt idx="9">
                  <c:v>1873</c:v>
                </c:pt>
                <c:pt idx="10">
                  <c:v>1473</c:v>
                </c:pt>
                <c:pt idx="11">
                  <c:v>1161</c:v>
                </c:pt>
                <c:pt idx="12">
                  <c:v>793</c:v>
                </c:pt>
                <c:pt idx="13">
                  <c:v>2423</c:v>
                </c:pt>
                <c:pt idx="14">
                  <c:v>4920</c:v>
                </c:pt>
                <c:pt idx="15">
                  <c:v>5096</c:v>
                </c:pt>
                <c:pt idx="16">
                  <c:v>5825</c:v>
                </c:pt>
                <c:pt idx="17">
                  <c:v>5697</c:v>
                </c:pt>
                <c:pt idx="18">
                  <c:v>4628</c:v>
                </c:pt>
                <c:pt idx="19">
                  <c:v>4408</c:v>
                </c:pt>
                <c:pt idx="20">
                  <c:v>1982</c:v>
                </c:pt>
                <c:pt idx="21">
                  <c:v>1734</c:v>
                </c:pt>
                <c:pt idx="22">
                  <c:v>2015</c:v>
                </c:pt>
                <c:pt idx="23">
                  <c:v>1882</c:v>
                </c:pt>
                <c:pt idx="24">
                  <c:v>1625</c:v>
                </c:pt>
                <c:pt idx="25">
                  <c:v>1247</c:v>
                </c:pt>
                <c:pt idx="26">
                  <c:v>1104</c:v>
                </c:pt>
                <c:pt idx="27">
                  <c:v>3047</c:v>
                </c:pt>
                <c:pt idx="28">
                  <c:v>2932</c:v>
                </c:pt>
                <c:pt idx="29">
                  <c:v>1468</c:v>
                </c:pt>
                <c:pt idx="30">
                  <c:v>749</c:v>
                </c:pt>
                <c:pt idx="31">
                  <c:v>663</c:v>
                </c:pt>
                <c:pt idx="32">
                  <c:v>321</c:v>
                </c:pt>
                <c:pt idx="33">
                  <c:v>362</c:v>
                </c:pt>
                <c:pt idx="34">
                  <c:v>775</c:v>
                </c:pt>
                <c:pt idx="35">
                  <c:v>737</c:v>
                </c:pt>
                <c:pt idx="36">
                  <c:v>617</c:v>
                </c:pt>
                <c:pt idx="37">
                  <c:v>625</c:v>
                </c:pt>
                <c:pt idx="38">
                  <c:v>1750</c:v>
                </c:pt>
                <c:pt idx="39">
                  <c:v>708</c:v>
                </c:pt>
                <c:pt idx="40">
                  <c:v>565</c:v>
                </c:pt>
                <c:pt idx="41">
                  <c:v>793</c:v>
                </c:pt>
                <c:pt idx="42">
                  <c:v>968</c:v>
                </c:pt>
                <c:pt idx="43">
                  <c:v>805</c:v>
                </c:pt>
                <c:pt idx="44">
                  <c:v>2965</c:v>
                </c:pt>
                <c:pt idx="45">
                  <c:v>604</c:v>
                </c:pt>
                <c:pt idx="46">
                  <c:v>366</c:v>
                </c:pt>
                <c:pt idx="47">
                  <c:v>253</c:v>
                </c:pt>
                <c:pt idx="48">
                  <c:v>725</c:v>
                </c:pt>
                <c:pt idx="49">
                  <c:v>983</c:v>
                </c:pt>
                <c:pt idx="50">
                  <c:v>700</c:v>
                </c:pt>
                <c:pt idx="51">
                  <c:v>792</c:v>
                </c:pt>
                <c:pt idx="52">
                  <c:v>506</c:v>
                </c:pt>
                <c:pt idx="53">
                  <c:v>411</c:v>
                </c:pt>
                <c:pt idx="54">
                  <c:v>348</c:v>
                </c:pt>
                <c:pt idx="55">
                  <c:v>672</c:v>
                </c:pt>
                <c:pt idx="56">
                  <c:v>844</c:v>
                </c:pt>
                <c:pt idx="57">
                  <c:v>612</c:v>
                </c:pt>
                <c:pt idx="58">
                  <c:v>1009</c:v>
                </c:pt>
                <c:pt idx="59">
                  <c:v>823</c:v>
                </c:pt>
                <c:pt idx="60">
                  <c:v>519</c:v>
                </c:pt>
                <c:pt idx="61">
                  <c:v>357</c:v>
                </c:pt>
                <c:pt idx="62">
                  <c:v>759</c:v>
                </c:pt>
                <c:pt idx="63">
                  <c:v>550</c:v>
                </c:pt>
                <c:pt idx="64">
                  <c:v>731</c:v>
                </c:pt>
                <c:pt idx="65">
                  <c:v>745</c:v>
                </c:pt>
                <c:pt idx="66">
                  <c:v>817</c:v>
                </c:pt>
                <c:pt idx="67">
                  <c:v>298</c:v>
                </c:pt>
                <c:pt idx="68">
                  <c:v>294</c:v>
                </c:pt>
                <c:pt idx="69">
                  <c:v>755</c:v>
                </c:pt>
                <c:pt idx="70">
                  <c:v>746</c:v>
                </c:pt>
                <c:pt idx="71">
                  <c:v>1515</c:v>
                </c:pt>
                <c:pt idx="72">
                  <c:v>3400</c:v>
                </c:pt>
                <c:pt idx="73">
                  <c:v>4126</c:v>
                </c:pt>
                <c:pt idx="74">
                  <c:v>1641</c:v>
                </c:pt>
                <c:pt idx="75">
                  <c:v>2181</c:v>
                </c:pt>
                <c:pt idx="76">
                  <c:v>3448</c:v>
                </c:pt>
                <c:pt idx="77">
                  <c:v>1482</c:v>
                </c:pt>
                <c:pt idx="78">
                  <c:v>1481</c:v>
                </c:pt>
                <c:pt idx="79">
                  <c:v>1130</c:v>
                </c:pt>
                <c:pt idx="80">
                  <c:v>1124</c:v>
                </c:pt>
                <c:pt idx="81">
                  <c:v>551</c:v>
                </c:pt>
                <c:pt idx="82">
                  <c:v>425</c:v>
                </c:pt>
                <c:pt idx="83">
                  <c:v>624</c:v>
                </c:pt>
                <c:pt idx="84">
                  <c:v>717</c:v>
                </c:pt>
                <c:pt idx="85">
                  <c:v>733</c:v>
                </c:pt>
                <c:pt idx="86">
                  <c:v>762</c:v>
                </c:pt>
                <c:pt idx="87">
                  <c:v>636</c:v>
                </c:pt>
                <c:pt idx="88">
                  <c:v>309</c:v>
                </c:pt>
                <c:pt idx="89">
                  <c:v>253</c:v>
                </c:pt>
                <c:pt idx="90">
                  <c:v>767</c:v>
                </c:pt>
              </c:numCache>
            </c:numRef>
          </c:val>
          <c:smooth val="1"/>
          <c:extLst>
            <c:ext xmlns:c16="http://schemas.microsoft.com/office/drawing/2014/chart" uri="{C3380CC4-5D6E-409C-BE32-E72D297353CC}">
              <c16:uniqueId val="{00000003-B9F4-4FBB-9AE5-996E7C916E99}"/>
            </c:ext>
          </c:extLst>
        </c:ser>
        <c:ser>
          <c:idx val="4"/>
          <c:order val="4"/>
          <c:tx>
            <c:strRef>
              <c:f>Sheet1!$F$1</c:f>
              <c:strCache>
                <c:ptCount val="1"/>
                <c:pt idx="0">
                  <c:v>Techcombank</c:v>
                </c:pt>
              </c:strCache>
            </c:strRef>
          </c:tx>
          <c:spPr>
            <a:ln w="9525" cap="rnd">
              <a:solidFill>
                <a:srgbClr val="FF0000"/>
              </a:solidFill>
              <a:round/>
            </a:ln>
            <a:effectLst/>
          </c:spPr>
          <c:marker>
            <c:symbol val="none"/>
          </c:marker>
          <c:cat>
            <c:numRef>
              <c:f>Sheet1!$A$2:$A$93</c:f>
              <c:numCache>
                <c:formatCode>m/d/yyyy</c:formatCode>
                <c:ptCount val="92"/>
                <c:pt idx="0">
                  <c:v>45824</c:v>
                </c:pt>
                <c:pt idx="1">
                  <c:v>45825</c:v>
                </c:pt>
                <c:pt idx="2">
                  <c:v>45826</c:v>
                </c:pt>
                <c:pt idx="3">
                  <c:v>45827</c:v>
                </c:pt>
                <c:pt idx="4">
                  <c:v>45828</c:v>
                </c:pt>
                <c:pt idx="5">
                  <c:v>45829</c:v>
                </c:pt>
                <c:pt idx="6">
                  <c:v>45830</c:v>
                </c:pt>
                <c:pt idx="7">
                  <c:v>45831</c:v>
                </c:pt>
                <c:pt idx="8">
                  <c:v>45832</c:v>
                </c:pt>
                <c:pt idx="9">
                  <c:v>45833</c:v>
                </c:pt>
                <c:pt idx="10">
                  <c:v>45834</c:v>
                </c:pt>
                <c:pt idx="11">
                  <c:v>45835</c:v>
                </c:pt>
                <c:pt idx="12">
                  <c:v>45836</c:v>
                </c:pt>
                <c:pt idx="13">
                  <c:v>45837</c:v>
                </c:pt>
                <c:pt idx="14">
                  <c:v>45838</c:v>
                </c:pt>
                <c:pt idx="15">
                  <c:v>45839</c:v>
                </c:pt>
                <c:pt idx="16">
                  <c:v>45840</c:v>
                </c:pt>
                <c:pt idx="17">
                  <c:v>45841</c:v>
                </c:pt>
                <c:pt idx="18">
                  <c:v>45842</c:v>
                </c:pt>
                <c:pt idx="19">
                  <c:v>45843</c:v>
                </c:pt>
                <c:pt idx="20">
                  <c:v>45844</c:v>
                </c:pt>
                <c:pt idx="21">
                  <c:v>45845</c:v>
                </c:pt>
                <c:pt idx="22">
                  <c:v>45846</c:v>
                </c:pt>
                <c:pt idx="23">
                  <c:v>45847</c:v>
                </c:pt>
                <c:pt idx="24">
                  <c:v>45848</c:v>
                </c:pt>
                <c:pt idx="25">
                  <c:v>45849</c:v>
                </c:pt>
                <c:pt idx="26">
                  <c:v>45850</c:v>
                </c:pt>
                <c:pt idx="27">
                  <c:v>45851</c:v>
                </c:pt>
                <c:pt idx="28">
                  <c:v>45852</c:v>
                </c:pt>
                <c:pt idx="29">
                  <c:v>45853</c:v>
                </c:pt>
                <c:pt idx="30">
                  <c:v>45854</c:v>
                </c:pt>
                <c:pt idx="31">
                  <c:v>45855</c:v>
                </c:pt>
                <c:pt idx="32">
                  <c:v>45856</c:v>
                </c:pt>
                <c:pt idx="33">
                  <c:v>45857</c:v>
                </c:pt>
                <c:pt idx="34">
                  <c:v>45858</c:v>
                </c:pt>
                <c:pt idx="35">
                  <c:v>45859</c:v>
                </c:pt>
                <c:pt idx="36">
                  <c:v>45860</c:v>
                </c:pt>
                <c:pt idx="37">
                  <c:v>45861</c:v>
                </c:pt>
                <c:pt idx="38">
                  <c:v>45862</c:v>
                </c:pt>
                <c:pt idx="39">
                  <c:v>45863</c:v>
                </c:pt>
                <c:pt idx="40">
                  <c:v>45864</c:v>
                </c:pt>
                <c:pt idx="41">
                  <c:v>45865</c:v>
                </c:pt>
                <c:pt idx="42">
                  <c:v>45866</c:v>
                </c:pt>
                <c:pt idx="43">
                  <c:v>45867</c:v>
                </c:pt>
                <c:pt idx="44">
                  <c:v>45868</c:v>
                </c:pt>
                <c:pt idx="45">
                  <c:v>45869</c:v>
                </c:pt>
                <c:pt idx="46">
                  <c:v>45870</c:v>
                </c:pt>
                <c:pt idx="47">
                  <c:v>45871</c:v>
                </c:pt>
                <c:pt idx="48">
                  <c:v>45872</c:v>
                </c:pt>
                <c:pt idx="49">
                  <c:v>45873</c:v>
                </c:pt>
                <c:pt idx="50">
                  <c:v>45874</c:v>
                </c:pt>
                <c:pt idx="51">
                  <c:v>45875</c:v>
                </c:pt>
                <c:pt idx="52">
                  <c:v>45876</c:v>
                </c:pt>
                <c:pt idx="53">
                  <c:v>45877</c:v>
                </c:pt>
                <c:pt idx="54">
                  <c:v>45878</c:v>
                </c:pt>
                <c:pt idx="55">
                  <c:v>45879</c:v>
                </c:pt>
                <c:pt idx="56">
                  <c:v>45880</c:v>
                </c:pt>
                <c:pt idx="57">
                  <c:v>45881</c:v>
                </c:pt>
                <c:pt idx="58">
                  <c:v>45882</c:v>
                </c:pt>
                <c:pt idx="59">
                  <c:v>45883</c:v>
                </c:pt>
                <c:pt idx="60">
                  <c:v>45884</c:v>
                </c:pt>
                <c:pt idx="61">
                  <c:v>45885</c:v>
                </c:pt>
                <c:pt idx="62">
                  <c:v>45886</c:v>
                </c:pt>
                <c:pt idx="63">
                  <c:v>45887</c:v>
                </c:pt>
                <c:pt idx="64">
                  <c:v>45888</c:v>
                </c:pt>
                <c:pt idx="65">
                  <c:v>45889</c:v>
                </c:pt>
                <c:pt idx="66">
                  <c:v>45890</c:v>
                </c:pt>
                <c:pt idx="67">
                  <c:v>45891</c:v>
                </c:pt>
                <c:pt idx="68">
                  <c:v>45892</c:v>
                </c:pt>
                <c:pt idx="69">
                  <c:v>45893</c:v>
                </c:pt>
                <c:pt idx="70">
                  <c:v>45894</c:v>
                </c:pt>
                <c:pt idx="71">
                  <c:v>45895</c:v>
                </c:pt>
                <c:pt idx="72">
                  <c:v>45896</c:v>
                </c:pt>
                <c:pt idx="73">
                  <c:v>45897</c:v>
                </c:pt>
                <c:pt idx="74">
                  <c:v>45898</c:v>
                </c:pt>
                <c:pt idx="75">
                  <c:v>45899</c:v>
                </c:pt>
                <c:pt idx="76">
                  <c:v>45900</c:v>
                </c:pt>
                <c:pt idx="77">
                  <c:v>45901</c:v>
                </c:pt>
                <c:pt idx="78">
                  <c:v>45902</c:v>
                </c:pt>
                <c:pt idx="79">
                  <c:v>45903</c:v>
                </c:pt>
                <c:pt idx="80">
                  <c:v>45904</c:v>
                </c:pt>
                <c:pt idx="81">
                  <c:v>45905</c:v>
                </c:pt>
                <c:pt idx="82">
                  <c:v>45906</c:v>
                </c:pt>
                <c:pt idx="83">
                  <c:v>45907</c:v>
                </c:pt>
                <c:pt idx="84">
                  <c:v>45908</c:v>
                </c:pt>
                <c:pt idx="85">
                  <c:v>45909</c:v>
                </c:pt>
                <c:pt idx="86">
                  <c:v>45910</c:v>
                </c:pt>
                <c:pt idx="87">
                  <c:v>45911</c:v>
                </c:pt>
                <c:pt idx="88">
                  <c:v>45912</c:v>
                </c:pt>
                <c:pt idx="89">
                  <c:v>45913</c:v>
                </c:pt>
                <c:pt idx="90">
                  <c:v>45914</c:v>
                </c:pt>
                <c:pt idx="91">
                  <c:v>45915</c:v>
                </c:pt>
              </c:numCache>
            </c:numRef>
          </c:cat>
          <c:val>
            <c:numRef>
              <c:f>Sheet1!$F$2:$F$93</c:f>
              <c:numCache>
                <c:formatCode>General</c:formatCode>
                <c:ptCount val="92"/>
                <c:pt idx="0">
                  <c:v>2534</c:v>
                </c:pt>
                <c:pt idx="1">
                  <c:v>6940</c:v>
                </c:pt>
                <c:pt idx="2">
                  <c:v>4790</c:v>
                </c:pt>
                <c:pt idx="3">
                  <c:v>4373</c:v>
                </c:pt>
                <c:pt idx="4">
                  <c:v>5357</c:v>
                </c:pt>
                <c:pt idx="5">
                  <c:v>5528</c:v>
                </c:pt>
                <c:pt idx="6">
                  <c:v>1440</c:v>
                </c:pt>
                <c:pt idx="7">
                  <c:v>3559</c:v>
                </c:pt>
                <c:pt idx="8">
                  <c:v>3294</c:v>
                </c:pt>
                <c:pt idx="9">
                  <c:v>4141</c:v>
                </c:pt>
                <c:pt idx="10">
                  <c:v>4256</c:v>
                </c:pt>
                <c:pt idx="11">
                  <c:v>2669</c:v>
                </c:pt>
                <c:pt idx="12">
                  <c:v>1609</c:v>
                </c:pt>
                <c:pt idx="13">
                  <c:v>1497</c:v>
                </c:pt>
                <c:pt idx="14">
                  <c:v>3298</c:v>
                </c:pt>
                <c:pt idx="15">
                  <c:v>5131</c:v>
                </c:pt>
                <c:pt idx="16">
                  <c:v>4544</c:v>
                </c:pt>
                <c:pt idx="17">
                  <c:v>4168</c:v>
                </c:pt>
                <c:pt idx="18">
                  <c:v>4331</c:v>
                </c:pt>
                <c:pt idx="19">
                  <c:v>3645</c:v>
                </c:pt>
                <c:pt idx="20">
                  <c:v>3075</c:v>
                </c:pt>
                <c:pt idx="21">
                  <c:v>2232</c:v>
                </c:pt>
                <c:pt idx="22">
                  <c:v>3448</c:v>
                </c:pt>
                <c:pt idx="23">
                  <c:v>3635</c:v>
                </c:pt>
                <c:pt idx="24">
                  <c:v>7811</c:v>
                </c:pt>
                <c:pt idx="25">
                  <c:v>1722</c:v>
                </c:pt>
                <c:pt idx="26">
                  <c:v>1162</c:v>
                </c:pt>
                <c:pt idx="27">
                  <c:v>1207</c:v>
                </c:pt>
                <c:pt idx="28">
                  <c:v>1783</c:v>
                </c:pt>
                <c:pt idx="29">
                  <c:v>2396</c:v>
                </c:pt>
                <c:pt idx="30">
                  <c:v>2480</c:v>
                </c:pt>
                <c:pt idx="31">
                  <c:v>1361</c:v>
                </c:pt>
                <c:pt idx="32">
                  <c:v>994</c:v>
                </c:pt>
                <c:pt idx="33">
                  <c:v>634</c:v>
                </c:pt>
                <c:pt idx="34">
                  <c:v>612</c:v>
                </c:pt>
                <c:pt idx="35">
                  <c:v>1759</c:v>
                </c:pt>
                <c:pt idx="36">
                  <c:v>1149</c:v>
                </c:pt>
                <c:pt idx="37">
                  <c:v>1493</c:v>
                </c:pt>
                <c:pt idx="38">
                  <c:v>1255</c:v>
                </c:pt>
                <c:pt idx="39">
                  <c:v>1310</c:v>
                </c:pt>
                <c:pt idx="40">
                  <c:v>759</c:v>
                </c:pt>
                <c:pt idx="41">
                  <c:v>470</c:v>
                </c:pt>
                <c:pt idx="42">
                  <c:v>1284</c:v>
                </c:pt>
                <c:pt idx="43">
                  <c:v>1740</c:v>
                </c:pt>
                <c:pt idx="44">
                  <c:v>1391</c:v>
                </c:pt>
                <c:pt idx="45">
                  <c:v>1409</c:v>
                </c:pt>
                <c:pt idx="46">
                  <c:v>2158</c:v>
                </c:pt>
                <c:pt idx="47">
                  <c:v>1850</c:v>
                </c:pt>
                <c:pt idx="48">
                  <c:v>1250</c:v>
                </c:pt>
                <c:pt idx="49">
                  <c:v>7052</c:v>
                </c:pt>
                <c:pt idx="50">
                  <c:v>6600</c:v>
                </c:pt>
                <c:pt idx="51">
                  <c:v>5514</c:v>
                </c:pt>
                <c:pt idx="52">
                  <c:v>2865</c:v>
                </c:pt>
                <c:pt idx="53">
                  <c:v>2746</c:v>
                </c:pt>
                <c:pt idx="54">
                  <c:v>1466</c:v>
                </c:pt>
                <c:pt idx="55">
                  <c:v>2066</c:v>
                </c:pt>
                <c:pt idx="56">
                  <c:v>1665</c:v>
                </c:pt>
                <c:pt idx="57">
                  <c:v>1385</c:v>
                </c:pt>
                <c:pt idx="58">
                  <c:v>1393</c:v>
                </c:pt>
                <c:pt idx="59">
                  <c:v>3131</c:v>
                </c:pt>
                <c:pt idx="60">
                  <c:v>2348</c:v>
                </c:pt>
                <c:pt idx="61">
                  <c:v>1233</c:v>
                </c:pt>
                <c:pt idx="62">
                  <c:v>2089</c:v>
                </c:pt>
                <c:pt idx="63">
                  <c:v>2650</c:v>
                </c:pt>
                <c:pt idx="64">
                  <c:v>2330</c:v>
                </c:pt>
                <c:pt idx="65">
                  <c:v>2761</c:v>
                </c:pt>
                <c:pt idx="66">
                  <c:v>2163</c:v>
                </c:pt>
                <c:pt idx="67">
                  <c:v>1699</c:v>
                </c:pt>
                <c:pt idx="68">
                  <c:v>811</c:v>
                </c:pt>
                <c:pt idx="69">
                  <c:v>807</c:v>
                </c:pt>
                <c:pt idx="70">
                  <c:v>1162</c:v>
                </c:pt>
                <c:pt idx="71">
                  <c:v>1555</c:v>
                </c:pt>
                <c:pt idx="72">
                  <c:v>1732</c:v>
                </c:pt>
                <c:pt idx="73">
                  <c:v>2803</c:v>
                </c:pt>
                <c:pt idx="74">
                  <c:v>2592</c:v>
                </c:pt>
                <c:pt idx="75">
                  <c:v>1407</c:v>
                </c:pt>
                <c:pt idx="76">
                  <c:v>2236</c:v>
                </c:pt>
                <c:pt idx="77">
                  <c:v>2743</c:v>
                </c:pt>
                <c:pt idx="78">
                  <c:v>2021</c:v>
                </c:pt>
                <c:pt idx="79">
                  <c:v>1640</c:v>
                </c:pt>
                <c:pt idx="80">
                  <c:v>1283</c:v>
                </c:pt>
                <c:pt idx="81">
                  <c:v>2570</c:v>
                </c:pt>
                <c:pt idx="82">
                  <c:v>2486</c:v>
                </c:pt>
                <c:pt idx="83">
                  <c:v>2816</c:v>
                </c:pt>
                <c:pt idx="84">
                  <c:v>2534</c:v>
                </c:pt>
                <c:pt idx="85">
                  <c:v>2385</c:v>
                </c:pt>
                <c:pt idx="86">
                  <c:v>1808</c:v>
                </c:pt>
                <c:pt idx="87">
                  <c:v>4633</c:v>
                </c:pt>
                <c:pt idx="88">
                  <c:v>2220</c:v>
                </c:pt>
                <c:pt idx="89">
                  <c:v>1383</c:v>
                </c:pt>
                <c:pt idx="90">
                  <c:v>1797</c:v>
                </c:pt>
                <c:pt idx="91">
                  <c:v>2801</c:v>
                </c:pt>
              </c:numCache>
            </c:numRef>
          </c:val>
          <c:smooth val="1"/>
          <c:extLst>
            <c:ext xmlns:c16="http://schemas.microsoft.com/office/drawing/2014/chart" uri="{C3380CC4-5D6E-409C-BE32-E72D297353CC}">
              <c16:uniqueId val="{00000004-B9F4-4FBB-9AE5-996E7C916E99}"/>
            </c:ext>
          </c:extLst>
        </c:ser>
        <c:ser>
          <c:idx val="5"/>
          <c:order val="5"/>
          <c:tx>
            <c:strRef>
              <c:f>Sheet1!$H$1</c:f>
              <c:strCache>
                <c:ptCount val="1"/>
                <c:pt idx="0">
                  <c:v>Vietinbank</c:v>
                </c:pt>
              </c:strCache>
            </c:strRef>
          </c:tx>
          <c:spPr>
            <a:ln w="9525" cap="rnd">
              <a:solidFill>
                <a:srgbClr val="005E99"/>
              </a:solidFill>
              <a:round/>
            </a:ln>
            <a:effectLst/>
          </c:spPr>
          <c:marker>
            <c:symbol val="none"/>
          </c:marker>
          <c:cat>
            <c:numRef>
              <c:f>Sheet1!$A$2:$A$93</c:f>
              <c:numCache>
                <c:formatCode>m/d/yyyy</c:formatCode>
                <c:ptCount val="92"/>
                <c:pt idx="0">
                  <c:v>45824</c:v>
                </c:pt>
                <c:pt idx="1">
                  <c:v>45825</c:v>
                </c:pt>
                <c:pt idx="2">
                  <c:v>45826</c:v>
                </c:pt>
                <c:pt idx="3">
                  <c:v>45827</c:v>
                </c:pt>
                <c:pt idx="4">
                  <c:v>45828</c:v>
                </c:pt>
                <c:pt idx="5">
                  <c:v>45829</c:v>
                </c:pt>
                <c:pt idx="6">
                  <c:v>45830</c:v>
                </c:pt>
                <c:pt idx="7">
                  <c:v>45831</c:v>
                </c:pt>
                <c:pt idx="8">
                  <c:v>45832</c:v>
                </c:pt>
                <c:pt idx="9">
                  <c:v>45833</c:v>
                </c:pt>
                <c:pt idx="10">
                  <c:v>45834</c:v>
                </c:pt>
                <c:pt idx="11">
                  <c:v>45835</c:v>
                </c:pt>
                <c:pt idx="12">
                  <c:v>45836</c:v>
                </c:pt>
                <c:pt idx="13">
                  <c:v>45837</c:v>
                </c:pt>
                <c:pt idx="14">
                  <c:v>45838</c:v>
                </c:pt>
                <c:pt idx="15">
                  <c:v>45839</c:v>
                </c:pt>
                <c:pt idx="16">
                  <c:v>45840</c:v>
                </c:pt>
                <c:pt idx="17">
                  <c:v>45841</c:v>
                </c:pt>
                <c:pt idx="18">
                  <c:v>45842</c:v>
                </c:pt>
                <c:pt idx="19">
                  <c:v>45843</c:v>
                </c:pt>
                <c:pt idx="20">
                  <c:v>45844</c:v>
                </c:pt>
                <c:pt idx="21">
                  <c:v>45845</c:v>
                </c:pt>
                <c:pt idx="22">
                  <c:v>45846</c:v>
                </c:pt>
                <c:pt idx="23">
                  <c:v>45847</c:v>
                </c:pt>
                <c:pt idx="24">
                  <c:v>45848</c:v>
                </c:pt>
                <c:pt idx="25">
                  <c:v>45849</c:v>
                </c:pt>
                <c:pt idx="26">
                  <c:v>45850</c:v>
                </c:pt>
                <c:pt idx="27">
                  <c:v>45851</c:v>
                </c:pt>
                <c:pt idx="28">
                  <c:v>45852</c:v>
                </c:pt>
                <c:pt idx="29">
                  <c:v>45853</c:v>
                </c:pt>
                <c:pt idx="30">
                  <c:v>45854</c:v>
                </c:pt>
                <c:pt idx="31">
                  <c:v>45855</c:v>
                </c:pt>
                <c:pt idx="32">
                  <c:v>45856</c:v>
                </c:pt>
                <c:pt idx="33">
                  <c:v>45857</c:v>
                </c:pt>
                <c:pt idx="34">
                  <c:v>45858</c:v>
                </c:pt>
                <c:pt idx="35">
                  <c:v>45859</c:v>
                </c:pt>
                <c:pt idx="36">
                  <c:v>45860</c:v>
                </c:pt>
                <c:pt idx="37">
                  <c:v>45861</c:v>
                </c:pt>
                <c:pt idx="38">
                  <c:v>45862</c:v>
                </c:pt>
                <c:pt idx="39">
                  <c:v>45863</c:v>
                </c:pt>
                <c:pt idx="40">
                  <c:v>45864</c:v>
                </c:pt>
                <c:pt idx="41">
                  <c:v>45865</c:v>
                </c:pt>
                <c:pt idx="42">
                  <c:v>45866</c:v>
                </c:pt>
                <c:pt idx="43">
                  <c:v>45867</c:v>
                </c:pt>
                <c:pt idx="44">
                  <c:v>45868</c:v>
                </c:pt>
                <c:pt idx="45">
                  <c:v>45869</c:v>
                </c:pt>
                <c:pt idx="46">
                  <c:v>45870</c:v>
                </c:pt>
                <c:pt idx="47">
                  <c:v>45871</c:v>
                </c:pt>
                <c:pt idx="48">
                  <c:v>45872</c:v>
                </c:pt>
                <c:pt idx="49">
                  <c:v>45873</c:v>
                </c:pt>
                <c:pt idx="50">
                  <c:v>45874</c:v>
                </c:pt>
                <c:pt idx="51">
                  <c:v>45875</c:v>
                </c:pt>
                <c:pt idx="52">
                  <c:v>45876</c:v>
                </c:pt>
                <c:pt idx="53">
                  <c:v>45877</c:v>
                </c:pt>
                <c:pt idx="54">
                  <c:v>45878</c:v>
                </c:pt>
                <c:pt idx="55">
                  <c:v>45879</c:v>
                </c:pt>
                <c:pt idx="56">
                  <c:v>45880</c:v>
                </c:pt>
                <c:pt idx="57">
                  <c:v>45881</c:v>
                </c:pt>
                <c:pt idx="58">
                  <c:v>45882</c:v>
                </c:pt>
                <c:pt idx="59">
                  <c:v>45883</c:v>
                </c:pt>
                <c:pt idx="60">
                  <c:v>45884</c:v>
                </c:pt>
                <c:pt idx="61">
                  <c:v>45885</c:v>
                </c:pt>
                <c:pt idx="62">
                  <c:v>45886</c:v>
                </c:pt>
                <c:pt idx="63">
                  <c:v>45887</c:v>
                </c:pt>
                <c:pt idx="64">
                  <c:v>45888</c:v>
                </c:pt>
                <c:pt idx="65">
                  <c:v>45889</c:v>
                </c:pt>
                <c:pt idx="66">
                  <c:v>45890</c:v>
                </c:pt>
                <c:pt idx="67">
                  <c:v>45891</c:v>
                </c:pt>
                <c:pt idx="68">
                  <c:v>45892</c:v>
                </c:pt>
                <c:pt idx="69">
                  <c:v>45893</c:v>
                </c:pt>
                <c:pt idx="70">
                  <c:v>45894</c:v>
                </c:pt>
                <c:pt idx="71">
                  <c:v>45895</c:v>
                </c:pt>
                <c:pt idx="72">
                  <c:v>45896</c:v>
                </c:pt>
                <c:pt idx="73">
                  <c:v>45897</c:v>
                </c:pt>
                <c:pt idx="74">
                  <c:v>45898</c:v>
                </c:pt>
                <c:pt idx="75">
                  <c:v>45899</c:v>
                </c:pt>
                <c:pt idx="76">
                  <c:v>45900</c:v>
                </c:pt>
                <c:pt idx="77">
                  <c:v>45901</c:v>
                </c:pt>
                <c:pt idx="78">
                  <c:v>45902</c:v>
                </c:pt>
                <c:pt idx="79">
                  <c:v>45903</c:v>
                </c:pt>
                <c:pt idx="80">
                  <c:v>45904</c:v>
                </c:pt>
                <c:pt idx="81">
                  <c:v>45905</c:v>
                </c:pt>
                <c:pt idx="82">
                  <c:v>45906</c:v>
                </c:pt>
                <c:pt idx="83">
                  <c:v>45907</c:v>
                </c:pt>
                <c:pt idx="84">
                  <c:v>45908</c:v>
                </c:pt>
                <c:pt idx="85">
                  <c:v>45909</c:v>
                </c:pt>
                <c:pt idx="86">
                  <c:v>45910</c:v>
                </c:pt>
                <c:pt idx="87">
                  <c:v>45911</c:v>
                </c:pt>
                <c:pt idx="88">
                  <c:v>45912</c:v>
                </c:pt>
                <c:pt idx="89">
                  <c:v>45913</c:v>
                </c:pt>
                <c:pt idx="90">
                  <c:v>45914</c:v>
                </c:pt>
                <c:pt idx="91">
                  <c:v>45915</c:v>
                </c:pt>
              </c:numCache>
            </c:numRef>
          </c:cat>
          <c:val>
            <c:numRef>
              <c:f>Sheet1!$H$2:$H$93</c:f>
              <c:numCache>
                <c:formatCode>General</c:formatCode>
                <c:ptCount val="92"/>
                <c:pt idx="0">
                  <c:v>336</c:v>
                </c:pt>
                <c:pt idx="1">
                  <c:v>325</c:v>
                </c:pt>
                <c:pt idx="2">
                  <c:v>315</c:v>
                </c:pt>
                <c:pt idx="3">
                  <c:v>449</c:v>
                </c:pt>
                <c:pt idx="4">
                  <c:v>376</c:v>
                </c:pt>
                <c:pt idx="5">
                  <c:v>120</c:v>
                </c:pt>
                <c:pt idx="6">
                  <c:v>163</c:v>
                </c:pt>
                <c:pt idx="7">
                  <c:v>256</c:v>
                </c:pt>
                <c:pt idx="8">
                  <c:v>391</c:v>
                </c:pt>
                <c:pt idx="9">
                  <c:v>406</c:v>
                </c:pt>
                <c:pt idx="10">
                  <c:v>438</c:v>
                </c:pt>
                <c:pt idx="11">
                  <c:v>358</c:v>
                </c:pt>
                <c:pt idx="12">
                  <c:v>203</c:v>
                </c:pt>
                <c:pt idx="13">
                  <c:v>163</c:v>
                </c:pt>
                <c:pt idx="14">
                  <c:v>511</c:v>
                </c:pt>
                <c:pt idx="15">
                  <c:v>336</c:v>
                </c:pt>
                <c:pt idx="16">
                  <c:v>455</c:v>
                </c:pt>
                <c:pt idx="17">
                  <c:v>987</c:v>
                </c:pt>
                <c:pt idx="18">
                  <c:v>431</c:v>
                </c:pt>
                <c:pt idx="19">
                  <c:v>189</c:v>
                </c:pt>
                <c:pt idx="20">
                  <c:v>155</c:v>
                </c:pt>
                <c:pt idx="21">
                  <c:v>1161</c:v>
                </c:pt>
                <c:pt idx="22">
                  <c:v>1225</c:v>
                </c:pt>
                <c:pt idx="23">
                  <c:v>976</c:v>
                </c:pt>
                <c:pt idx="24">
                  <c:v>928</c:v>
                </c:pt>
                <c:pt idx="25">
                  <c:v>1002</c:v>
                </c:pt>
                <c:pt idx="26">
                  <c:v>739</c:v>
                </c:pt>
                <c:pt idx="27">
                  <c:v>791</c:v>
                </c:pt>
                <c:pt idx="28">
                  <c:v>1602</c:v>
                </c:pt>
                <c:pt idx="29">
                  <c:v>257</c:v>
                </c:pt>
                <c:pt idx="30">
                  <c:v>277</c:v>
                </c:pt>
                <c:pt idx="31">
                  <c:v>223</c:v>
                </c:pt>
                <c:pt idx="32">
                  <c:v>308</c:v>
                </c:pt>
                <c:pt idx="33">
                  <c:v>133</c:v>
                </c:pt>
                <c:pt idx="34">
                  <c:v>113</c:v>
                </c:pt>
                <c:pt idx="35">
                  <c:v>505</c:v>
                </c:pt>
                <c:pt idx="36">
                  <c:v>539</c:v>
                </c:pt>
                <c:pt idx="37">
                  <c:v>543</c:v>
                </c:pt>
                <c:pt idx="38">
                  <c:v>437</c:v>
                </c:pt>
                <c:pt idx="39">
                  <c:v>575</c:v>
                </c:pt>
                <c:pt idx="40">
                  <c:v>153</c:v>
                </c:pt>
                <c:pt idx="41">
                  <c:v>208</c:v>
                </c:pt>
                <c:pt idx="42">
                  <c:v>496</c:v>
                </c:pt>
                <c:pt idx="43">
                  <c:v>607</c:v>
                </c:pt>
                <c:pt idx="44">
                  <c:v>800</c:v>
                </c:pt>
                <c:pt idx="45">
                  <c:v>725</c:v>
                </c:pt>
                <c:pt idx="46">
                  <c:v>715</c:v>
                </c:pt>
                <c:pt idx="47">
                  <c:v>240</c:v>
                </c:pt>
                <c:pt idx="48">
                  <c:v>193</c:v>
                </c:pt>
                <c:pt idx="49">
                  <c:v>484</c:v>
                </c:pt>
                <c:pt idx="50">
                  <c:v>596</c:v>
                </c:pt>
                <c:pt idx="51">
                  <c:v>509</c:v>
                </c:pt>
                <c:pt idx="52">
                  <c:v>478</c:v>
                </c:pt>
                <c:pt idx="53">
                  <c:v>433</c:v>
                </c:pt>
                <c:pt idx="54">
                  <c:v>166</c:v>
                </c:pt>
                <c:pt idx="55">
                  <c:v>152</c:v>
                </c:pt>
                <c:pt idx="56">
                  <c:v>290</c:v>
                </c:pt>
                <c:pt idx="57">
                  <c:v>541</c:v>
                </c:pt>
                <c:pt idx="58">
                  <c:v>632</c:v>
                </c:pt>
                <c:pt idx="59">
                  <c:v>547</c:v>
                </c:pt>
                <c:pt idx="60">
                  <c:v>438</c:v>
                </c:pt>
                <c:pt idx="61">
                  <c:v>177</c:v>
                </c:pt>
                <c:pt idx="62">
                  <c:v>147</c:v>
                </c:pt>
                <c:pt idx="63">
                  <c:v>425</c:v>
                </c:pt>
                <c:pt idx="64">
                  <c:v>377</c:v>
                </c:pt>
                <c:pt idx="65">
                  <c:v>521</c:v>
                </c:pt>
                <c:pt idx="66">
                  <c:v>516</c:v>
                </c:pt>
                <c:pt idx="67">
                  <c:v>377</c:v>
                </c:pt>
                <c:pt idx="68">
                  <c:v>165</c:v>
                </c:pt>
                <c:pt idx="69">
                  <c:v>156</c:v>
                </c:pt>
                <c:pt idx="70">
                  <c:v>573</c:v>
                </c:pt>
                <c:pt idx="71">
                  <c:v>430</c:v>
                </c:pt>
                <c:pt idx="72">
                  <c:v>518</c:v>
                </c:pt>
                <c:pt idx="73">
                  <c:v>983</c:v>
                </c:pt>
                <c:pt idx="74">
                  <c:v>850</c:v>
                </c:pt>
                <c:pt idx="75">
                  <c:v>204</c:v>
                </c:pt>
                <c:pt idx="76">
                  <c:v>180</c:v>
                </c:pt>
                <c:pt idx="77">
                  <c:v>234</c:v>
                </c:pt>
                <c:pt idx="78">
                  <c:v>170</c:v>
                </c:pt>
                <c:pt idx="79">
                  <c:v>379</c:v>
                </c:pt>
                <c:pt idx="80">
                  <c:v>582</c:v>
                </c:pt>
                <c:pt idx="81">
                  <c:v>431</c:v>
                </c:pt>
                <c:pt idx="82">
                  <c:v>146</c:v>
                </c:pt>
                <c:pt idx="83">
                  <c:v>114</c:v>
                </c:pt>
                <c:pt idx="84">
                  <c:v>346</c:v>
                </c:pt>
                <c:pt idx="85">
                  <c:v>234</c:v>
                </c:pt>
                <c:pt idx="86">
                  <c:v>374</c:v>
                </c:pt>
                <c:pt idx="87">
                  <c:v>387</c:v>
                </c:pt>
                <c:pt idx="88">
                  <c:v>9806</c:v>
                </c:pt>
                <c:pt idx="89">
                  <c:v>125</c:v>
                </c:pt>
                <c:pt idx="90">
                  <c:v>112</c:v>
                </c:pt>
                <c:pt idx="91">
                  <c:v>406</c:v>
                </c:pt>
              </c:numCache>
            </c:numRef>
          </c:val>
          <c:smooth val="1"/>
          <c:extLst>
            <c:ext xmlns:c16="http://schemas.microsoft.com/office/drawing/2014/chart" uri="{C3380CC4-5D6E-409C-BE32-E72D297353CC}">
              <c16:uniqueId val="{00000000-A2C1-495A-9D55-D404BB81FCF6}"/>
            </c:ext>
          </c:extLst>
        </c:ser>
        <c:ser>
          <c:idx val="6"/>
          <c:order val="6"/>
          <c:tx>
            <c:strRef>
              <c:f>Sheet1!$C$1</c:f>
              <c:strCache>
                <c:ptCount val="1"/>
                <c:pt idx="0">
                  <c:v>ACB Bank</c:v>
                </c:pt>
              </c:strCache>
            </c:strRef>
          </c:tx>
          <c:spPr>
            <a:ln w="9525" cap="rnd">
              <a:solidFill>
                <a:srgbClr val="00B0F0"/>
              </a:solidFill>
              <a:round/>
            </a:ln>
            <a:effectLst/>
          </c:spPr>
          <c:marker>
            <c:symbol val="none"/>
          </c:marker>
          <c:cat>
            <c:numRef>
              <c:f>Sheet1!$A$2:$A$93</c:f>
              <c:numCache>
                <c:formatCode>m/d/yyyy</c:formatCode>
                <c:ptCount val="92"/>
                <c:pt idx="0">
                  <c:v>45824</c:v>
                </c:pt>
                <c:pt idx="1">
                  <c:v>45825</c:v>
                </c:pt>
                <c:pt idx="2">
                  <c:v>45826</c:v>
                </c:pt>
                <c:pt idx="3">
                  <c:v>45827</c:v>
                </c:pt>
                <c:pt idx="4">
                  <c:v>45828</c:v>
                </c:pt>
                <c:pt idx="5">
                  <c:v>45829</c:v>
                </c:pt>
                <c:pt idx="6">
                  <c:v>45830</c:v>
                </c:pt>
                <c:pt idx="7">
                  <c:v>45831</c:v>
                </c:pt>
                <c:pt idx="8">
                  <c:v>45832</c:v>
                </c:pt>
                <c:pt idx="9">
                  <c:v>45833</c:v>
                </c:pt>
                <c:pt idx="10">
                  <c:v>45834</c:v>
                </c:pt>
                <c:pt idx="11">
                  <c:v>45835</c:v>
                </c:pt>
                <c:pt idx="12">
                  <c:v>45836</c:v>
                </c:pt>
                <c:pt idx="13">
                  <c:v>45837</c:v>
                </c:pt>
                <c:pt idx="14">
                  <c:v>45838</c:v>
                </c:pt>
                <c:pt idx="15">
                  <c:v>45839</c:v>
                </c:pt>
                <c:pt idx="16">
                  <c:v>45840</c:v>
                </c:pt>
                <c:pt idx="17">
                  <c:v>45841</c:v>
                </c:pt>
                <c:pt idx="18">
                  <c:v>45842</c:v>
                </c:pt>
                <c:pt idx="19">
                  <c:v>45843</c:v>
                </c:pt>
                <c:pt idx="20">
                  <c:v>45844</c:v>
                </c:pt>
                <c:pt idx="21">
                  <c:v>45845</c:v>
                </c:pt>
                <c:pt idx="22">
                  <c:v>45846</c:v>
                </c:pt>
                <c:pt idx="23">
                  <c:v>45847</c:v>
                </c:pt>
                <c:pt idx="24">
                  <c:v>45848</c:v>
                </c:pt>
                <c:pt idx="25">
                  <c:v>45849</c:v>
                </c:pt>
                <c:pt idx="26">
                  <c:v>45850</c:v>
                </c:pt>
                <c:pt idx="27">
                  <c:v>45851</c:v>
                </c:pt>
                <c:pt idx="28">
                  <c:v>45852</c:v>
                </c:pt>
                <c:pt idx="29">
                  <c:v>45853</c:v>
                </c:pt>
                <c:pt idx="30">
                  <c:v>45854</c:v>
                </c:pt>
                <c:pt idx="31">
                  <c:v>45855</c:v>
                </c:pt>
                <c:pt idx="32">
                  <c:v>45856</c:v>
                </c:pt>
                <c:pt idx="33">
                  <c:v>45857</c:v>
                </c:pt>
                <c:pt idx="34">
                  <c:v>45858</c:v>
                </c:pt>
                <c:pt idx="35">
                  <c:v>45859</c:v>
                </c:pt>
                <c:pt idx="36">
                  <c:v>45860</c:v>
                </c:pt>
                <c:pt idx="37">
                  <c:v>45861</c:v>
                </c:pt>
                <c:pt idx="38">
                  <c:v>45862</c:v>
                </c:pt>
                <c:pt idx="39">
                  <c:v>45863</c:v>
                </c:pt>
                <c:pt idx="40">
                  <c:v>45864</c:v>
                </c:pt>
                <c:pt idx="41">
                  <c:v>45865</c:v>
                </c:pt>
                <c:pt idx="42">
                  <c:v>45866</c:v>
                </c:pt>
                <c:pt idx="43">
                  <c:v>45867</c:v>
                </c:pt>
                <c:pt idx="44">
                  <c:v>45868</c:v>
                </c:pt>
                <c:pt idx="45">
                  <c:v>45869</c:v>
                </c:pt>
                <c:pt idx="46">
                  <c:v>45870</c:v>
                </c:pt>
                <c:pt idx="47">
                  <c:v>45871</c:v>
                </c:pt>
                <c:pt idx="48">
                  <c:v>45872</c:v>
                </c:pt>
                <c:pt idx="49">
                  <c:v>45873</c:v>
                </c:pt>
                <c:pt idx="50">
                  <c:v>45874</c:v>
                </c:pt>
                <c:pt idx="51">
                  <c:v>45875</c:v>
                </c:pt>
                <c:pt idx="52">
                  <c:v>45876</c:v>
                </c:pt>
                <c:pt idx="53">
                  <c:v>45877</c:v>
                </c:pt>
                <c:pt idx="54">
                  <c:v>45878</c:v>
                </c:pt>
                <c:pt idx="55">
                  <c:v>45879</c:v>
                </c:pt>
                <c:pt idx="56">
                  <c:v>45880</c:v>
                </c:pt>
                <c:pt idx="57">
                  <c:v>45881</c:v>
                </c:pt>
                <c:pt idx="58">
                  <c:v>45882</c:v>
                </c:pt>
                <c:pt idx="59">
                  <c:v>45883</c:v>
                </c:pt>
                <c:pt idx="60">
                  <c:v>45884</c:v>
                </c:pt>
                <c:pt idx="61">
                  <c:v>45885</c:v>
                </c:pt>
                <c:pt idx="62">
                  <c:v>45886</c:v>
                </c:pt>
                <c:pt idx="63">
                  <c:v>45887</c:v>
                </c:pt>
                <c:pt idx="64">
                  <c:v>45888</c:v>
                </c:pt>
                <c:pt idx="65">
                  <c:v>45889</c:v>
                </c:pt>
                <c:pt idx="66">
                  <c:v>45890</c:v>
                </c:pt>
                <c:pt idx="67">
                  <c:v>45891</c:v>
                </c:pt>
                <c:pt idx="68">
                  <c:v>45892</c:v>
                </c:pt>
                <c:pt idx="69">
                  <c:v>45893</c:v>
                </c:pt>
                <c:pt idx="70">
                  <c:v>45894</c:v>
                </c:pt>
                <c:pt idx="71">
                  <c:v>45895</c:v>
                </c:pt>
                <c:pt idx="72">
                  <c:v>45896</c:v>
                </c:pt>
                <c:pt idx="73">
                  <c:v>45897</c:v>
                </c:pt>
                <c:pt idx="74">
                  <c:v>45898</c:v>
                </c:pt>
                <c:pt idx="75">
                  <c:v>45899</c:v>
                </c:pt>
                <c:pt idx="76">
                  <c:v>45900</c:v>
                </c:pt>
                <c:pt idx="77">
                  <c:v>45901</c:v>
                </c:pt>
                <c:pt idx="78">
                  <c:v>45902</c:v>
                </c:pt>
                <c:pt idx="79">
                  <c:v>45903</c:v>
                </c:pt>
                <c:pt idx="80">
                  <c:v>45904</c:v>
                </c:pt>
                <c:pt idx="81">
                  <c:v>45905</c:v>
                </c:pt>
                <c:pt idx="82">
                  <c:v>45906</c:v>
                </c:pt>
                <c:pt idx="83">
                  <c:v>45907</c:v>
                </c:pt>
                <c:pt idx="84">
                  <c:v>45908</c:v>
                </c:pt>
                <c:pt idx="85">
                  <c:v>45909</c:v>
                </c:pt>
                <c:pt idx="86">
                  <c:v>45910</c:v>
                </c:pt>
                <c:pt idx="87">
                  <c:v>45911</c:v>
                </c:pt>
                <c:pt idx="88">
                  <c:v>45912</c:v>
                </c:pt>
                <c:pt idx="89">
                  <c:v>45913</c:v>
                </c:pt>
                <c:pt idx="90">
                  <c:v>45914</c:v>
                </c:pt>
                <c:pt idx="91">
                  <c:v>45915</c:v>
                </c:pt>
              </c:numCache>
            </c:numRef>
          </c:cat>
          <c:val>
            <c:numRef>
              <c:f>Sheet1!$C$2:$C$93</c:f>
              <c:numCache>
                <c:formatCode>General</c:formatCode>
                <c:ptCount val="92"/>
                <c:pt idx="0">
                  <c:v>218</c:v>
                </c:pt>
                <c:pt idx="1">
                  <c:v>238</c:v>
                </c:pt>
                <c:pt idx="2">
                  <c:v>275</c:v>
                </c:pt>
                <c:pt idx="3">
                  <c:v>204</c:v>
                </c:pt>
                <c:pt idx="4">
                  <c:v>239</c:v>
                </c:pt>
                <c:pt idx="5">
                  <c:v>103</c:v>
                </c:pt>
                <c:pt idx="6">
                  <c:v>93</c:v>
                </c:pt>
                <c:pt idx="7">
                  <c:v>188</c:v>
                </c:pt>
                <c:pt idx="8">
                  <c:v>197</c:v>
                </c:pt>
                <c:pt idx="9">
                  <c:v>120</c:v>
                </c:pt>
                <c:pt idx="10">
                  <c:v>158</c:v>
                </c:pt>
                <c:pt idx="11">
                  <c:v>152</c:v>
                </c:pt>
                <c:pt idx="12">
                  <c:v>51</c:v>
                </c:pt>
                <c:pt idx="13">
                  <c:v>26</c:v>
                </c:pt>
                <c:pt idx="14">
                  <c:v>195</c:v>
                </c:pt>
                <c:pt idx="15">
                  <c:v>213</c:v>
                </c:pt>
                <c:pt idx="16">
                  <c:v>164</c:v>
                </c:pt>
                <c:pt idx="17">
                  <c:v>146</c:v>
                </c:pt>
                <c:pt idx="18">
                  <c:v>458</c:v>
                </c:pt>
                <c:pt idx="19">
                  <c:v>317</c:v>
                </c:pt>
                <c:pt idx="20">
                  <c:v>202</c:v>
                </c:pt>
                <c:pt idx="21">
                  <c:v>330</c:v>
                </c:pt>
                <c:pt idx="22">
                  <c:v>162</c:v>
                </c:pt>
                <c:pt idx="23">
                  <c:v>297</c:v>
                </c:pt>
                <c:pt idx="24">
                  <c:v>127</c:v>
                </c:pt>
                <c:pt idx="25">
                  <c:v>115</c:v>
                </c:pt>
                <c:pt idx="26">
                  <c:v>121</c:v>
                </c:pt>
                <c:pt idx="27">
                  <c:v>83</c:v>
                </c:pt>
                <c:pt idx="28">
                  <c:v>116</c:v>
                </c:pt>
                <c:pt idx="29">
                  <c:v>192</c:v>
                </c:pt>
                <c:pt idx="30">
                  <c:v>223</c:v>
                </c:pt>
                <c:pt idx="31">
                  <c:v>149</c:v>
                </c:pt>
                <c:pt idx="32">
                  <c:v>100</c:v>
                </c:pt>
                <c:pt idx="33">
                  <c:v>14</c:v>
                </c:pt>
                <c:pt idx="34">
                  <c:v>30</c:v>
                </c:pt>
                <c:pt idx="35">
                  <c:v>163</c:v>
                </c:pt>
                <c:pt idx="36">
                  <c:v>131</c:v>
                </c:pt>
                <c:pt idx="37">
                  <c:v>249</c:v>
                </c:pt>
                <c:pt idx="38">
                  <c:v>202</c:v>
                </c:pt>
                <c:pt idx="39">
                  <c:v>484</c:v>
                </c:pt>
                <c:pt idx="40">
                  <c:v>128</c:v>
                </c:pt>
                <c:pt idx="41">
                  <c:v>122</c:v>
                </c:pt>
                <c:pt idx="42">
                  <c:v>229</c:v>
                </c:pt>
                <c:pt idx="43">
                  <c:v>211</c:v>
                </c:pt>
                <c:pt idx="44">
                  <c:v>120</c:v>
                </c:pt>
                <c:pt idx="45">
                  <c:v>159</c:v>
                </c:pt>
                <c:pt idx="46">
                  <c:v>183</c:v>
                </c:pt>
                <c:pt idx="47">
                  <c:v>130</c:v>
                </c:pt>
                <c:pt idx="48">
                  <c:v>101</c:v>
                </c:pt>
                <c:pt idx="49">
                  <c:v>289</c:v>
                </c:pt>
                <c:pt idx="50">
                  <c:v>260</c:v>
                </c:pt>
                <c:pt idx="51">
                  <c:v>175</c:v>
                </c:pt>
                <c:pt idx="52">
                  <c:v>154</c:v>
                </c:pt>
                <c:pt idx="53">
                  <c:v>116</c:v>
                </c:pt>
                <c:pt idx="54">
                  <c:v>62</c:v>
                </c:pt>
                <c:pt idx="55">
                  <c:v>39</c:v>
                </c:pt>
                <c:pt idx="56">
                  <c:v>90</c:v>
                </c:pt>
                <c:pt idx="57">
                  <c:v>177</c:v>
                </c:pt>
                <c:pt idx="58">
                  <c:v>274</c:v>
                </c:pt>
                <c:pt idx="59">
                  <c:v>544</c:v>
                </c:pt>
                <c:pt idx="60">
                  <c:v>251</c:v>
                </c:pt>
                <c:pt idx="61">
                  <c:v>126</c:v>
                </c:pt>
                <c:pt idx="62">
                  <c:v>131</c:v>
                </c:pt>
                <c:pt idx="63">
                  <c:v>177</c:v>
                </c:pt>
                <c:pt idx="64">
                  <c:v>283</c:v>
                </c:pt>
                <c:pt idx="65">
                  <c:v>228</c:v>
                </c:pt>
                <c:pt idx="66">
                  <c:v>275</c:v>
                </c:pt>
                <c:pt idx="67">
                  <c:v>149</c:v>
                </c:pt>
                <c:pt idx="68">
                  <c:v>37</c:v>
                </c:pt>
                <c:pt idx="69">
                  <c:v>53</c:v>
                </c:pt>
                <c:pt idx="70">
                  <c:v>163</c:v>
                </c:pt>
                <c:pt idx="71">
                  <c:v>122</c:v>
                </c:pt>
                <c:pt idx="72">
                  <c:v>176</c:v>
                </c:pt>
                <c:pt idx="73">
                  <c:v>88</c:v>
                </c:pt>
                <c:pt idx="74">
                  <c:v>98</c:v>
                </c:pt>
                <c:pt idx="75">
                  <c:v>45</c:v>
                </c:pt>
                <c:pt idx="76">
                  <c:v>79</c:v>
                </c:pt>
                <c:pt idx="77">
                  <c:v>31</c:v>
                </c:pt>
                <c:pt idx="78">
                  <c:v>33</c:v>
                </c:pt>
                <c:pt idx="79">
                  <c:v>128</c:v>
                </c:pt>
                <c:pt idx="80">
                  <c:v>111</c:v>
                </c:pt>
                <c:pt idx="81">
                  <c:v>87</c:v>
                </c:pt>
                <c:pt idx="82">
                  <c:v>27</c:v>
                </c:pt>
                <c:pt idx="83">
                  <c:v>93</c:v>
                </c:pt>
                <c:pt idx="84">
                  <c:v>116</c:v>
                </c:pt>
                <c:pt idx="85">
                  <c:v>113</c:v>
                </c:pt>
                <c:pt idx="86">
                  <c:v>60</c:v>
                </c:pt>
                <c:pt idx="87">
                  <c:v>200</c:v>
                </c:pt>
                <c:pt idx="88">
                  <c:v>172</c:v>
                </c:pt>
                <c:pt idx="89">
                  <c:v>93</c:v>
                </c:pt>
                <c:pt idx="90">
                  <c:v>46</c:v>
                </c:pt>
                <c:pt idx="91">
                  <c:v>112</c:v>
                </c:pt>
              </c:numCache>
            </c:numRef>
          </c:val>
          <c:smooth val="1"/>
          <c:extLst>
            <c:ext xmlns:c16="http://schemas.microsoft.com/office/drawing/2014/chart" uri="{C3380CC4-5D6E-409C-BE32-E72D297353CC}">
              <c16:uniqueId val="{00000001-A2C1-495A-9D55-D404BB81FCF6}"/>
            </c:ext>
          </c:extLst>
        </c:ser>
        <c:ser>
          <c:idx val="7"/>
          <c:order val="7"/>
          <c:tx>
            <c:strRef>
              <c:f>Sheet1!$D$1</c:f>
              <c:strCache>
                <c:ptCount val="1"/>
                <c:pt idx="0">
                  <c:v>Agribank</c:v>
                </c:pt>
              </c:strCache>
            </c:strRef>
          </c:tx>
          <c:spPr>
            <a:ln w="9525" cap="rnd">
              <a:solidFill>
                <a:schemeClr val="accent2">
                  <a:lumMod val="60000"/>
                </a:schemeClr>
              </a:solidFill>
              <a:round/>
            </a:ln>
            <a:effectLst/>
          </c:spPr>
          <c:marker>
            <c:symbol val="none"/>
          </c:marker>
          <c:cat>
            <c:numRef>
              <c:f>Sheet1!$A$2:$A$93</c:f>
              <c:numCache>
                <c:formatCode>m/d/yyyy</c:formatCode>
                <c:ptCount val="92"/>
                <c:pt idx="0">
                  <c:v>45824</c:v>
                </c:pt>
                <c:pt idx="1">
                  <c:v>45825</c:v>
                </c:pt>
                <c:pt idx="2">
                  <c:v>45826</c:v>
                </c:pt>
                <c:pt idx="3">
                  <c:v>45827</c:v>
                </c:pt>
                <c:pt idx="4">
                  <c:v>45828</c:v>
                </c:pt>
                <c:pt idx="5">
                  <c:v>45829</c:v>
                </c:pt>
                <c:pt idx="6">
                  <c:v>45830</c:v>
                </c:pt>
                <c:pt idx="7">
                  <c:v>45831</c:v>
                </c:pt>
                <c:pt idx="8">
                  <c:v>45832</c:v>
                </c:pt>
                <c:pt idx="9">
                  <c:v>45833</c:v>
                </c:pt>
                <c:pt idx="10">
                  <c:v>45834</c:v>
                </c:pt>
                <c:pt idx="11">
                  <c:v>45835</c:v>
                </c:pt>
                <c:pt idx="12">
                  <c:v>45836</c:v>
                </c:pt>
                <c:pt idx="13">
                  <c:v>45837</c:v>
                </c:pt>
                <c:pt idx="14">
                  <c:v>45838</c:v>
                </c:pt>
                <c:pt idx="15">
                  <c:v>45839</c:v>
                </c:pt>
                <c:pt idx="16">
                  <c:v>45840</c:v>
                </c:pt>
                <c:pt idx="17">
                  <c:v>45841</c:v>
                </c:pt>
                <c:pt idx="18">
                  <c:v>45842</c:v>
                </c:pt>
                <c:pt idx="19">
                  <c:v>45843</c:v>
                </c:pt>
                <c:pt idx="20">
                  <c:v>45844</c:v>
                </c:pt>
                <c:pt idx="21">
                  <c:v>45845</c:v>
                </c:pt>
                <c:pt idx="22">
                  <c:v>45846</c:v>
                </c:pt>
                <c:pt idx="23">
                  <c:v>45847</c:v>
                </c:pt>
                <c:pt idx="24">
                  <c:v>45848</c:v>
                </c:pt>
                <c:pt idx="25">
                  <c:v>45849</c:v>
                </c:pt>
                <c:pt idx="26">
                  <c:v>45850</c:v>
                </c:pt>
                <c:pt idx="27">
                  <c:v>45851</c:v>
                </c:pt>
                <c:pt idx="28">
                  <c:v>45852</c:v>
                </c:pt>
                <c:pt idx="29">
                  <c:v>45853</c:v>
                </c:pt>
                <c:pt idx="30">
                  <c:v>45854</c:v>
                </c:pt>
                <c:pt idx="31">
                  <c:v>45855</c:v>
                </c:pt>
                <c:pt idx="32">
                  <c:v>45856</c:v>
                </c:pt>
                <c:pt idx="33">
                  <c:v>45857</c:v>
                </c:pt>
                <c:pt idx="34">
                  <c:v>45858</c:v>
                </c:pt>
                <c:pt idx="35">
                  <c:v>45859</c:v>
                </c:pt>
                <c:pt idx="36">
                  <c:v>45860</c:v>
                </c:pt>
                <c:pt idx="37">
                  <c:v>45861</c:v>
                </c:pt>
                <c:pt idx="38">
                  <c:v>45862</c:v>
                </c:pt>
                <c:pt idx="39">
                  <c:v>45863</c:v>
                </c:pt>
                <c:pt idx="40">
                  <c:v>45864</c:v>
                </c:pt>
                <c:pt idx="41">
                  <c:v>45865</c:v>
                </c:pt>
                <c:pt idx="42">
                  <c:v>45866</c:v>
                </c:pt>
                <c:pt idx="43">
                  <c:v>45867</c:v>
                </c:pt>
                <c:pt idx="44">
                  <c:v>45868</c:v>
                </c:pt>
                <c:pt idx="45">
                  <c:v>45869</c:v>
                </c:pt>
                <c:pt idx="46">
                  <c:v>45870</c:v>
                </c:pt>
                <c:pt idx="47">
                  <c:v>45871</c:v>
                </c:pt>
                <c:pt idx="48">
                  <c:v>45872</c:v>
                </c:pt>
                <c:pt idx="49">
                  <c:v>45873</c:v>
                </c:pt>
                <c:pt idx="50">
                  <c:v>45874</c:v>
                </c:pt>
                <c:pt idx="51">
                  <c:v>45875</c:v>
                </c:pt>
                <c:pt idx="52">
                  <c:v>45876</c:v>
                </c:pt>
                <c:pt idx="53">
                  <c:v>45877</c:v>
                </c:pt>
                <c:pt idx="54">
                  <c:v>45878</c:v>
                </c:pt>
                <c:pt idx="55">
                  <c:v>45879</c:v>
                </c:pt>
                <c:pt idx="56">
                  <c:v>45880</c:v>
                </c:pt>
                <c:pt idx="57">
                  <c:v>45881</c:v>
                </c:pt>
                <c:pt idx="58">
                  <c:v>45882</c:v>
                </c:pt>
                <c:pt idx="59">
                  <c:v>45883</c:v>
                </c:pt>
                <c:pt idx="60">
                  <c:v>45884</c:v>
                </c:pt>
                <c:pt idx="61">
                  <c:v>45885</c:v>
                </c:pt>
                <c:pt idx="62">
                  <c:v>45886</c:v>
                </c:pt>
                <c:pt idx="63">
                  <c:v>45887</c:v>
                </c:pt>
                <c:pt idx="64">
                  <c:v>45888</c:v>
                </c:pt>
                <c:pt idx="65">
                  <c:v>45889</c:v>
                </c:pt>
                <c:pt idx="66">
                  <c:v>45890</c:v>
                </c:pt>
                <c:pt idx="67">
                  <c:v>45891</c:v>
                </c:pt>
                <c:pt idx="68">
                  <c:v>45892</c:v>
                </c:pt>
                <c:pt idx="69">
                  <c:v>45893</c:v>
                </c:pt>
                <c:pt idx="70">
                  <c:v>45894</c:v>
                </c:pt>
                <c:pt idx="71">
                  <c:v>45895</c:v>
                </c:pt>
                <c:pt idx="72">
                  <c:v>45896</c:v>
                </c:pt>
                <c:pt idx="73">
                  <c:v>45897</c:v>
                </c:pt>
                <c:pt idx="74">
                  <c:v>45898</c:v>
                </c:pt>
                <c:pt idx="75">
                  <c:v>45899</c:v>
                </c:pt>
                <c:pt idx="76">
                  <c:v>45900</c:v>
                </c:pt>
                <c:pt idx="77">
                  <c:v>45901</c:v>
                </c:pt>
                <c:pt idx="78">
                  <c:v>45902</c:v>
                </c:pt>
                <c:pt idx="79">
                  <c:v>45903</c:v>
                </c:pt>
                <c:pt idx="80">
                  <c:v>45904</c:v>
                </c:pt>
                <c:pt idx="81">
                  <c:v>45905</c:v>
                </c:pt>
                <c:pt idx="82">
                  <c:v>45906</c:v>
                </c:pt>
                <c:pt idx="83">
                  <c:v>45907</c:v>
                </c:pt>
                <c:pt idx="84">
                  <c:v>45908</c:v>
                </c:pt>
                <c:pt idx="85">
                  <c:v>45909</c:v>
                </c:pt>
                <c:pt idx="86">
                  <c:v>45910</c:v>
                </c:pt>
                <c:pt idx="87">
                  <c:v>45911</c:v>
                </c:pt>
                <c:pt idx="88">
                  <c:v>45912</c:v>
                </c:pt>
                <c:pt idx="89">
                  <c:v>45913</c:v>
                </c:pt>
                <c:pt idx="90">
                  <c:v>45914</c:v>
                </c:pt>
                <c:pt idx="91">
                  <c:v>45915</c:v>
                </c:pt>
              </c:numCache>
            </c:numRef>
          </c:cat>
          <c:val>
            <c:numRef>
              <c:f>Sheet1!$D$2:$D$93</c:f>
              <c:numCache>
                <c:formatCode>General</c:formatCode>
                <c:ptCount val="92"/>
                <c:pt idx="0">
                  <c:v>801</c:v>
                </c:pt>
                <c:pt idx="1">
                  <c:v>522</c:v>
                </c:pt>
                <c:pt idx="2">
                  <c:v>294</c:v>
                </c:pt>
                <c:pt idx="3">
                  <c:v>391</c:v>
                </c:pt>
                <c:pt idx="4">
                  <c:v>627</c:v>
                </c:pt>
                <c:pt idx="5">
                  <c:v>310</c:v>
                </c:pt>
                <c:pt idx="6">
                  <c:v>175</c:v>
                </c:pt>
                <c:pt idx="7">
                  <c:v>373</c:v>
                </c:pt>
                <c:pt idx="8">
                  <c:v>319</c:v>
                </c:pt>
                <c:pt idx="9">
                  <c:v>239</c:v>
                </c:pt>
                <c:pt idx="10">
                  <c:v>315</c:v>
                </c:pt>
                <c:pt idx="11">
                  <c:v>473</c:v>
                </c:pt>
                <c:pt idx="12">
                  <c:v>1091</c:v>
                </c:pt>
                <c:pt idx="13">
                  <c:v>766</c:v>
                </c:pt>
                <c:pt idx="14">
                  <c:v>1548</c:v>
                </c:pt>
                <c:pt idx="15">
                  <c:v>381</c:v>
                </c:pt>
                <c:pt idx="16">
                  <c:v>667</c:v>
                </c:pt>
                <c:pt idx="17">
                  <c:v>639</c:v>
                </c:pt>
                <c:pt idx="18">
                  <c:v>419</c:v>
                </c:pt>
                <c:pt idx="19">
                  <c:v>281</c:v>
                </c:pt>
                <c:pt idx="20">
                  <c:v>167</c:v>
                </c:pt>
                <c:pt idx="21">
                  <c:v>385</c:v>
                </c:pt>
                <c:pt idx="22">
                  <c:v>274</c:v>
                </c:pt>
                <c:pt idx="23">
                  <c:v>508</c:v>
                </c:pt>
                <c:pt idx="24">
                  <c:v>394</c:v>
                </c:pt>
                <c:pt idx="25">
                  <c:v>486</c:v>
                </c:pt>
                <c:pt idx="26">
                  <c:v>314</c:v>
                </c:pt>
                <c:pt idx="27">
                  <c:v>173</c:v>
                </c:pt>
                <c:pt idx="28">
                  <c:v>216</c:v>
                </c:pt>
                <c:pt idx="29">
                  <c:v>194</c:v>
                </c:pt>
                <c:pt idx="30">
                  <c:v>204</c:v>
                </c:pt>
                <c:pt idx="31">
                  <c:v>139</c:v>
                </c:pt>
                <c:pt idx="32">
                  <c:v>151</c:v>
                </c:pt>
                <c:pt idx="33">
                  <c:v>85</c:v>
                </c:pt>
                <c:pt idx="34">
                  <c:v>86</c:v>
                </c:pt>
                <c:pt idx="35">
                  <c:v>179</c:v>
                </c:pt>
                <c:pt idx="36">
                  <c:v>174</c:v>
                </c:pt>
                <c:pt idx="37">
                  <c:v>169</c:v>
                </c:pt>
                <c:pt idx="38">
                  <c:v>155</c:v>
                </c:pt>
                <c:pt idx="39">
                  <c:v>217</c:v>
                </c:pt>
                <c:pt idx="40">
                  <c:v>121</c:v>
                </c:pt>
                <c:pt idx="41">
                  <c:v>106</c:v>
                </c:pt>
                <c:pt idx="42">
                  <c:v>240</c:v>
                </c:pt>
                <c:pt idx="43">
                  <c:v>297</c:v>
                </c:pt>
                <c:pt idx="44">
                  <c:v>248</c:v>
                </c:pt>
                <c:pt idx="45">
                  <c:v>253</c:v>
                </c:pt>
                <c:pt idx="46">
                  <c:v>1011</c:v>
                </c:pt>
                <c:pt idx="47">
                  <c:v>630</c:v>
                </c:pt>
                <c:pt idx="48">
                  <c:v>319</c:v>
                </c:pt>
                <c:pt idx="49">
                  <c:v>556</c:v>
                </c:pt>
                <c:pt idx="50">
                  <c:v>658</c:v>
                </c:pt>
                <c:pt idx="51">
                  <c:v>647</c:v>
                </c:pt>
                <c:pt idx="52">
                  <c:v>945</c:v>
                </c:pt>
                <c:pt idx="53">
                  <c:v>565</c:v>
                </c:pt>
                <c:pt idx="54">
                  <c:v>440</c:v>
                </c:pt>
                <c:pt idx="55">
                  <c:v>885</c:v>
                </c:pt>
                <c:pt idx="56">
                  <c:v>608</c:v>
                </c:pt>
                <c:pt idx="57">
                  <c:v>622</c:v>
                </c:pt>
                <c:pt idx="58">
                  <c:v>551</c:v>
                </c:pt>
                <c:pt idx="59">
                  <c:v>477</c:v>
                </c:pt>
                <c:pt idx="60">
                  <c:v>645</c:v>
                </c:pt>
                <c:pt idx="61">
                  <c:v>326</c:v>
                </c:pt>
                <c:pt idx="62">
                  <c:v>354</c:v>
                </c:pt>
                <c:pt idx="63">
                  <c:v>679</c:v>
                </c:pt>
                <c:pt idx="64">
                  <c:v>579</c:v>
                </c:pt>
                <c:pt idx="65">
                  <c:v>266</c:v>
                </c:pt>
                <c:pt idx="66">
                  <c:v>217</c:v>
                </c:pt>
                <c:pt idx="67">
                  <c:v>241</c:v>
                </c:pt>
                <c:pt idx="68">
                  <c:v>60</c:v>
                </c:pt>
                <c:pt idx="69">
                  <c:v>82</c:v>
                </c:pt>
                <c:pt idx="70">
                  <c:v>92</c:v>
                </c:pt>
                <c:pt idx="71">
                  <c:v>155</c:v>
                </c:pt>
                <c:pt idx="72">
                  <c:v>218</c:v>
                </c:pt>
                <c:pt idx="73">
                  <c:v>317</c:v>
                </c:pt>
                <c:pt idx="74">
                  <c:v>1155</c:v>
                </c:pt>
                <c:pt idx="75">
                  <c:v>1262</c:v>
                </c:pt>
                <c:pt idx="76">
                  <c:v>332</c:v>
                </c:pt>
                <c:pt idx="77">
                  <c:v>223</c:v>
                </c:pt>
                <c:pt idx="78">
                  <c:v>156</c:v>
                </c:pt>
                <c:pt idx="79">
                  <c:v>236</c:v>
                </c:pt>
                <c:pt idx="80">
                  <c:v>173</c:v>
                </c:pt>
                <c:pt idx="81">
                  <c:v>286</c:v>
                </c:pt>
                <c:pt idx="82">
                  <c:v>214</c:v>
                </c:pt>
                <c:pt idx="83">
                  <c:v>172</c:v>
                </c:pt>
                <c:pt idx="84">
                  <c:v>386</c:v>
                </c:pt>
                <c:pt idx="85">
                  <c:v>235</c:v>
                </c:pt>
                <c:pt idx="86">
                  <c:v>240</c:v>
                </c:pt>
                <c:pt idx="87">
                  <c:v>216</c:v>
                </c:pt>
                <c:pt idx="88">
                  <c:v>856</c:v>
                </c:pt>
                <c:pt idx="89">
                  <c:v>547</c:v>
                </c:pt>
                <c:pt idx="90">
                  <c:v>304</c:v>
                </c:pt>
                <c:pt idx="91">
                  <c:v>302</c:v>
                </c:pt>
              </c:numCache>
            </c:numRef>
          </c:val>
          <c:smooth val="0"/>
          <c:extLst>
            <c:ext xmlns:c16="http://schemas.microsoft.com/office/drawing/2014/chart" uri="{C3380CC4-5D6E-409C-BE32-E72D297353CC}">
              <c16:uniqueId val="{00000000-15EA-4A74-9C37-8629D1C6B924}"/>
            </c:ext>
          </c:extLst>
        </c:ser>
        <c:dLbls>
          <c:showLegendKey val="0"/>
          <c:showVal val="0"/>
          <c:showCatName val="0"/>
          <c:showSerName val="0"/>
          <c:showPercent val="0"/>
          <c:showBubbleSize val="0"/>
        </c:dLbls>
        <c:smooth val="0"/>
        <c:axId val="1745359232"/>
        <c:axId val="1745360880"/>
      </c:lineChart>
      <c:dateAx>
        <c:axId val="1745359232"/>
        <c:scaling>
          <c:orientation val="minMax"/>
        </c:scaling>
        <c:delete val="0"/>
        <c:axPos val="b"/>
        <c:numFmt formatCode="dd/mm/yy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SVN-Product Sans" panose="020B0403030502040203" pitchFamily="34" charset="0"/>
                <a:ea typeface="+mn-ea"/>
                <a:cs typeface="Arial" panose="020B0604020202020204" pitchFamily="34" charset="0"/>
              </a:defRPr>
            </a:pPr>
            <a:endParaRPr lang="en-VN"/>
          </a:p>
        </c:txPr>
        <c:crossAx val="1745360880"/>
        <c:crosses val="autoZero"/>
        <c:auto val="1"/>
        <c:lblOffset val="100"/>
        <c:baseTimeUnit val="days"/>
        <c:majorUnit val="10"/>
        <c:majorTimeUnit val="days"/>
      </c:dateAx>
      <c:valAx>
        <c:axId val="1745360880"/>
        <c:scaling>
          <c:orientation val="minMax"/>
          <c:min val="0"/>
        </c:scaling>
        <c:delete val="0"/>
        <c:axPos val="r"/>
        <c:numFmt formatCode="[&gt;=1000]#,##0,&quot;K&quot;;0" sourceLinked="0"/>
        <c:majorTickMark val="out"/>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SVN-Product Sans" panose="020B0403030502040203" pitchFamily="34" charset="0"/>
                <a:ea typeface="+mn-ea"/>
                <a:cs typeface="Arial" panose="020B0604020202020204" pitchFamily="34" charset="0"/>
              </a:defRPr>
            </a:pPr>
            <a:endParaRPr lang="en-VN"/>
          </a:p>
        </c:txPr>
        <c:crossAx val="1745359232"/>
        <c:crosses val="max"/>
        <c:crossBetween val="between"/>
      </c:valAx>
      <c:spPr>
        <a:noFill/>
        <a:ln w="25400">
          <a:noFill/>
        </a:ln>
        <a:effectLst/>
      </c:spPr>
    </c:plotArea>
    <c:legend>
      <c:legendPos val="b"/>
      <c:layout>
        <c:manualLayout>
          <c:xMode val="edge"/>
          <c:yMode val="edge"/>
          <c:x val="0.16076406641047511"/>
          <c:y val="0.95084916194022406"/>
          <c:w val="0.68298036641942317"/>
          <c:h val="4.8590763520040853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SVN-Product Sans" panose="020B0403030502040203" pitchFamily="34" charset="0"/>
              <a:ea typeface="+mn-ea"/>
              <a:cs typeface="Arial" panose="020B0604020202020204" pitchFamily="34" charset="0"/>
            </a:defRPr>
          </a:pPr>
          <a:endParaRPr lang="en-V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38100">
      <a:noFill/>
    </a:ln>
    <a:effectLst/>
  </c:spPr>
  <c:txPr>
    <a:bodyPr/>
    <a:lstStyle/>
    <a:p>
      <a:pPr>
        <a:defRPr sz="600">
          <a:latin typeface="SVN-Product Sans" panose="020B0403030502040203" pitchFamily="34" charset="0"/>
          <a:cs typeface="Arial" panose="020B0604020202020204" pitchFamily="34" charset="0"/>
        </a:defRPr>
      </a:pPr>
      <a:endParaRPr lang="en-V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5.4163940671711742E-2"/>
          <c:w val="0.89778190248454182"/>
          <c:h val="0.80823836233900304"/>
        </c:manualLayout>
      </c:layout>
      <c:barChart>
        <c:barDir val="col"/>
        <c:grouping val="percentStacked"/>
        <c:varyColors val="0"/>
        <c:ser>
          <c:idx val="0"/>
          <c:order val="0"/>
          <c:tx>
            <c:strRef>
              <c:f>Sheet1!$B$1</c:f>
              <c:strCache>
                <c:ptCount val="1"/>
                <c:pt idx="0">
                  <c:v>Fanpage</c:v>
                </c:pt>
              </c:strCache>
            </c:strRef>
          </c:tx>
          <c:spPr>
            <a:solidFill>
              <a:srgbClr val="00B0F0"/>
            </a:solidFill>
            <a:ln>
              <a:noFill/>
            </a:ln>
            <a:effectLst/>
          </c:spPr>
          <c:invertIfNegative val="0"/>
          <c:dLbls>
            <c:spPr>
              <a:noFill/>
              <a:ln>
                <a:noFill/>
              </a:ln>
              <a:effectLst/>
            </c:spPr>
            <c:txPr>
              <a:bodyPr rot="0" spcFirstLastPara="1" vertOverflow="ellipsis" vert="horz" wrap="square" anchor="ctr" anchorCtr="1"/>
              <a:lstStyle/>
              <a:p>
                <a:pPr>
                  <a:defRPr lang="en-US" sz="800" b="0" i="0" u="none" strike="noStrike" kern="1200" baseline="0">
                    <a:solidFill>
                      <a:schemeClr val="bg1"/>
                    </a:solidFill>
                    <a:latin typeface="SVN-Product Sans" panose="020B0403030502040203" pitchFamily="34" charset="0"/>
                    <a:ea typeface="+mn-ea"/>
                    <a:cs typeface="+mn-cs"/>
                  </a:defRPr>
                </a:pPr>
                <a:endParaRPr lang="en-V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BIDV</c:v>
                </c:pt>
                <c:pt idx="1">
                  <c:v>ACB Bank</c:v>
                </c:pt>
                <c:pt idx="2">
                  <c:v>Agribank</c:v>
                </c:pt>
                <c:pt idx="3">
                  <c:v>MBBank</c:v>
                </c:pt>
                <c:pt idx="4">
                  <c:v>Techcombank</c:v>
                </c:pt>
                <c:pt idx="5">
                  <c:v>Vietcombank</c:v>
                </c:pt>
                <c:pt idx="6">
                  <c:v>Vietinbank</c:v>
                </c:pt>
                <c:pt idx="7">
                  <c:v>VPBank</c:v>
                </c:pt>
              </c:strCache>
            </c:strRef>
          </c:cat>
          <c:val>
            <c:numRef>
              <c:f>Sheet1!$B$2:$B$9</c:f>
              <c:numCache>
                <c:formatCode>0.0%</c:formatCode>
                <c:ptCount val="8"/>
                <c:pt idx="0">
                  <c:v>0.24861311826954455</c:v>
                </c:pt>
                <c:pt idx="1">
                  <c:v>0.20100000000000001</c:v>
                </c:pt>
                <c:pt idx="2">
                  <c:v>0.05</c:v>
                </c:pt>
                <c:pt idx="3">
                  <c:v>0.03</c:v>
                </c:pt>
                <c:pt idx="4">
                  <c:v>0.20230000000000001</c:v>
                </c:pt>
                <c:pt idx="5">
                  <c:v>0.26800000000000002</c:v>
                </c:pt>
                <c:pt idx="6">
                  <c:v>0.15</c:v>
                </c:pt>
                <c:pt idx="7">
                  <c:v>0.52200000000000002</c:v>
                </c:pt>
              </c:numCache>
            </c:numRef>
          </c:val>
          <c:extLst>
            <c:ext xmlns:c16="http://schemas.microsoft.com/office/drawing/2014/chart" uri="{C3380CC4-5D6E-409C-BE32-E72D297353CC}">
              <c16:uniqueId val="{00000000-C7AE-4D57-A955-EB64633129DF}"/>
            </c:ext>
          </c:extLst>
        </c:ser>
        <c:ser>
          <c:idx val="1"/>
          <c:order val="1"/>
          <c:tx>
            <c:strRef>
              <c:f>Sheet1!$C$1</c:f>
              <c:strCache>
                <c:ptCount val="1"/>
                <c:pt idx="0">
                  <c:v>Facebook</c:v>
                </c:pt>
              </c:strCache>
            </c:strRef>
          </c:tx>
          <c:spPr>
            <a:solidFill>
              <a:schemeClr val="accent5">
                <a:lumMod val="75000"/>
              </a:schemeClr>
            </a:solidFill>
            <a:ln>
              <a:noFill/>
            </a:ln>
            <a:effectLst/>
          </c:spPr>
          <c:invertIfNegative val="0"/>
          <c:dLbls>
            <c:spPr>
              <a:noFill/>
              <a:ln>
                <a:noFill/>
              </a:ln>
              <a:effectLst/>
            </c:spPr>
            <c:txPr>
              <a:bodyPr rot="0" spcFirstLastPara="1" vertOverflow="ellipsis" vert="horz" wrap="square" anchor="ctr" anchorCtr="1"/>
              <a:lstStyle/>
              <a:p>
                <a:pPr>
                  <a:defRPr lang="en-US" sz="800" b="0" i="0" u="none" strike="noStrike" kern="1200" baseline="0">
                    <a:solidFill>
                      <a:schemeClr val="bg1"/>
                    </a:solidFill>
                    <a:latin typeface="SVN-Product Sans" panose="020B0403030502040203" pitchFamily="34" charset="0"/>
                    <a:ea typeface="+mn-ea"/>
                    <a:cs typeface="+mn-cs"/>
                  </a:defRPr>
                </a:pPr>
                <a:endParaRPr lang="en-V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BIDV</c:v>
                </c:pt>
                <c:pt idx="1">
                  <c:v>ACB Bank</c:v>
                </c:pt>
                <c:pt idx="2">
                  <c:v>Agribank</c:v>
                </c:pt>
                <c:pt idx="3">
                  <c:v>MBBank</c:v>
                </c:pt>
                <c:pt idx="4">
                  <c:v>Techcombank</c:v>
                </c:pt>
                <c:pt idx="5">
                  <c:v>Vietcombank</c:v>
                </c:pt>
                <c:pt idx="6">
                  <c:v>Vietinbank</c:v>
                </c:pt>
                <c:pt idx="7">
                  <c:v>VPBank</c:v>
                </c:pt>
              </c:strCache>
            </c:strRef>
          </c:cat>
          <c:val>
            <c:numRef>
              <c:f>Sheet1!$C$2:$C$9</c:f>
              <c:numCache>
                <c:formatCode>0.0%</c:formatCode>
                <c:ptCount val="8"/>
                <c:pt idx="0">
                  <c:v>0.35598573493077246</c:v>
                </c:pt>
                <c:pt idx="1">
                  <c:v>0.19346672557949801</c:v>
                </c:pt>
                <c:pt idx="2">
                  <c:v>0.60129978922336902</c:v>
                </c:pt>
                <c:pt idx="3">
                  <c:v>0.766572299098642</c:v>
                </c:pt>
                <c:pt idx="4">
                  <c:v>0.48173509820155902</c:v>
                </c:pt>
                <c:pt idx="5">
                  <c:v>0.48426645800235502</c:v>
                </c:pt>
                <c:pt idx="6">
                  <c:v>0.38066908870723604</c:v>
                </c:pt>
                <c:pt idx="7">
                  <c:v>0.25312435132024391</c:v>
                </c:pt>
              </c:numCache>
            </c:numRef>
          </c:val>
          <c:extLst>
            <c:ext xmlns:c16="http://schemas.microsoft.com/office/drawing/2014/chart" uri="{C3380CC4-5D6E-409C-BE32-E72D297353CC}">
              <c16:uniqueId val="{00000001-C7AE-4D57-A955-EB64633129DF}"/>
            </c:ext>
          </c:extLst>
        </c:ser>
        <c:ser>
          <c:idx val="2"/>
          <c:order val="2"/>
          <c:tx>
            <c:strRef>
              <c:f>Sheet1!$D$1</c:f>
              <c:strCache>
                <c:ptCount val="1"/>
                <c:pt idx="0">
                  <c:v>Tin tức trực tuyến</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lang="en-US" sz="800" b="0" i="0" u="none" strike="noStrike" kern="1200" baseline="0">
                    <a:solidFill>
                      <a:schemeClr val="bg1"/>
                    </a:solidFill>
                    <a:latin typeface="SVN-Product Sans" panose="020B0403030502040203" pitchFamily="34" charset="0"/>
                    <a:ea typeface="+mn-ea"/>
                    <a:cs typeface="+mn-cs"/>
                  </a:defRPr>
                </a:pPr>
                <a:endParaRPr lang="en-V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BIDV</c:v>
                </c:pt>
                <c:pt idx="1">
                  <c:v>ACB Bank</c:v>
                </c:pt>
                <c:pt idx="2">
                  <c:v>Agribank</c:v>
                </c:pt>
                <c:pt idx="3">
                  <c:v>MBBank</c:v>
                </c:pt>
                <c:pt idx="4">
                  <c:v>Techcombank</c:v>
                </c:pt>
                <c:pt idx="5">
                  <c:v>Vietcombank</c:v>
                </c:pt>
                <c:pt idx="6">
                  <c:v>Vietinbank</c:v>
                </c:pt>
                <c:pt idx="7">
                  <c:v>VPBank</c:v>
                </c:pt>
              </c:strCache>
            </c:strRef>
          </c:cat>
          <c:val>
            <c:numRef>
              <c:f>Sheet1!$D$2:$D$9</c:f>
              <c:numCache>
                <c:formatCode>0.0%</c:formatCode>
                <c:ptCount val="8"/>
                <c:pt idx="0">
                  <c:v>0.22639970164561093</c:v>
                </c:pt>
                <c:pt idx="1">
                  <c:v>8.830127115763714E-2</c:v>
                </c:pt>
                <c:pt idx="2">
                  <c:v>0.25271577582013727</c:v>
                </c:pt>
                <c:pt idx="3">
                  <c:v>7.5189369895476282E-2</c:v>
                </c:pt>
                <c:pt idx="4">
                  <c:v>6.6052391235692273E-2</c:v>
                </c:pt>
                <c:pt idx="5">
                  <c:v>0.17651103786783012</c:v>
                </c:pt>
                <c:pt idx="6">
                  <c:v>0.19329902109193661</c:v>
                </c:pt>
                <c:pt idx="7">
                  <c:v>0.11076185796689798</c:v>
                </c:pt>
              </c:numCache>
            </c:numRef>
          </c:val>
          <c:extLst>
            <c:ext xmlns:c16="http://schemas.microsoft.com/office/drawing/2014/chart" uri="{C3380CC4-5D6E-409C-BE32-E72D297353CC}">
              <c16:uniqueId val="{00000005-C7AE-4D57-A955-EB64633129DF}"/>
            </c:ext>
          </c:extLst>
        </c:ser>
        <c:ser>
          <c:idx val="3"/>
          <c:order val="3"/>
          <c:tx>
            <c:strRef>
              <c:f>Sheet1!$E$1</c:f>
              <c:strCache>
                <c:ptCount val="1"/>
                <c:pt idx="0">
                  <c:v>TikTok</c:v>
                </c:pt>
              </c:strCache>
            </c:strRef>
          </c:tx>
          <c:spPr>
            <a:solidFill>
              <a:schemeClr val="tx1">
                <a:lumMod val="65000"/>
                <a:lumOff val="35000"/>
              </a:schemeClr>
            </a:solidFill>
            <a:ln>
              <a:noFill/>
            </a:ln>
            <a:effectLst/>
          </c:spPr>
          <c:invertIfNegative val="0"/>
          <c:dLbls>
            <c:spPr>
              <a:noFill/>
              <a:ln>
                <a:noFill/>
              </a:ln>
              <a:effectLst/>
            </c:spPr>
            <c:txPr>
              <a:bodyPr rot="0" spcFirstLastPara="1" vertOverflow="ellipsis" vert="horz" wrap="square" anchor="ctr" anchorCtr="1"/>
              <a:lstStyle/>
              <a:p>
                <a:pPr>
                  <a:defRPr lang="en-US" sz="800" b="0" i="0" u="none" strike="noStrike" kern="1200" baseline="0">
                    <a:solidFill>
                      <a:schemeClr val="bg1"/>
                    </a:solidFill>
                    <a:latin typeface="SVN-Product Sans" panose="020B0403030502040203" pitchFamily="34" charset="0"/>
                    <a:ea typeface="+mn-ea"/>
                    <a:cs typeface="+mn-cs"/>
                  </a:defRPr>
                </a:pPr>
                <a:endParaRPr lang="en-V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BIDV</c:v>
                </c:pt>
                <c:pt idx="1">
                  <c:v>ACB Bank</c:v>
                </c:pt>
                <c:pt idx="2">
                  <c:v>Agribank</c:v>
                </c:pt>
                <c:pt idx="3">
                  <c:v>MBBank</c:v>
                </c:pt>
                <c:pt idx="4">
                  <c:v>Techcombank</c:v>
                </c:pt>
                <c:pt idx="5">
                  <c:v>Vietcombank</c:v>
                </c:pt>
                <c:pt idx="6">
                  <c:v>Vietinbank</c:v>
                </c:pt>
                <c:pt idx="7">
                  <c:v>VPBank</c:v>
                </c:pt>
              </c:strCache>
            </c:strRef>
          </c:cat>
          <c:val>
            <c:numRef>
              <c:f>Sheet1!$E$2:$E$9</c:f>
              <c:numCache>
                <c:formatCode>0.0%</c:formatCode>
                <c:ptCount val="8"/>
                <c:pt idx="0">
                  <c:v>7.6395039858281666E-2</c:v>
                </c:pt>
                <c:pt idx="1">
                  <c:v>0.13656447556250426</c:v>
                </c:pt>
                <c:pt idx="2">
                  <c:v>4.9127168567259363E-2</c:v>
                </c:pt>
                <c:pt idx="3">
                  <c:v>8.2095552452287246E-4</c:v>
                </c:pt>
                <c:pt idx="4">
                  <c:v>0.10605000128033323</c:v>
                </c:pt>
                <c:pt idx="5">
                  <c:v>4.6554272480813161E-3</c:v>
                </c:pt>
                <c:pt idx="6">
                  <c:v>3.102230295690786E-2</c:v>
                </c:pt>
                <c:pt idx="7">
                  <c:v>2.5711612629651815E-3</c:v>
                </c:pt>
              </c:numCache>
            </c:numRef>
          </c:val>
          <c:extLst>
            <c:ext xmlns:c16="http://schemas.microsoft.com/office/drawing/2014/chart" uri="{C3380CC4-5D6E-409C-BE32-E72D297353CC}">
              <c16:uniqueId val="{0000000B-C7AE-4D57-A955-EB64633129DF}"/>
            </c:ext>
          </c:extLst>
        </c:ser>
        <c:ser>
          <c:idx val="4"/>
          <c:order val="4"/>
          <c:tx>
            <c:strRef>
              <c:f>Sheet1!$F$1</c:f>
              <c:strCache>
                <c:ptCount val="1"/>
                <c:pt idx="0">
                  <c:v>Youtube</c:v>
                </c:pt>
              </c:strCache>
            </c:strRef>
          </c:tx>
          <c:spPr>
            <a:solidFill>
              <a:srgbClr val="FF0000"/>
            </a:solidFill>
            <a:ln>
              <a:noFill/>
            </a:ln>
            <a:effectLst/>
          </c:spPr>
          <c:invertIfNegative val="0"/>
          <c:dLbls>
            <c:dLbl>
              <c:idx val="0"/>
              <c:layout>
                <c:manualLayout>
                  <c:x val="0"/>
                  <c:y val="5.4265944146242749E-3"/>
                </c:manualLayout>
              </c:layout>
              <c:dLblPos val="ct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3-C444-42BE-8CCC-3BFB6EF8F82C}"/>
                </c:ext>
              </c:extLst>
            </c:dLbl>
            <c:dLbl>
              <c:idx val="2"/>
              <c:delete val="1"/>
              <c:extLst>
                <c:ext xmlns:c15="http://schemas.microsoft.com/office/drawing/2012/chart" uri="{CE6537A1-D6FC-4f65-9D91-7224C49458BB}"/>
                <c:ext xmlns:c16="http://schemas.microsoft.com/office/drawing/2014/chart" uri="{C3380CC4-5D6E-409C-BE32-E72D297353CC}">
                  <c16:uniqueId val="{00000000-C444-42BE-8CCC-3BFB6EF8F82C}"/>
                </c:ext>
              </c:extLst>
            </c:dLbl>
            <c:dLbl>
              <c:idx val="3"/>
              <c:delete val="1"/>
              <c:extLst>
                <c:ext xmlns:c15="http://schemas.microsoft.com/office/drawing/2012/chart" uri="{CE6537A1-D6FC-4f65-9D91-7224C49458BB}"/>
                <c:ext xmlns:c16="http://schemas.microsoft.com/office/drawing/2014/chart" uri="{C3380CC4-5D6E-409C-BE32-E72D297353CC}">
                  <c16:uniqueId val="{00000009-2442-421D-9DDC-893154A55FED}"/>
                </c:ext>
              </c:extLst>
            </c:dLbl>
            <c:dLbl>
              <c:idx val="4"/>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4-C444-42BE-8CCC-3BFB6EF8F82C}"/>
                </c:ext>
              </c:extLst>
            </c:dLbl>
            <c:dLbl>
              <c:idx val="5"/>
              <c:delete val="1"/>
              <c:extLst>
                <c:ext xmlns:c15="http://schemas.microsoft.com/office/drawing/2012/chart" uri="{CE6537A1-D6FC-4f65-9D91-7224C49458BB}"/>
                <c:ext xmlns:c16="http://schemas.microsoft.com/office/drawing/2014/chart" uri="{C3380CC4-5D6E-409C-BE32-E72D297353CC}">
                  <c16:uniqueId val="{0000000F-2442-421D-9DDC-893154A55FED}"/>
                </c:ext>
              </c:extLst>
            </c:dLbl>
            <c:dLbl>
              <c:idx val="6"/>
              <c:delete val="1"/>
              <c:extLst>
                <c:ext xmlns:c15="http://schemas.microsoft.com/office/drawing/2012/chart" uri="{CE6537A1-D6FC-4f65-9D91-7224C49458BB}"/>
                <c:ext xmlns:c16="http://schemas.microsoft.com/office/drawing/2014/chart" uri="{C3380CC4-5D6E-409C-BE32-E72D297353CC}">
                  <c16:uniqueId val="{00000005-C444-42BE-8CCC-3BFB6EF8F82C}"/>
                </c:ext>
              </c:extLst>
            </c:dLbl>
            <c:dLbl>
              <c:idx val="7"/>
              <c:delete val="1"/>
              <c:extLst>
                <c:ext xmlns:c15="http://schemas.microsoft.com/office/drawing/2012/chart" uri="{CE6537A1-D6FC-4f65-9D91-7224C49458BB}"/>
                <c:ext xmlns:c16="http://schemas.microsoft.com/office/drawing/2014/chart" uri="{C3380CC4-5D6E-409C-BE32-E72D297353CC}">
                  <c16:uniqueId val="{00000003-1A66-407A-955D-F00A19ECD6AF}"/>
                </c:ext>
              </c:extLst>
            </c:dLbl>
            <c:spPr>
              <a:noFill/>
              <a:ln>
                <a:noFill/>
              </a:ln>
              <a:effectLst/>
            </c:spPr>
            <c:txPr>
              <a:bodyPr rot="0" spcFirstLastPara="1" vertOverflow="ellipsis" vert="horz" wrap="square" anchor="ctr" anchorCtr="1"/>
              <a:lstStyle/>
              <a:p>
                <a:pPr>
                  <a:defRPr lang="en-US" sz="800" b="0" i="0" u="none" strike="noStrike" kern="1200" baseline="0">
                    <a:solidFill>
                      <a:schemeClr val="bg1"/>
                    </a:solidFill>
                    <a:latin typeface="SVN-Product Sans" panose="020B0403030502040203" pitchFamily="34" charset="0"/>
                    <a:ea typeface="+mn-ea"/>
                    <a:cs typeface="+mn-cs"/>
                  </a:defRPr>
                </a:pPr>
                <a:endParaRPr lang="en-VN"/>
              </a:p>
            </c:txPr>
            <c:dLblPos val="ct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BIDV</c:v>
                </c:pt>
                <c:pt idx="1">
                  <c:v>ACB Bank</c:v>
                </c:pt>
                <c:pt idx="2">
                  <c:v>Agribank</c:v>
                </c:pt>
                <c:pt idx="3">
                  <c:v>MBBank</c:v>
                </c:pt>
                <c:pt idx="4">
                  <c:v>Techcombank</c:v>
                </c:pt>
                <c:pt idx="5">
                  <c:v>Vietcombank</c:v>
                </c:pt>
                <c:pt idx="6">
                  <c:v>Vietinbank</c:v>
                </c:pt>
                <c:pt idx="7">
                  <c:v>VPBank</c:v>
                </c:pt>
              </c:strCache>
            </c:strRef>
          </c:cat>
          <c:val>
            <c:numRef>
              <c:f>Sheet1!$F$2:$F$9</c:f>
              <c:numCache>
                <c:formatCode>0.0%</c:formatCode>
                <c:ptCount val="8"/>
                <c:pt idx="0">
                  <c:v>1.552375180644259E-2</c:v>
                </c:pt>
                <c:pt idx="1">
                  <c:v>4.2145333423968456E-3</c:v>
                </c:pt>
                <c:pt idx="2">
                  <c:v>1.9456304383073015E-3</c:v>
                </c:pt>
                <c:pt idx="3">
                  <c:v>3.4023105243112862E-3</c:v>
                </c:pt>
                <c:pt idx="4">
                  <c:v>9.1134119173416864E-2</c:v>
                </c:pt>
                <c:pt idx="5">
                  <c:v>3.9203597878579499E-3</c:v>
                </c:pt>
                <c:pt idx="6">
                  <c:v>7.266121707538601E-3</c:v>
                </c:pt>
                <c:pt idx="7">
                  <c:v>3.3384711686668326E-3</c:v>
                </c:pt>
              </c:numCache>
            </c:numRef>
          </c:val>
          <c:extLst>
            <c:ext xmlns:c16="http://schemas.microsoft.com/office/drawing/2014/chart" uri="{C3380CC4-5D6E-409C-BE32-E72D297353CC}">
              <c16:uniqueId val="{0000000C-C7AE-4D57-A955-EB64633129DF}"/>
            </c:ext>
          </c:extLst>
        </c:ser>
        <c:ser>
          <c:idx val="5"/>
          <c:order val="5"/>
          <c:tx>
            <c:strRef>
              <c:f>Sheet1!$G$1</c:f>
              <c:strCache>
                <c:ptCount val="1"/>
                <c:pt idx="0">
                  <c:v>Fireant.vn</c:v>
                </c:pt>
              </c:strCache>
            </c:strRef>
          </c:tx>
          <c:spPr>
            <a:solidFill>
              <a:schemeClr val="accent6"/>
            </a:solidFill>
            <a:ln>
              <a:noFill/>
            </a:ln>
            <a:effectLst/>
          </c:spPr>
          <c:invertIfNegative val="0"/>
          <c:dLbls>
            <c:dLbl>
              <c:idx val="0"/>
              <c:layout>
                <c:manualLayout>
                  <c:x val="0"/>
                  <c:y val="-5.426594414624294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613-4976-9F75-512AFC045423}"/>
                </c:ext>
              </c:extLst>
            </c:dLbl>
            <c:dLbl>
              <c:idx val="3"/>
              <c:layout>
                <c:manualLayout>
                  <c:x val="0"/>
                  <c:y val="-5.4265944146243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2442-421D-9DDC-893154A55FED}"/>
                </c:ext>
              </c:extLst>
            </c:dLbl>
            <c:spPr>
              <a:noFill/>
              <a:ln>
                <a:noFill/>
              </a:ln>
              <a:effectLst/>
            </c:spPr>
            <c:txPr>
              <a:bodyPr rot="0" spcFirstLastPara="1" vertOverflow="ellipsis" vert="horz" wrap="square" anchor="ctr" anchorCtr="1"/>
              <a:lstStyle/>
              <a:p>
                <a:pPr>
                  <a:defRPr lang="en-US" sz="800" b="0" i="0" u="none" strike="noStrike" kern="1200" baseline="0">
                    <a:solidFill>
                      <a:schemeClr val="bg1"/>
                    </a:solidFill>
                    <a:latin typeface="SVN-Product Sans" panose="020B0403030502040203" pitchFamily="34" charset="0"/>
                    <a:ea typeface="+mn-ea"/>
                    <a:cs typeface="+mn-cs"/>
                  </a:defRPr>
                </a:pPr>
                <a:endParaRPr lang="en-V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BIDV</c:v>
                </c:pt>
                <c:pt idx="1">
                  <c:v>ACB Bank</c:v>
                </c:pt>
                <c:pt idx="2">
                  <c:v>Agribank</c:v>
                </c:pt>
                <c:pt idx="3">
                  <c:v>MBBank</c:v>
                </c:pt>
                <c:pt idx="4">
                  <c:v>Techcombank</c:v>
                </c:pt>
                <c:pt idx="5">
                  <c:v>Vietcombank</c:v>
                </c:pt>
                <c:pt idx="6">
                  <c:v>Vietinbank</c:v>
                </c:pt>
                <c:pt idx="7">
                  <c:v>VPBank</c:v>
                </c:pt>
              </c:strCache>
            </c:strRef>
          </c:cat>
          <c:val>
            <c:numRef>
              <c:f>Sheet1!$G$2:$G$9</c:f>
              <c:numCache>
                <c:formatCode>0.0%</c:formatCode>
                <c:ptCount val="8"/>
                <c:pt idx="0">
                  <c:v>7.3073516386182466E-2</c:v>
                </c:pt>
                <c:pt idx="1">
                  <c:v>0.37251036639249541</c:v>
                </c:pt>
                <c:pt idx="2">
                  <c:v>4.3803707506890777E-2</c:v>
                </c:pt>
                <c:pt idx="3">
                  <c:v>0.12174685794084042</c:v>
                </c:pt>
                <c:pt idx="4">
                  <c:v>4.8921532644229541E-2</c:v>
                </c:pt>
                <c:pt idx="5">
                  <c:v>5.8070329357645889E-2</c:v>
                </c:pt>
                <c:pt idx="6">
                  <c:v>0.23584620042385709</c:v>
                </c:pt>
                <c:pt idx="7">
                  <c:v>0.10388972275881565</c:v>
                </c:pt>
              </c:numCache>
            </c:numRef>
          </c:val>
          <c:extLst>
            <c:ext xmlns:c16="http://schemas.microsoft.com/office/drawing/2014/chart" uri="{C3380CC4-5D6E-409C-BE32-E72D297353CC}">
              <c16:uniqueId val="{0000000D-C7AE-4D57-A955-EB64633129DF}"/>
            </c:ext>
          </c:extLst>
        </c:ser>
        <c:ser>
          <c:idx val="6"/>
          <c:order val="6"/>
          <c:tx>
            <c:strRef>
              <c:f>Sheet1!$H$1</c:f>
              <c:strCache>
                <c:ptCount val="1"/>
                <c:pt idx="0">
                  <c:v>Khác (Forum, Threads, App review, v.v)</c:v>
                </c:pt>
              </c:strCache>
            </c:strRef>
          </c:tx>
          <c:spPr>
            <a:solidFill>
              <a:schemeClr val="bg1">
                <a:lumMod val="75000"/>
              </a:schemeClr>
            </a:solidFill>
            <a:ln>
              <a:noFill/>
            </a:ln>
            <a:effectLst/>
          </c:spPr>
          <c:invertIfNegative val="0"/>
          <c:dLbls>
            <c:dLbl>
              <c:idx val="0"/>
              <c:layout>
                <c:manualLayout>
                  <c:x val="0"/>
                  <c:y val="-2.631471000193990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442-421D-9DDC-893154A55FED}"/>
                </c:ext>
              </c:extLst>
            </c:dLbl>
            <c:dLbl>
              <c:idx val="1"/>
              <c:layout>
                <c:manualLayout>
                  <c:x val="1.187063105863668E-3"/>
                  <c:y val="-2.713297207312143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442-421D-9DDC-893154A55FED}"/>
                </c:ext>
              </c:extLst>
            </c:dLbl>
            <c:dLbl>
              <c:idx val="2"/>
              <c:layout>
                <c:manualLayout>
                  <c:x val="1.1870631058636899E-3"/>
                  <c:y val="-2.871950318032616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2442-421D-9DDC-893154A55FED}"/>
                </c:ext>
              </c:extLst>
            </c:dLbl>
            <c:dLbl>
              <c:idx val="3"/>
              <c:layout>
                <c:manualLayout>
                  <c:x val="-4.3525144408819602E-17"/>
                  <c:y val="-3.19707596292140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2442-421D-9DDC-893154A55FED}"/>
                </c:ext>
              </c:extLst>
            </c:dLbl>
            <c:dLbl>
              <c:idx val="4"/>
              <c:layout>
                <c:manualLayout>
                  <c:x val="0"/>
                  <c:y val="-2.157776309796156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442-421D-9DDC-893154A55FED}"/>
                </c:ext>
              </c:extLst>
            </c:dLbl>
            <c:dLbl>
              <c:idx val="5"/>
              <c:layout>
                <c:manualLayout>
                  <c:x val="1.1870631058636027E-3"/>
                  <c:y val="-2.713297207312143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2442-421D-9DDC-893154A55FED}"/>
                </c:ext>
              </c:extLst>
            </c:dLbl>
            <c:dLbl>
              <c:idx val="6"/>
              <c:layout>
                <c:manualLayout>
                  <c:x val="-1.1870631058637769E-3"/>
                  <c:y val="-2.112611661794126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2442-421D-9DDC-893154A55FED}"/>
                </c:ext>
              </c:extLst>
            </c:dLbl>
            <c:dLbl>
              <c:idx val="7"/>
              <c:layout>
                <c:manualLayout>
                  <c:x val="0"/>
                  <c:y val="-2.4592727679818967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A66-407A-955D-F00A19ECD6AF}"/>
                </c:ext>
              </c:extLst>
            </c:dLbl>
            <c:spPr>
              <a:noFill/>
              <a:ln>
                <a:noFill/>
              </a:ln>
              <a:effectLst/>
            </c:spPr>
            <c:txPr>
              <a:bodyPr rot="0" spcFirstLastPara="1" vertOverflow="ellipsis" vert="horz" wrap="square" anchor="ctr" anchorCtr="1"/>
              <a:lstStyle/>
              <a:p>
                <a:pPr>
                  <a:defRPr lang="en-US" sz="800" b="0" i="0" u="none" strike="noStrike" kern="1200" baseline="0">
                    <a:solidFill>
                      <a:schemeClr val="tx1">
                        <a:lumMod val="50000"/>
                        <a:lumOff val="50000"/>
                      </a:schemeClr>
                    </a:solidFill>
                    <a:latin typeface="SVN-Product Sans" panose="020B0403030502040203" pitchFamily="34" charset="0"/>
                    <a:ea typeface="+mn-ea"/>
                    <a:cs typeface="+mn-cs"/>
                  </a:defRPr>
                </a:pPr>
                <a:endParaRPr lang="en-V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BIDV</c:v>
                </c:pt>
                <c:pt idx="1">
                  <c:v>ACB Bank</c:v>
                </c:pt>
                <c:pt idx="2">
                  <c:v>Agribank</c:v>
                </c:pt>
                <c:pt idx="3">
                  <c:v>MBBank</c:v>
                </c:pt>
                <c:pt idx="4">
                  <c:v>Techcombank</c:v>
                </c:pt>
                <c:pt idx="5">
                  <c:v>Vietcombank</c:v>
                </c:pt>
                <c:pt idx="6">
                  <c:v>Vietinbank</c:v>
                </c:pt>
                <c:pt idx="7">
                  <c:v>VPBank</c:v>
                </c:pt>
              </c:strCache>
            </c:strRef>
          </c:cat>
          <c:val>
            <c:numRef>
              <c:f>Sheet1!$H$2:$H$9</c:f>
              <c:numCache>
                <c:formatCode>0.0%</c:formatCode>
                <c:ptCount val="8"/>
                <c:pt idx="0">
                  <c:v>4.0091371031653533E-3</c:v>
                </c:pt>
                <c:pt idx="1">
                  <c:v>3.9426279654680178E-3</c:v>
                </c:pt>
                <c:pt idx="2">
                  <c:v>1.1079284440361024E-3</c:v>
                </c:pt>
                <c:pt idx="3">
                  <c:v>2.268207016207524E-3</c:v>
                </c:pt>
                <c:pt idx="4">
                  <c:v>3.8068574647694975E-3</c:v>
                </c:pt>
                <c:pt idx="5">
                  <c:v>4.5763877362293408E-3</c:v>
                </c:pt>
                <c:pt idx="6">
                  <c:v>1.897265112523968E-3</c:v>
                </c:pt>
                <c:pt idx="7">
                  <c:v>4.3144355224101613E-3</c:v>
                </c:pt>
              </c:numCache>
            </c:numRef>
          </c:val>
          <c:extLst>
            <c:ext xmlns:c16="http://schemas.microsoft.com/office/drawing/2014/chart" uri="{C3380CC4-5D6E-409C-BE32-E72D297353CC}">
              <c16:uniqueId val="{00000000-A32A-4AC3-97A6-265C8037B347}"/>
            </c:ext>
          </c:extLst>
        </c:ser>
        <c:dLbls>
          <c:dLblPos val="ctr"/>
          <c:showLegendKey val="0"/>
          <c:showVal val="1"/>
          <c:showCatName val="0"/>
          <c:showSerName val="0"/>
          <c:showPercent val="0"/>
          <c:showBubbleSize val="0"/>
        </c:dLbls>
        <c:gapWidth val="150"/>
        <c:overlap val="100"/>
        <c:axId val="961743151"/>
        <c:axId val="1351560175"/>
      </c:barChart>
      <c:catAx>
        <c:axId val="961743151"/>
        <c:scaling>
          <c:orientation val="minMax"/>
        </c:scaling>
        <c:delete val="1"/>
        <c:axPos val="b"/>
        <c:numFmt formatCode="General" sourceLinked="1"/>
        <c:majorTickMark val="none"/>
        <c:minorTickMark val="none"/>
        <c:tickLblPos val="nextTo"/>
        <c:crossAx val="1351560175"/>
        <c:crosses val="autoZero"/>
        <c:auto val="1"/>
        <c:lblAlgn val="ctr"/>
        <c:lblOffset val="100"/>
        <c:noMultiLvlLbl val="0"/>
      </c:catAx>
      <c:valAx>
        <c:axId val="1351560175"/>
        <c:scaling>
          <c:orientation val="minMax"/>
        </c:scaling>
        <c:delete val="1"/>
        <c:axPos val="l"/>
        <c:numFmt formatCode="0%" sourceLinked="1"/>
        <c:majorTickMark val="none"/>
        <c:minorTickMark val="none"/>
        <c:tickLblPos val="nextTo"/>
        <c:crossAx val="961743151"/>
        <c:crosses val="autoZero"/>
        <c:crossBetween val="between"/>
      </c:valAx>
      <c:spPr>
        <a:noFill/>
        <a:ln w="25400">
          <a:noFill/>
        </a:ln>
        <a:effectLst/>
      </c:spPr>
    </c:plotArea>
    <c:legend>
      <c:legendPos val="r"/>
      <c:layout>
        <c:manualLayout>
          <c:xMode val="edge"/>
          <c:yMode val="edge"/>
          <c:x val="0.88366968501607635"/>
          <c:y val="4.8839349731618589E-2"/>
          <c:w val="0.11633031498392371"/>
          <c:h val="0.81996525270411036"/>
        </c:manualLayout>
      </c:layout>
      <c:overlay val="0"/>
      <c:spPr>
        <a:noFill/>
        <a:ln>
          <a:noFill/>
        </a:ln>
        <a:effectLst/>
      </c:spPr>
      <c:txPr>
        <a:bodyPr rot="0" spcFirstLastPara="1" vertOverflow="ellipsis" vert="horz" wrap="square" anchor="ctr" anchorCtr="1"/>
        <a:lstStyle/>
        <a:p>
          <a:pPr>
            <a:defRPr lang="en-US" sz="800" b="0" i="0" u="none" strike="noStrike" kern="1200" baseline="0">
              <a:solidFill>
                <a:schemeClr val="tx1">
                  <a:lumMod val="50000"/>
                  <a:lumOff val="50000"/>
                </a:schemeClr>
              </a:solidFill>
              <a:latin typeface="SVN-Product Sans" panose="020B0403030502040203" pitchFamily="34" charset="0"/>
              <a:ea typeface="+mn-ea"/>
              <a:cs typeface="+mn-cs"/>
            </a:defRPr>
          </a:pPr>
          <a:endParaRPr lang="en-V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800" kern="1200">
          <a:solidFill>
            <a:schemeClr val="bg1"/>
          </a:solidFill>
          <a:latin typeface="SVN-Product Sans" panose="020B0403030502040203" pitchFamily="34" charset="0"/>
          <a:ea typeface="+mn-ea"/>
          <a:cs typeface="+mn-cs"/>
        </a:defRPr>
      </a:pPr>
      <a:endParaRPr lang="en-V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3672164463832226E-2"/>
          <c:y val="6.9114410393439032E-2"/>
          <c:w val="0.93632783553616772"/>
          <c:h val="0.93088558960656098"/>
        </c:manualLayout>
      </c:layout>
      <c:barChart>
        <c:barDir val="col"/>
        <c:grouping val="percentStacked"/>
        <c:varyColors val="0"/>
        <c:ser>
          <c:idx val="0"/>
          <c:order val="0"/>
          <c:tx>
            <c:strRef>
              <c:f>Sheet1!$B$1</c:f>
              <c:strCache>
                <c:ptCount val="1"/>
                <c:pt idx="0">
                  <c:v>Positive</c:v>
                </c:pt>
              </c:strCache>
            </c:strRef>
          </c:tx>
          <c:spPr>
            <a:solidFill>
              <a:srgbClr val="00B050"/>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SVN-Product Sans" panose="020B0403030502040203" pitchFamily="34" charset="0"/>
                    <a:ea typeface="+mn-ea"/>
                    <a:cs typeface="Arial" panose="020B0604020202020204" pitchFamily="34" charset="0"/>
                  </a:defRPr>
                </a:pPr>
                <a:endParaRPr lang="en-V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BIDV</c:v>
                </c:pt>
                <c:pt idx="1">
                  <c:v>ACB Bank</c:v>
                </c:pt>
                <c:pt idx="2">
                  <c:v>Agribank</c:v>
                </c:pt>
                <c:pt idx="3">
                  <c:v>MBBank</c:v>
                </c:pt>
                <c:pt idx="4">
                  <c:v>Techcombank</c:v>
                </c:pt>
                <c:pt idx="5">
                  <c:v>Vietcombank</c:v>
                </c:pt>
                <c:pt idx="6">
                  <c:v>Vietinbank</c:v>
                </c:pt>
                <c:pt idx="7">
                  <c:v>VPBank</c:v>
                </c:pt>
              </c:strCache>
            </c:strRef>
          </c:cat>
          <c:val>
            <c:numRef>
              <c:f>Sheet1!$B$2:$B$9</c:f>
              <c:numCache>
                <c:formatCode>0.0%</c:formatCode>
                <c:ptCount val="8"/>
                <c:pt idx="0">
                  <c:v>0.22452471322277995</c:v>
                </c:pt>
                <c:pt idx="1">
                  <c:v>0.15176645066815694</c:v>
                </c:pt>
                <c:pt idx="2">
                  <c:v>0.11774798613528242</c:v>
                </c:pt>
                <c:pt idx="3">
                  <c:v>0.20189102370538373</c:v>
                </c:pt>
                <c:pt idx="4">
                  <c:v>9.5153828049259426E-2</c:v>
                </c:pt>
                <c:pt idx="5">
                  <c:v>8.3508501081336145E-2</c:v>
                </c:pt>
                <c:pt idx="6">
                  <c:v>3.8508836830782274E-2</c:v>
                </c:pt>
                <c:pt idx="7">
                  <c:v>0.25775092150701789</c:v>
                </c:pt>
              </c:numCache>
            </c:numRef>
          </c:val>
          <c:extLst>
            <c:ext xmlns:c16="http://schemas.microsoft.com/office/drawing/2014/chart" uri="{C3380CC4-5D6E-409C-BE32-E72D297353CC}">
              <c16:uniqueId val="{00000001-68F8-40C8-B327-9FDD64E805F3}"/>
            </c:ext>
          </c:extLst>
        </c:ser>
        <c:ser>
          <c:idx val="1"/>
          <c:order val="1"/>
          <c:tx>
            <c:strRef>
              <c:f>Sheet1!$C$1</c:f>
              <c:strCache>
                <c:ptCount val="1"/>
                <c:pt idx="0">
                  <c:v>Neutral</c:v>
                </c:pt>
              </c:strCache>
            </c:strRef>
          </c:tx>
          <c:spPr>
            <a:solidFill>
              <a:srgbClr val="BFBFBF"/>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SVN-Product Sans" panose="020B0403030502040203" pitchFamily="34" charset="0"/>
                    <a:ea typeface="+mn-ea"/>
                    <a:cs typeface="Arial" panose="020B0604020202020204" pitchFamily="34" charset="0"/>
                  </a:defRPr>
                </a:pPr>
                <a:endParaRPr lang="en-V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BIDV</c:v>
                </c:pt>
                <c:pt idx="1">
                  <c:v>ACB Bank</c:v>
                </c:pt>
                <c:pt idx="2">
                  <c:v>Agribank</c:v>
                </c:pt>
                <c:pt idx="3">
                  <c:v>MBBank</c:v>
                </c:pt>
                <c:pt idx="4">
                  <c:v>Techcombank</c:v>
                </c:pt>
                <c:pt idx="5">
                  <c:v>Vietcombank</c:v>
                </c:pt>
                <c:pt idx="6">
                  <c:v>Vietinbank</c:v>
                </c:pt>
                <c:pt idx="7">
                  <c:v>VPBank</c:v>
                </c:pt>
              </c:strCache>
            </c:strRef>
          </c:cat>
          <c:val>
            <c:numRef>
              <c:f>Sheet1!$C$2:$C$9</c:f>
              <c:numCache>
                <c:formatCode>0.0%</c:formatCode>
                <c:ptCount val="8"/>
                <c:pt idx="0">
                  <c:v>0.7142879543327374</c:v>
                </c:pt>
                <c:pt idx="1">
                  <c:v>0.81837310199863711</c:v>
                </c:pt>
                <c:pt idx="2">
                  <c:v>0.84978215592034612</c:v>
                </c:pt>
                <c:pt idx="3">
                  <c:v>0.78164126375787213</c:v>
                </c:pt>
                <c:pt idx="4">
                  <c:v>0.89591165647399462</c:v>
                </c:pt>
                <c:pt idx="5">
                  <c:v>0.88056598986310264</c:v>
                </c:pt>
                <c:pt idx="6">
                  <c:v>0.951848552011339</c:v>
                </c:pt>
                <c:pt idx="7">
                  <c:v>0.73415328324931528</c:v>
                </c:pt>
              </c:numCache>
            </c:numRef>
          </c:val>
          <c:extLst>
            <c:ext xmlns:c16="http://schemas.microsoft.com/office/drawing/2014/chart" uri="{C3380CC4-5D6E-409C-BE32-E72D297353CC}">
              <c16:uniqueId val="{00000002-68F8-40C8-B327-9FDD64E805F3}"/>
            </c:ext>
          </c:extLst>
        </c:ser>
        <c:ser>
          <c:idx val="2"/>
          <c:order val="2"/>
          <c:tx>
            <c:strRef>
              <c:f>Sheet1!$D$1</c:f>
              <c:strCache>
                <c:ptCount val="1"/>
                <c:pt idx="0">
                  <c:v>Negative</c:v>
                </c:pt>
              </c:strCache>
            </c:strRef>
          </c:tx>
          <c:spPr>
            <a:solidFill>
              <a:srgbClr val="C00000"/>
            </a:solidFill>
            <a:ln>
              <a:noFill/>
            </a:ln>
            <a:effectLst/>
          </c:spPr>
          <c:invertIfNegative val="0"/>
          <c:dLbls>
            <c:dLbl>
              <c:idx val="0"/>
              <c:layout>
                <c:manualLayout>
                  <c:x val="0"/>
                  <c:y val="-2.4531037073737015E-2"/>
                </c:manualLayout>
              </c:layout>
              <c:tx>
                <c:rich>
                  <a:bodyPr/>
                  <a:lstStyle/>
                  <a:p>
                    <a:fld id="{05D08025-8F9A-40DF-947D-914811097E58}" type="VALUE">
                      <a:rPr lang="en-US"/>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9842-4380-BF0F-4AA7E6B4F326}"/>
                </c:ext>
              </c:extLst>
            </c:dLbl>
            <c:dLbl>
              <c:idx val="2"/>
              <c:tx>
                <c:rich>
                  <a:bodyPr rot="0" spcFirstLastPara="1" vertOverflow="ellipsis" vert="horz" wrap="square" anchor="ctr" anchorCtr="1"/>
                  <a:lstStyle/>
                  <a:p>
                    <a:pPr>
                      <a:defRPr sz="1000" b="0" i="0" u="none" strike="noStrike" kern="1200" baseline="0">
                        <a:solidFill>
                          <a:schemeClr val="bg1"/>
                        </a:solidFill>
                        <a:latin typeface="SVN-Product Sans" panose="020B0403030502040203" pitchFamily="34" charset="0"/>
                        <a:ea typeface="+mn-ea"/>
                        <a:cs typeface="Arial" panose="020B0604020202020204" pitchFamily="34" charset="0"/>
                      </a:defRPr>
                    </a:pPr>
                    <a:fld id="{033118BB-AC13-4EF1-928B-4758896C9CE7}" type="VALUE">
                      <a:rPr lang="en-US"/>
                      <a:pPr>
                        <a:defRPr>
                          <a:solidFill>
                            <a:schemeClr val="bg1"/>
                          </a:solidFill>
                        </a:defRPr>
                      </a:pPr>
                      <a:t>[VALUE]</a:t>
                    </a:fld>
                    <a:endParaRPr lang="en-US"/>
                  </a:p>
                </c:rich>
              </c:tx>
              <c:numFmt formatCode="0.0%" sourceLinked="0"/>
              <c:spPr>
                <a:solidFill>
                  <a:srgbClr val="C00000"/>
                </a:solidFill>
                <a:ln>
                  <a:noFill/>
                </a:ln>
                <a:effectLst/>
              </c:spPr>
              <c:txPr>
                <a:bodyPr rot="0" spcFirstLastPara="1" vertOverflow="ellipsis" vert="horz" wrap="square" anchor="ctr" anchorCtr="1"/>
                <a:lstStyle/>
                <a:p>
                  <a:pPr>
                    <a:defRPr sz="1000" b="0" i="0" u="none" strike="noStrike" kern="1200" baseline="0">
                      <a:solidFill>
                        <a:schemeClr val="bg1"/>
                      </a:solidFill>
                      <a:latin typeface="SVN-Product Sans" panose="020B0403030502040203" pitchFamily="34" charset="0"/>
                      <a:ea typeface="+mn-ea"/>
                      <a:cs typeface="Arial" panose="020B0604020202020204"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4123-4D53-B21B-867648DF8868}"/>
                </c:ext>
              </c:extLst>
            </c:dLbl>
            <c:dLbl>
              <c:idx val="3"/>
              <c:layout>
                <c:manualLayout>
                  <c:x val="0"/>
                  <c:y val="-1.6044184485893863E-2"/>
                </c:manualLayout>
              </c:layout>
              <c:tx>
                <c:rich>
                  <a:bodyPr/>
                  <a:lstStyle/>
                  <a:p>
                    <a:fld id="{19641401-E441-4333-9C68-E13E838614B5}" type="VALUE">
                      <a:rPr lang="en-US"/>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9842-4380-BF0F-4AA7E6B4F326}"/>
                </c:ext>
              </c:extLst>
            </c:dLbl>
            <c:spPr>
              <a:solidFill>
                <a:srgbClr val="C00000"/>
              </a:solidFill>
              <a:ln>
                <a:noFill/>
              </a:ln>
              <a:effectLst/>
            </c:spPr>
            <c:txPr>
              <a:bodyPr rot="0" spcFirstLastPara="1" vertOverflow="ellipsis" vert="horz" wrap="square" anchor="ctr" anchorCtr="1"/>
              <a:lstStyle/>
              <a:p>
                <a:pPr>
                  <a:defRPr sz="1000" b="0" i="0" u="none" strike="noStrike" kern="1200" baseline="0">
                    <a:solidFill>
                      <a:schemeClr val="bg1"/>
                    </a:solidFill>
                    <a:latin typeface="SVN-Product Sans" panose="020B0403030502040203" pitchFamily="34" charset="0"/>
                    <a:ea typeface="+mn-ea"/>
                    <a:cs typeface="Arial" panose="020B0604020202020204" pitchFamily="34" charset="0"/>
                  </a:defRPr>
                </a:pPr>
                <a:endParaRPr lang="en-V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BIDV</c:v>
                </c:pt>
                <c:pt idx="1">
                  <c:v>ACB Bank</c:v>
                </c:pt>
                <c:pt idx="2">
                  <c:v>Agribank</c:v>
                </c:pt>
                <c:pt idx="3">
                  <c:v>MBBank</c:v>
                </c:pt>
                <c:pt idx="4">
                  <c:v>Techcombank</c:v>
                </c:pt>
                <c:pt idx="5">
                  <c:v>Vietcombank</c:v>
                </c:pt>
                <c:pt idx="6">
                  <c:v>Vietinbank</c:v>
                </c:pt>
                <c:pt idx="7">
                  <c:v>VPBank</c:v>
                </c:pt>
              </c:strCache>
            </c:strRef>
          </c:cat>
          <c:val>
            <c:numRef>
              <c:f>Sheet1!$D$2:$D$9</c:f>
              <c:numCache>
                <c:formatCode>0.0%</c:formatCode>
                <c:ptCount val="8"/>
                <c:pt idx="0">
                  <c:v>6.1187332444482677E-2</c:v>
                </c:pt>
                <c:pt idx="1">
                  <c:v>2.9860447333205888E-2</c:v>
                </c:pt>
                <c:pt idx="2">
                  <c:v>3.2469857944371495E-2</c:v>
                </c:pt>
                <c:pt idx="3">
                  <c:v>1.6467712536744176E-2</c:v>
                </c:pt>
                <c:pt idx="4">
                  <c:v>8.9345154767459939E-3</c:v>
                </c:pt>
                <c:pt idx="5">
                  <c:v>3.5925509055561237E-2</c:v>
                </c:pt>
                <c:pt idx="6">
                  <c:v>9.6426111578786257E-3</c:v>
                </c:pt>
                <c:pt idx="7">
                  <c:v>8.0957952436667216E-3</c:v>
                </c:pt>
              </c:numCache>
            </c:numRef>
          </c:val>
          <c:extLst>
            <c:ext xmlns:c16="http://schemas.microsoft.com/office/drawing/2014/chart" uri="{C3380CC4-5D6E-409C-BE32-E72D297353CC}">
              <c16:uniqueId val="{00000003-68F8-40C8-B327-9FDD64E805F3}"/>
            </c:ext>
          </c:extLst>
        </c:ser>
        <c:dLbls>
          <c:showLegendKey val="0"/>
          <c:showVal val="0"/>
          <c:showCatName val="0"/>
          <c:showSerName val="0"/>
          <c:showPercent val="0"/>
          <c:showBubbleSize val="0"/>
        </c:dLbls>
        <c:gapWidth val="150"/>
        <c:overlap val="100"/>
        <c:axId val="-326465904"/>
        <c:axId val="-326470800"/>
      </c:barChart>
      <c:catAx>
        <c:axId val="-326465904"/>
        <c:scaling>
          <c:orientation val="minMax"/>
        </c:scaling>
        <c:delete val="1"/>
        <c:axPos val="b"/>
        <c:numFmt formatCode="General" sourceLinked="1"/>
        <c:majorTickMark val="out"/>
        <c:minorTickMark val="none"/>
        <c:tickLblPos val="nextTo"/>
        <c:crossAx val="-326470800"/>
        <c:crosses val="autoZero"/>
        <c:auto val="1"/>
        <c:lblAlgn val="ctr"/>
        <c:lblOffset val="100"/>
        <c:noMultiLvlLbl val="0"/>
      </c:catAx>
      <c:valAx>
        <c:axId val="-326470800"/>
        <c:scaling>
          <c:orientation val="minMax"/>
        </c:scaling>
        <c:delete val="1"/>
        <c:axPos val="l"/>
        <c:numFmt formatCode="0%" sourceLinked="1"/>
        <c:majorTickMark val="none"/>
        <c:minorTickMark val="none"/>
        <c:tickLblPos val="nextTo"/>
        <c:crossAx val="-326465904"/>
        <c:crosses val="autoZero"/>
        <c:crossBetween val="between"/>
        <c:majorUnit val="0.2"/>
      </c:valAx>
      <c:spPr>
        <a:noFill/>
        <a:ln>
          <a:noFill/>
        </a:ln>
        <a:effectLst/>
      </c:spPr>
    </c:plotArea>
    <c:legend>
      <c:legendPos val="r"/>
      <c:layout>
        <c:manualLayout>
          <c:xMode val="edge"/>
          <c:yMode val="edge"/>
          <c:x val="3.5575394984489754E-3"/>
          <c:y val="0.12412076996551166"/>
          <c:w val="6.4249073892674508E-2"/>
          <c:h val="0.73335969936924317"/>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SVN-Product Sans" panose="020B0403030502040203" pitchFamily="34" charset="0"/>
              <a:ea typeface="+mn-ea"/>
              <a:cs typeface="Arial" panose="020B0604020202020204" pitchFamily="34" charset="0"/>
            </a:defRPr>
          </a:pPr>
          <a:endParaRPr lang="en-VN"/>
        </a:p>
      </c:txPr>
    </c:legend>
    <c:plotVisOnly val="1"/>
    <c:dispBlanksAs val="gap"/>
    <c:showDLblsOverMax val="0"/>
  </c:chart>
  <c:spPr>
    <a:noFill/>
    <a:ln>
      <a:noFill/>
    </a:ln>
    <a:effectLst/>
  </c:spPr>
  <c:txPr>
    <a:bodyPr/>
    <a:lstStyle/>
    <a:p>
      <a:pPr>
        <a:defRPr sz="1000">
          <a:latin typeface="SVN-Product Sans" panose="020B0403030502040203" pitchFamily="34" charset="0"/>
          <a:cs typeface="Arial" panose="020B0604020202020204" pitchFamily="34" charset="0"/>
        </a:defRPr>
      </a:pPr>
      <a:endParaRPr lang="en-V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61A02C-097F-4564-8C9D-76B999CF81BC}" type="datetimeFigureOut">
              <a:rPr lang="en-US" smtClean="0"/>
              <a:t>3/17/2026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E1755E-5FF8-4FE7-96D0-FCE8C9859051}" type="slidenum">
              <a:rPr lang="en-US" smtClean="0"/>
              <a:t>‹#›</a:t>
            </a:fld>
            <a:endParaRPr lang="en-US"/>
          </a:p>
        </p:txBody>
      </p:sp>
    </p:spTree>
    <p:extLst>
      <p:ext uri="{BB962C8B-B14F-4D97-AF65-F5344CB8AC3E}">
        <p14:creationId xmlns:p14="http://schemas.microsoft.com/office/powerpoint/2010/main" val="1512596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Slide Number Placeholder 1">
            <a:extLst>
              <a:ext uri="{FF2B5EF4-FFF2-40B4-BE49-F238E27FC236}">
                <a16:creationId xmlns:a16="http://schemas.microsoft.com/office/drawing/2014/main" id="{136EDD94-0811-4ECE-BF52-7FF1D5F0FA29}"/>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Slide Number Placeholder 1">
            <a:extLst>
              <a:ext uri="{FF2B5EF4-FFF2-40B4-BE49-F238E27FC236}">
                <a16:creationId xmlns:a16="http://schemas.microsoft.com/office/drawing/2014/main" id="{CC626BAD-C5A4-48BA-8884-D7B8F2BAA0E1}"/>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a:t>
            </a:fld>
            <a:endParaRPr kumimoji="0" lang="en-US"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761412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9" name="Google Shape;54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Slide Number Placeholder 1">
            <a:extLst>
              <a:ext uri="{FF2B5EF4-FFF2-40B4-BE49-F238E27FC236}">
                <a16:creationId xmlns:a16="http://schemas.microsoft.com/office/drawing/2014/main" id="{C331881F-E240-44F8-8507-E6654A66D633}"/>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a:t>
            </a:fld>
            <a:endParaRPr kumimoji="0" lang="en-US"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790789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4" name="Google Shape;584;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E5366A5C-8C74-47C9-BB13-DCB4DB176EA8}"/>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a:t>
            </a:fld>
            <a:endParaRPr kumimoji="0" lang="en-US"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480393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0" name="Google Shape;680;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F411455E-F155-4A07-83FE-A8E2DA6A5769}"/>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lang="en-US"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206614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7"/>
        <p:cNvGrpSpPr/>
        <p:nvPr/>
      </p:nvGrpSpPr>
      <p:grpSpPr>
        <a:xfrm>
          <a:off x="0" y="0"/>
          <a:ext cx="0" cy="0"/>
          <a:chOff x="0" y="0"/>
          <a:chExt cx="0" cy="0"/>
        </a:xfrm>
      </p:grpSpPr>
      <p:sp>
        <p:nvSpPr>
          <p:cNvPr id="2718" name="Google Shape;2718;p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9" name="Google Shape;2719;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87521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5" name="Google Shape;955;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Slide Number Placeholder 1">
            <a:extLst>
              <a:ext uri="{FF2B5EF4-FFF2-40B4-BE49-F238E27FC236}">
                <a16:creationId xmlns:a16="http://schemas.microsoft.com/office/drawing/2014/main" id="{28659E18-0863-4CEC-BDC6-7FB2CC6D8BAE}"/>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lang="en-US"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pic>
        <p:nvPicPr>
          <p:cNvPr id="16" name="Google Shape;16;p52"/>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7" name="Google Shape;17;p52"/>
          <p:cNvPicPr preferRelativeResize="0"/>
          <p:nvPr/>
        </p:nvPicPr>
        <p:blipFill rotWithShape="1">
          <a:blip r:embed="rId3">
            <a:alphaModFix/>
          </a:blip>
          <a:srcRect/>
          <a:stretch/>
        </p:blipFill>
        <p:spPr>
          <a:xfrm>
            <a:off x="317249" y="259784"/>
            <a:ext cx="2667000" cy="508000"/>
          </a:xfrm>
          <a:prstGeom prst="rect">
            <a:avLst/>
          </a:prstGeom>
          <a:noFill/>
          <a:ln>
            <a:noFill/>
          </a:ln>
        </p:spPr>
      </p:pic>
    </p:spTree>
    <p:extLst>
      <p:ext uri="{BB962C8B-B14F-4D97-AF65-F5344CB8AC3E}">
        <p14:creationId xmlns:p14="http://schemas.microsoft.com/office/powerpoint/2010/main" val="1026442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userDrawn="1">
  <p:cSld name="Section Header">
    <p:spTree>
      <p:nvGrpSpPr>
        <p:cNvPr id="1" name="Shape 18"/>
        <p:cNvGrpSpPr/>
        <p:nvPr/>
      </p:nvGrpSpPr>
      <p:grpSpPr>
        <a:xfrm>
          <a:off x="0" y="0"/>
          <a:ext cx="0" cy="0"/>
          <a:chOff x="0" y="0"/>
          <a:chExt cx="0" cy="0"/>
        </a:xfrm>
      </p:grpSpPr>
      <p:pic>
        <p:nvPicPr>
          <p:cNvPr id="19" name="Google Shape;19;p53"/>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0" name="Google Shape;20;p53"/>
          <p:cNvSpPr txBox="1"/>
          <p:nvPr/>
        </p:nvSpPr>
        <p:spPr>
          <a:xfrm>
            <a:off x="11083730" y="6587324"/>
            <a:ext cx="1108270" cy="2307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58595B"/>
              </a:buClr>
              <a:buSzPts val="1050"/>
              <a:buFont typeface="Arial"/>
              <a:buNone/>
            </a:pPr>
            <a:r>
              <a:rPr lang="en-US" sz="900" b="0" i="0" u="none" strike="noStrike" cap="none">
                <a:solidFill>
                  <a:srgbClr val="58595B"/>
                </a:solidFill>
                <a:latin typeface="SVN-Product Sans" panose="020B0403030502040203" pitchFamily="34" charset="0"/>
                <a:ea typeface="Arial"/>
                <a:cs typeface="Arial"/>
                <a:sym typeface="Arial"/>
              </a:rPr>
              <a:t>Trang  </a:t>
            </a:r>
            <a:fld id="{00000000-1234-1234-1234-123412341234}" type="slidenum">
              <a:rPr lang="en-US" sz="900" b="0" i="0" u="none" strike="noStrike" cap="none">
                <a:solidFill>
                  <a:srgbClr val="58595B"/>
                </a:solidFill>
                <a:latin typeface="SVN-Product Sans" panose="020B0403030502040203" pitchFamily="34" charset="0"/>
                <a:ea typeface="Arial"/>
                <a:cs typeface="Arial"/>
                <a:sym typeface="Arial"/>
              </a:rPr>
              <a:t>‹#›</a:t>
            </a:fld>
            <a:endParaRPr sz="900" b="0" i="0" u="none" strike="noStrike" cap="none">
              <a:solidFill>
                <a:srgbClr val="58595B"/>
              </a:solidFill>
              <a:latin typeface="SVN-Product Sans" panose="020B0403030502040203" pitchFamily="34" charset="0"/>
              <a:ea typeface="Arial"/>
              <a:cs typeface="Arial"/>
              <a:sym typeface="Arial"/>
            </a:endParaRPr>
          </a:p>
        </p:txBody>
      </p:sp>
      <p:sp>
        <p:nvSpPr>
          <p:cNvPr id="21" name="Google Shape;21;p53"/>
          <p:cNvSpPr txBox="1">
            <a:spLocks noGrp="1"/>
          </p:cNvSpPr>
          <p:nvPr>
            <p:ph type="title"/>
          </p:nvPr>
        </p:nvSpPr>
        <p:spPr>
          <a:xfrm>
            <a:off x="2068154" y="147389"/>
            <a:ext cx="9953993" cy="45982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6B68"/>
              </a:buClr>
              <a:buSzPts val="2400"/>
              <a:buFont typeface="Arial"/>
              <a:buNone/>
              <a:defRPr sz="2400" b="1">
                <a:solidFill>
                  <a:srgbClr val="006B68"/>
                </a:solidFill>
                <a:latin typeface="SVN-Product Sans" panose="020B0403030502040203" pitchFamily="34" charset="0"/>
                <a:ea typeface="SVN-Product Sans" panose="020B0403030502040203" pitchFamily="34" charset="0"/>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 name="Google Shape;149;p6">
            <a:extLst>
              <a:ext uri="{FF2B5EF4-FFF2-40B4-BE49-F238E27FC236}">
                <a16:creationId xmlns:a16="http://schemas.microsoft.com/office/drawing/2014/main" id="{6CF60E07-8AAA-4FE7-7D92-CD43C79A1ED1}"/>
              </a:ext>
            </a:extLst>
          </p:cNvPr>
          <p:cNvSpPr txBox="1"/>
          <p:nvPr userDrawn="1"/>
        </p:nvSpPr>
        <p:spPr>
          <a:xfrm>
            <a:off x="163791" y="6565182"/>
            <a:ext cx="3563007" cy="2539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00" b="0" i="1" u="none" strike="noStrike" cap="none" dirty="0" err="1">
                <a:solidFill>
                  <a:srgbClr val="000000"/>
                </a:solidFill>
                <a:latin typeface="SVN-Product Sans" panose="020B0403030502040203" pitchFamily="34" charset="0"/>
                <a:sym typeface="Arial"/>
              </a:rPr>
              <a:t>Dữ</a:t>
            </a:r>
            <a:r>
              <a:rPr lang="en-US" sz="1000" b="0" i="1" u="none" strike="noStrike" cap="none" dirty="0">
                <a:solidFill>
                  <a:srgbClr val="000000"/>
                </a:solidFill>
                <a:latin typeface="SVN-Product Sans" panose="020B0403030502040203" pitchFamily="34" charset="0"/>
                <a:sym typeface="Arial"/>
              </a:rPr>
              <a:t> </a:t>
            </a:r>
            <a:r>
              <a:rPr lang="en-US" sz="1000" b="0" i="1" u="none" strike="noStrike" cap="none" dirty="0" err="1">
                <a:solidFill>
                  <a:srgbClr val="000000"/>
                </a:solidFill>
                <a:latin typeface="SVN-Product Sans" panose="020B0403030502040203" pitchFamily="34" charset="0"/>
                <a:sym typeface="Arial"/>
              </a:rPr>
              <a:t>liệu</a:t>
            </a:r>
            <a:r>
              <a:rPr lang="en-US" sz="1000" b="0" i="1" u="none" strike="noStrike" cap="none" dirty="0">
                <a:solidFill>
                  <a:srgbClr val="000000"/>
                </a:solidFill>
                <a:latin typeface="SVN-Product Sans" panose="020B0403030502040203" pitchFamily="34" charset="0"/>
                <a:sym typeface="Arial"/>
              </a:rPr>
              <a:t> </a:t>
            </a:r>
            <a:r>
              <a:rPr lang="en-US" sz="1000" b="0" i="1" u="none" strike="noStrike" cap="none" dirty="0" err="1">
                <a:solidFill>
                  <a:srgbClr val="000000"/>
                </a:solidFill>
                <a:latin typeface="SVN-Product Sans" panose="020B0403030502040203" pitchFamily="34" charset="0"/>
                <a:sym typeface="Arial"/>
              </a:rPr>
              <a:t>từ</a:t>
            </a:r>
            <a:r>
              <a:rPr lang="en-US" sz="1000" b="0" i="1" u="none" strike="noStrike" cap="none" dirty="0">
                <a:solidFill>
                  <a:srgbClr val="000000"/>
                </a:solidFill>
                <a:latin typeface="SVN-Product Sans" panose="020B0403030502040203" pitchFamily="34" charset="0"/>
                <a:sym typeface="Arial"/>
              </a:rPr>
              <a:t> </a:t>
            </a:r>
            <a:r>
              <a:rPr lang="en-US" sz="1000" b="0" i="1" u="none" strike="noStrike" cap="none" dirty="0" err="1">
                <a:solidFill>
                  <a:srgbClr val="000000"/>
                </a:solidFill>
                <a:latin typeface="SVN-Product Sans" panose="020B0403030502040203" pitchFamily="34" charset="0"/>
                <a:sym typeface="Arial"/>
              </a:rPr>
              <a:t>ngày</a:t>
            </a:r>
            <a:r>
              <a:rPr lang="en-US" sz="1000" b="0" i="1" u="none" strike="noStrike" cap="none" dirty="0">
                <a:solidFill>
                  <a:srgbClr val="000000"/>
                </a:solidFill>
                <a:latin typeface="SVN-Product Sans" panose="020B0403030502040203" pitchFamily="34" charset="0"/>
                <a:sym typeface="Arial"/>
              </a:rPr>
              <a:t> 16.06.2025 </a:t>
            </a:r>
            <a:r>
              <a:rPr lang="en-US" sz="1000" b="0" i="1" u="none" strike="noStrike" cap="none" dirty="0" err="1">
                <a:solidFill>
                  <a:srgbClr val="000000"/>
                </a:solidFill>
                <a:latin typeface="SVN-Product Sans" panose="020B0403030502040203" pitchFamily="34" charset="0"/>
                <a:sym typeface="Arial"/>
              </a:rPr>
              <a:t>đến</a:t>
            </a:r>
            <a:r>
              <a:rPr lang="en-US" sz="1000" b="0" i="1" u="none" strike="noStrike" cap="none" dirty="0">
                <a:solidFill>
                  <a:srgbClr val="000000"/>
                </a:solidFill>
                <a:latin typeface="SVN-Product Sans" panose="020B0403030502040203" pitchFamily="34" charset="0"/>
                <a:sym typeface="Arial"/>
              </a:rPr>
              <a:t> </a:t>
            </a:r>
            <a:r>
              <a:rPr lang="en-US" sz="1000" b="0" i="1" u="none" strike="noStrike" cap="none" dirty="0" err="1">
                <a:solidFill>
                  <a:srgbClr val="000000"/>
                </a:solidFill>
                <a:latin typeface="SVN-Product Sans" panose="020B0403030502040203" pitchFamily="34" charset="0"/>
                <a:sym typeface="Arial"/>
              </a:rPr>
              <a:t>ngày</a:t>
            </a:r>
            <a:r>
              <a:rPr lang="en-US" sz="1000" b="0" i="1" u="none" strike="noStrike" cap="none" dirty="0">
                <a:solidFill>
                  <a:srgbClr val="000000"/>
                </a:solidFill>
                <a:latin typeface="SVN-Product Sans" panose="020B0403030502040203" pitchFamily="34" charset="0"/>
                <a:sym typeface="Arial"/>
              </a:rPr>
              <a:t> </a:t>
            </a:r>
            <a:r>
              <a:rPr lang="en-US" sz="1000" i="1" dirty="0">
                <a:latin typeface="SVN-Product Sans" panose="020B0403030502040203" pitchFamily="34" charset="0"/>
              </a:rPr>
              <a:t>15</a:t>
            </a:r>
            <a:r>
              <a:rPr lang="en-US" sz="1000" b="0" i="1" u="none" strike="noStrike" cap="none" dirty="0">
                <a:solidFill>
                  <a:srgbClr val="000000"/>
                </a:solidFill>
                <a:latin typeface="SVN-Product Sans" panose="020B0403030502040203" pitchFamily="34" charset="0"/>
                <a:sym typeface="Arial"/>
              </a:rPr>
              <a:t>.09.2025</a:t>
            </a:r>
            <a:endParaRPr sz="1000" b="0" i="1" u="none" strike="noStrike" cap="none" dirty="0">
              <a:solidFill>
                <a:srgbClr val="000000"/>
              </a:solidFill>
              <a:latin typeface="SVN-Product Sans" panose="020B0403030502040203" pitchFamily="34" charset="0"/>
              <a:sym typeface="Arial"/>
            </a:endParaRPr>
          </a:p>
        </p:txBody>
      </p:sp>
    </p:spTree>
    <p:extLst>
      <p:ext uri="{BB962C8B-B14F-4D97-AF65-F5344CB8AC3E}">
        <p14:creationId xmlns:p14="http://schemas.microsoft.com/office/powerpoint/2010/main" val="3981722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cSld name="1_Section Header">
    <p:spTree>
      <p:nvGrpSpPr>
        <p:cNvPr id="1" name="Shape 18"/>
        <p:cNvGrpSpPr/>
        <p:nvPr/>
      </p:nvGrpSpPr>
      <p:grpSpPr>
        <a:xfrm>
          <a:off x="0" y="0"/>
          <a:ext cx="0" cy="0"/>
          <a:chOff x="0" y="0"/>
          <a:chExt cx="0" cy="0"/>
        </a:xfrm>
      </p:grpSpPr>
      <p:pic>
        <p:nvPicPr>
          <p:cNvPr id="19" name="Google Shape;19;p53"/>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0" name="Google Shape;20;p53"/>
          <p:cNvSpPr txBox="1"/>
          <p:nvPr/>
        </p:nvSpPr>
        <p:spPr>
          <a:xfrm>
            <a:off x="11083730" y="6587324"/>
            <a:ext cx="1108270" cy="2307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58595B"/>
              </a:buClr>
              <a:buSzPts val="1050"/>
              <a:buFont typeface="Arial"/>
              <a:buNone/>
            </a:pPr>
            <a:r>
              <a:rPr lang="en-US" sz="900" b="0" i="0" u="none" strike="noStrike" cap="none">
                <a:solidFill>
                  <a:srgbClr val="58595B"/>
                </a:solidFill>
                <a:latin typeface="SVN-Product Sans" panose="020B0403030502040203" pitchFamily="34" charset="0"/>
                <a:ea typeface="Arial"/>
                <a:cs typeface="Arial"/>
                <a:sym typeface="Arial"/>
              </a:rPr>
              <a:t>Trang  </a:t>
            </a:r>
            <a:fld id="{00000000-1234-1234-1234-123412341234}" type="slidenum">
              <a:rPr lang="en-US" sz="900" b="0" i="0" u="none" strike="noStrike" cap="none">
                <a:solidFill>
                  <a:srgbClr val="58595B"/>
                </a:solidFill>
                <a:latin typeface="SVN-Product Sans" panose="020B0403030502040203" pitchFamily="34" charset="0"/>
                <a:ea typeface="Arial"/>
                <a:cs typeface="Arial"/>
                <a:sym typeface="Arial"/>
              </a:rPr>
              <a:t>‹#›</a:t>
            </a:fld>
            <a:endParaRPr sz="900" b="0" i="0" u="none" strike="noStrike" cap="none">
              <a:solidFill>
                <a:srgbClr val="58595B"/>
              </a:solidFill>
              <a:latin typeface="SVN-Product Sans" panose="020B0403030502040203" pitchFamily="34" charset="0"/>
              <a:ea typeface="Arial"/>
              <a:cs typeface="Arial"/>
              <a:sym typeface="Arial"/>
            </a:endParaRPr>
          </a:p>
        </p:txBody>
      </p:sp>
      <p:sp>
        <p:nvSpPr>
          <p:cNvPr id="21" name="Google Shape;21;p53"/>
          <p:cNvSpPr txBox="1">
            <a:spLocks noGrp="1"/>
          </p:cNvSpPr>
          <p:nvPr>
            <p:ph type="title"/>
          </p:nvPr>
        </p:nvSpPr>
        <p:spPr>
          <a:xfrm>
            <a:off x="2068154" y="147389"/>
            <a:ext cx="9953993" cy="45982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6B68"/>
              </a:buClr>
              <a:buSzPts val="2400"/>
              <a:buFont typeface="Arial"/>
              <a:buNone/>
              <a:defRPr sz="2400" b="1">
                <a:solidFill>
                  <a:srgbClr val="006B68"/>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53"/>
          <p:cNvSpPr txBox="1">
            <a:spLocks noGrp="1"/>
          </p:cNvSpPr>
          <p:nvPr>
            <p:ph type="body" idx="1"/>
          </p:nvPr>
        </p:nvSpPr>
        <p:spPr>
          <a:xfrm>
            <a:off x="2068519" y="607212"/>
            <a:ext cx="9953992" cy="25391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228600" algn="l">
              <a:lnSpc>
                <a:spcPct val="90000"/>
              </a:lnSpc>
              <a:spcBef>
                <a:spcPts val="500"/>
              </a:spcBef>
              <a:spcAft>
                <a:spcPts val="0"/>
              </a:spcAft>
              <a:buClr>
                <a:schemeClr val="dk2"/>
              </a:buClr>
              <a:buSzPts val="1400"/>
              <a:buNone/>
              <a:defRPr sz="1400">
                <a:solidFill>
                  <a:schemeClr val="dk2"/>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486317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6"/>
        <p:cNvGrpSpPr/>
        <p:nvPr/>
      </p:nvGrpSpPr>
      <p:grpSpPr>
        <a:xfrm>
          <a:off x="0" y="0"/>
          <a:ext cx="0" cy="0"/>
          <a:chOff x="0" y="0"/>
          <a:chExt cx="0" cy="0"/>
        </a:xfrm>
      </p:grpSpPr>
      <p:pic>
        <p:nvPicPr>
          <p:cNvPr id="27" name="Google Shape;27;p55"/>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28" name="Google Shape;28;p55"/>
          <p:cNvPicPr preferRelativeResize="0"/>
          <p:nvPr/>
        </p:nvPicPr>
        <p:blipFill rotWithShape="1">
          <a:blip r:embed="rId3">
            <a:alphaModFix/>
          </a:blip>
          <a:srcRect/>
          <a:stretch/>
        </p:blipFill>
        <p:spPr>
          <a:xfrm>
            <a:off x="4629150" y="134796"/>
            <a:ext cx="2933700" cy="558800"/>
          </a:xfrm>
          <a:prstGeom prst="rect">
            <a:avLst/>
          </a:prstGeom>
          <a:noFill/>
          <a:ln>
            <a:noFill/>
          </a:ln>
        </p:spPr>
      </p:pic>
      <p:sp>
        <p:nvSpPr>
          <p:cNvPr id="29" name="Google Shape;29;p55"/>
          <p:cNvSpPr txBox="1"/>
          <p:nvPr/>
        </p:nvSpPr>
        <p:spPr>
          <a:xfrm>
            <a:off x="8134440" y="6543687"/>
            <a:ext cx="1366080"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a:solidFill>
                  <a:schemeClr val="lt1"/>
                </a:solidFill>
                <a:latin typeface="Arial"/>
                <a:ea typeface="Arial"/>
                <a:cs typeface="Arial"/>
                <a:sym typeface="Arial"/>
              </a:rPr>
              <a:t>https://media.kompa.ai</a:t>
            </a:r>
            <a:endParaRPr sz="900">
              <a:solidFill>
                <a:schemeClr val="lt1"/>
              </a:solidFill>
              <a:latin typeface="Arial"/>
              <a:ea typeface="Arial"/>
              <a:cs typeface="Arial"/>
              <a:sym typeface="Arial"/>
            </a:endParaRPr>
          </a:p>
        </p:txBody>
      </p:sp>
      <p:sp>
        <p:nvSpPr>
          <p:cNvPr id="30" name="Google Shape;30;p55"/>
          <p:cNvSpPr txBox="1"/>
          <p:nvPr/>
        </p:nvSpPr>
        <p:spPr>
          <a:xfrm>
            <a:off x="10251475" y="6543687"/>
            <a:ext cx="1569660"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a:solidFill>
                  <a:schemeClr val="lt1"/>
                </a:solidFill>
                <a:latin typeface="Arial"/>
                <a:ea typeface="Arial"/>
                <a:cs typeface="Arial"/>
                <a:sym typeface="Arial"/>
              </a:rPr>
              <a:t>(+84) 902 915 510 (Ms.Nhu)</a:t>
            </a:r>
            <a:endParaRPr/>
          </a:p>
        </p:txBody>
      </p:sp>
    </p:spTree>
    <p:extLst>
      <p:ext uri="{BB962C8B-B14F-4D97-AF65-F5344CB8AC3E}">
        <p14:creationId xmlns:p14="http://schemas.microsoft.com/office/powerpoint/2010/main" val="870917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Custom Layout">
    <p:bg>
      <p:bgPr>
        <a:solidFill>
          <a:schemeClr val="bg1"/>
        </a:solidFill>
        <a:effectLst/>
      </p:bgPr>
    </p:bg>
    <p:spTree>
      <p:nvGrpSpPr>
        <p:cNvPr id="1" name=""/>
        <p:cNvGrpSpPr/>
        <p:nvPr/>
      </p:nvGrpSpPr>
      <p:grpSpPr>
        <a:xfrm>
          <a:off x="0" y="0"/>
          <a:ext cx="0" cy="0"/>
          <a:chOff x="0" y="0"/>
          <a:chExt cx="0" cy="0"/>
        </a:xfrm>
      </p:grpSpPr>
      <p:pic>
        <p:nvPicPr>
          <p:cNvPr id="5" name="Hình ảnh 3" descr="Ảnh có chứa văn bản, mẫu họa&#10;&#10;Mô tả được tạo tự động">
            <a:extLst>
              <a:ext uri="{FF2B5EF4-FFF2-40B4-BE49-F238E27FC236}">
                <a16:creationId xmlns:a16="http://schemas.microsoft.com/office/drawing/2014/main" id="{F72CAB5C-5A1B-E6A4-FDD3-D59C6A78DFC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642327" y="6490879"/>
            <a:ext cx="968844" cy="175026"/>
          </a:xfrm>
          <a:prstGeom prst="rect">
            <a:avLst/>
          </a:prstGeom>
        </p:spPr>
      </p:pic>
      <p:sp>
        <p:nvSpPr>
          <p:cNvPr id="6" name="Google Shape;35;p6">
            <a:extLst>
              <a:ext uri="{FF2B5EF4-FFF2-40B4-BE49-F238E27FC236}">
                <a16:creationId xmlns:a16="http://schemas.microsoft.com/office/drawing/2014/main" id="{5D6D8617-D5E2-711E-89EA-AC8F7F064004}"/>
              </a:ext>
            </a:extLst>
          </p:cNvPr>
          <p:cNvSpPr/>
          <p:nvPr userDrawn="1"/>
        </p:nvSpPr>
        <p:spPr>
          <a:xfrm>
            <a:off x="11745686" y="6409996"/>
            <a:ext cx="459289" cy="336793"/>
          </a:xfrm>
          <a:prstGeom prst="rect">
            <a:avLst/>
          </a:prstGeom>
          <a:solidFill>
            <a:srgbClr val="FF0000"/>
          </a:solidFill>
          <a:ln>
            <a:noFill/>
          </a:ln>
          <a:effectLst>
            <a:outerShdw blurRad="214313" dist="47625" dir="5400000" algn="bl" rotWithShape="0">
              <a:srgbClr val="000000">
                <a:alpha val="2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solidFill>
                <a:schemeClr val="tx2"/>
              </a:solidFill>
            </a:endParaRPr>
          </a:p>
        </p:txBody>
      </p:sp>
      <p:sp>
        <p:nvSpPr>
          <p:cNvPr id="7" name="Slide Number Placeholder 5">
            <a:extLst>
              <a:ext uri="{FF2B5EF4-FFF2-40B4-BE49-F238E27FC236}">
                <a16:creationId xmlns:a16="http://schemas.microsoft.com/office/drawing/2014/main" id="{9787056C-1C56-C743-7E7E-AC0AD5A40291}"/>
              </a:ext>
            </a:extLst>
          </p:cNvPr>
          <p:cNvSpPr>
            <a:spLocks noGrp="1"/>
          </p:cNvSpPr>
          <p:nvPr>
            <p:ph type="sldNum" sz="quarter" idx="12"/>
          </p:nvPr>
        </p:nvSpPr>
        <p:spPr>
          <a:xfrm>
            <a:off x="11745686" y="6390856"/>
            <a:ext cx="459288" cy="375074"/>
          </a:xfrm>
          <a:prstGeom prst="rect">
            <a:avLst/>
          </a:prstGeom>
        </p:spPr>
        <p:txBody>
          <a:bodyPr anchor="ctr"/>
          <a:lstStyle>
            <a:lvl1pPr algn="ctr">
              <a:defRPr sz="1200" baseline="0">
                <a:solidFill>
                  <a:schemeClr val="bg1"/>
                </a:solidFill>
                <a:latin typeface="Montserrat" panose="00000500000000000000" pitchFamily="2" charset="0"/>
              </a:defRPr>
            </a:lvl1pPr>
          </a:lstStyle>
          <a:p>
            <a:fld id="{6876337A-1731-9447-B728-A4B8F13CC041}" type="slidenum">
              <a:rPr lang="en-US" smtClean="0"/>
              <a:pPr/>
              <a:t>‹#›</a:t>
            </a:fld>
            <a:endParaRPr lang="en-US" dirty="0"/>
          </a:p>
        </p:txBody>
      </p:sp>
      <p:sp>
        <p:nvSpPr>
          <p:cNvPr id="8" name="Google Shape;16;p3">
            <a:extLst>
              <a:ext uri="{FF2B5EF4-FFF2-40B4-BE49-F238E27FC236}">
                <a16:creationId xmlns:a16="http://schemas.microsoft.com/office/drawing/2014/main" id="{532F9A66-8249-12DE-1EAD-0CED8ADC79F3}"/>
              </a:ext>
            </a:extLst>
          </p:cNvPr>
          <p:cNvSpPr txBox="1">
            <a:spLocks noGrp="1"/>
          </p:cNvSpPr>
          <p:nvPr>
            <p:ph type="ctrTitle"/>
          </p:nvPr>
        </p:nvSpPr>
        <p:spPr>
          <a:xfrm>
            <a:off x="508701" y="144007"/>
            <a:ext cx="8086995" cy="463391"/>
          </a:xfrm>
          <a:prstGeom prst="rect">
            <a:avLst/>
          </a:prstGeom>
        </p:spPr>
        <p:txBody>
          <a:bodyPr spcFirstLastPara="1" wrap="square" lIns="91425" tIns="91425" rIns="91425" bIns="91425" anchor="ctr" anchorCtr="0"/>
          <a:lstStyle>
            <a:lvl1pPr lvl="0" algn="l" rtl="0">
              <a:spcBef>
                <a:spcPts val="0"/>
              </a:spcBef>
              <a:spcAft>
                <a:spcPts val="0"/>
              </a:spcAft>
              <a:buSzPts val="3600"/>
              <a:buNone/>
              <a:defRPr sz="2000" b="1">
                <a:solidFill>
                  <a:schemeClr val="tx1"/>
                </a:solidFill>
                <a:latin typeface="Montserrat" panose="00000500000000000000" pitchFamily="2" charset="0"/>
              </a:defRPr>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endParaRPr dirty="0"/>
          </a:p>
        </p:txBody>
      </p:sp>
      <p:cxnSp>
        <p:nvCxnSpPr>
          <p:cNvPr id="4" name="Straight Connector 3">
            <a:extLst>
              <a:ext uri="{FF2B5EF4-FFF2-40B4-BE49-F238E27FC236}">
                <a16:creationId xmlns:a16="http://schemas.microsoft.com/office/drawing/2014/main" id="{AAEE959A-2933-3353-DC12-5BF9597295A4}"/>
              </a:ext>
            </a:extLst>
          </p:cNvPr>
          <p:cNvCxnSpPr/>
          <p:nvPr userDrawn="1"/>
        </p:nvCxnSpPr>
        <p:spPr>
          <a:xfrm>
            <a:off x="0" y="651641"/>
            <a:ext cx="1219200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2EC591F2-55F3-4E1D-9B00-97EA327A21B5}"/>
              </a:ext>
            </a:extLst>
          </p:cNvPr>
          <p:cNvSpPr/>
          <p:nvPr userDrawn="1"/>
        </p:nvSpPr>
        <p:spPr>
          <a:xfrm>
            <a:off x="105103" y="0"/>
            <a:ext cx="90213" cy="56315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10" name="Rectangle 9">
            <a:extLst>
              <a:ext uri="{FF2B5EF4-FFF2-40B4-BE49-F238E27FC236}">
                <a16:creationId xmlns:a16="http://schemas.microsoft.com/office/drawing/2014/main" id="{01CCB947-2372-7137-9BB6-1D1C4EC93834}"/>
              </a:ext>
            </a:extLst>
          </p:cNvPr>
          <p:cNvSpPr/>
          <p:nvPr userDrawn="1"/>
        </p:nvSpPr>
        <p:spPr>
          <a:xfrm>
            <a:off x="289165" y="0"/>
            <a:ext cx="90213" cy="56315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pic>
        <p:nvPicPr>
          <p:cNvPr id="2" name="Picture 2" descr="VinaCapital | World Economic Forum">
            <a:extLst>
              <a:ext uri="{FF2B5EF4-FFF2-40B4-BE49-F238E27FC236}">
                <a16:creationId xmlns:a16="http://schemas.microsoft.com/office/drawing/2014/main" id="{9988B51A-DCE8-E92C-4671-AB12E617425E}"/>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592810" y="221740"/>
            <a:ext cx="1382520" cy="219439"/>
          </a:xfrm>
          <a:prstGeom prst="rect">
            <a:avLst/>
          </a:prstGeom>
          <a:noFill/>
          <a:extLst>
            <a:ext uri="{909E8E84-426E-40DD-AFC4-6F175D3DCCD1}">
              <a14:hiddenFill xmlns:a14="http://schemas.microsoft.com/office/drawing/2010/main">
                <a:solidFill>
                  <a:srgbClr val="FFFFFF"/>
                </a:solidFill>
              </a14:hiddenFill>
            </a:ext>
          </a:extLst>
        </p:spPr>
      </p:pic>
      <p:sp>
        <p:nvSpPr>
          <p:cNvPr id="11" name="Text Placeholder 5">
            <a:extLst>
              <a:ext uri="{FF2B5EF4-FFF2-40B4-BE49-F238E27FC236}">
                <a16:creationId xmlns:a16="http://schemas.microsoft.com/office/drawing/2014/main" id="{DE207DCB-AF9B-38FE-C564-0375FFAF2DC6}"/>
              </a:ext>
            </a:extLst>
          </p:cNvPr>
          <p:cNvSpPr txBox="1">
            <a:spLocks/>
          </p:cNvSpPr>
          <p:nvPr userDrawn="1"/>
        </p:nvSpPr>
        <p:spPr>
          <a:xfrm>
            <a:off x="393854" y="6561410"/>
            <a:ext cx="5394550" cy="175026"/>
          </a:xfrm>
          <a:prstGeom prst="rect">
            <a:avLst/>
          </a:prstGeom>
        </p:spPr>
        <p:txBody>
          <a:bodyPr anchor="ctr"/>
          <a:lstStyle>
            <a:lvl1pPr marL="0" indent="0" algn="l" defTabSz="457178" rtl="0" eaLnBrk="1" latinLnBrk="0" hangingPunct="1">
              <a:lnSpc>
                <a:spcPct val="100000"/>
              </a:lnSpc>
              <a:spcBef>
                <a:spcPts val="800"/>
              </a:spcBef>
              <a:buClr>
                <a:srgbClr val="5F5F5F"/>
              </a:buClr>
              <a:buFont typeface="Courier New" panose="02070309020205020404" pitchFamily="49" charset="0"/>
              <a:buNone/>
              <a:defRPr sz="1200" kern="1200" baseline="0">
                <a:solidFill>
                  <a:srgbClr val="5F5F5F"/>
                </a:solidFill>
                <a:latin typeface="+mn-lt"/>
                <a:ea typeface="Verdana" pitchFamily="34" charset="0"/>
                <a:cs typeface="Arial" pitchFamily="34" charset="0"/>
              </a:defRPr>
            </a:lvl1pPr>
            <a:lvl2pPr marL="627032" indent="-176204" algn="l" defTabSz="457178" rtl="0" eaLnBrk="1" latinLnBrk="0" hangingPunct="1">
              <a:lnSpc>
                <a:spcPct val="100000"/>
              </a:lnSpc>
              <a:spcBef>
                <a:spcPts val="800"/>
              </a:spcBef>
              <a:buClr>
                <a:srgbClr val="E28026"/>
              </a:buClr>
              <a:buFont typeface="Courier New" panose="02070309020205020404" pitchFamily="49" charset="0"/>
              <a:buChar char="o"/>
              <a:defRPr sz="1050" kern="1200" baseline="0">
                <a:solidFill>
                  <a:srgbClr val="5F5F5F"/>
                </a:solidFill>
                <a:latin typeface="+mn-lt"/>
                <a:ea typeface="Verdana" pitchFamily="34" charset="0"/>
                <a:cs typeface="Arial" pitchFamily="34" charset="0"/>
              </a:defRPr>
            </a:lvl2pPr>
            <a:lvl3pPr marL="1077859" indent="-163505" algn="l" defTabSz="457178" rtl="0" eaLnBrk="1" latinLnBrk="0" hangingPunct="1">
              <a:lnSpc>
                <a:spcPct val="100000"/>
              </a:lnSpc>
              <a:spcBef>
                <a:spcPts val="700"/>
              </a:spcBef>
              <a:buClr>
                <a:srgbClr val="E28026"/>
              </a:buClr>
              <a:buFont typeface="Arial"/>
              <a:buChar char="•"/>
              <a:defRPr sz="1350" kern="1200" baseline="0">
                <a:solidFill>
                  <a:srgbClr val="5F5F5F"/>
                </a:solidFill>
                <a:latin typeface="+mn-lt"/>
                <a:ea typeface="Verdana" pitchFamily="34" charset="0"/>
                <a:cs typeface="Arial" pitchFamily="34" charset="0"/>
              </a:defRPr>
            </a:lvl3pPr>
            <a:lvl4pPr marL="1523924" indent="-152393" algn="l" defTabSz="449241" rtl="0" eaLnBrk="1" latinLnBrk="0" hangingPunct="1">
              <a:lnSpc>
                <a:spcPct val="100000"/>
              </a:lnSpc>
              <a:spcBef>
                <a:spcPts val="700"/>
              </a:spcBef>
              <a:buClr>
                <a:srgbClr val="5F5F5F"/>
              </a:buClr>
              <a:buFont typeface="Arial" pitchFamily="34" charset="0"/>
              <a:buChar char="•"/>
              <a:defRPr sz="900" kern="1200" baseline="0">
                <a:solidFill>
                  <a:srgbClr val="5F5F5F"/>
                </a:solidFill>
                <a:latin typeface="+mn-lt"/>
                <a:ea typeface="Verdana" pitchFamily="34" charset="0"/>
                <a:cs typeface="Arial" pitchFamily="34" charset="0"/>
              </a:defRPr>
            </a:lvl4pPr>
            <a:lvl5pPr marL="1974752" indent="-146042" algn="l" defTabSz="457178" rtl="0" eaLnBrk="1" latinLnBrk="0" hangingPunct="1">
              <a:lnSpc>
                <a:spcPct val="100000"/>
              </a:lnSpc>
              <a:spcBef>
                <a:spcPts val="700"/>
              </a:spcBef>
              <a:buClr>
                <a:srgbClr val="5F5F5F"/>
              </a:buClr>
              <a:buFont typeface="Arial" pitchFamily="34" charset="0"/>
              <a:buChar char="•"/>
              <a:defRPr sz="900" kern="1200" baseline="0">
                <a:solidFill>
                  <a:srgbClr val="5F5F5F"/>
                </a:solidFill>
                <a:latin typeface="+mn-lt"/>
                <a:ea typeface="Verdana" pitchFamily="34" charset="0"/>
                <a:cs typeface="Arial" pitchFamily="34" charset="0"/>
              </a:defRPr>
            </a:lvl5pPr>
            <a:lvl6pPr marL="2514474" indent="-228588" algn="l" defTabSz="457178" rtl="0" eaLnBrk="1" latinLnBrk="0" hangingPunct="1">
              <a:spcBef>
                <a:spcPct val="20000"/>
              </a:spcBef>
              <a:buFont typeface="Arial"/>
              <a:buChar char="•"/>
              <a:defRPr sz="2000" kern="1200">
                <a:solidFill>
                  <a:schemeClr val="tx1"/>
                </a:solidFill>
                <a:latin typeface="+mn-lt"/>
                <a:ea typeface="+mn-ea"/>
                <a:cs typeface="+mn-cs"/>
              </a:defRPr>
            </a:lvl6pPr>
            <a:lvl7pPr marL="2971652" indent="-228588" algn="l" defTabSz="457178" rtl="0" eaLnBrk="1" latinLnBrk="0" hangingPunct="1">
              <a:spcBef>
                <a:spcPct val="20000"/>
              </a:spcBef>
              <a:buFont typeface="Arial"/>
              <a:buChar char="•"/>
              <a:defRPr sz="2000" kern="1200">
                <a:solidFill>
                  <a:schemeClr val="tx1"/>
                </a:solidFill>
                <a:latin typeface="+mn-lt"/>
                <a:ea typeface="+mn-ea"/>
                <a:cs typeface="+mn-cs"/>
              </a:defRPr>
            </a:lvl7pPr>
            <a:lvl8pPr marL="3428829" indent="-228588" algn="l" defTabSz="457178" rtl="0" eaLnBrk="1" latinLnBrk="0" hangingPunct="1">
              <a:spcBef>
                <a:spcPct val="20000"/>
              </a:spcBef>
              <a:buFont typeface="Arial"/>
              <a:buChar char="•"/>
              <a:defRPr sz="2000" kern="1200">
                <a:solidFill>
                  <a:schemeClr val="tx1"/>
                </a:solidFill>
                <a:latin typeface="+mn-lt"/>
                <a:ea typeface="+mn-ea"/>
                <a:cs typeface="+mn-cs"/>
              </a:defRPr>
            </a:lvl8pPr>
            <a:lvl9pPr marL="3886006" indent="-228588" algn="l" defTabSz="457178"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160" rtl="0" eaLnBrk="1" fontAlgn="auto" latinLnBrk="0" hangingPunct="1">
              <a:lnSpc>
                <a:spcPct val="100000"/>
              </a:lnSpc>
              <a:spcBef>
                <a:spcPts val="800"/>
              </a:spcBef>
              <a:spcAft>
                <a:spcPts val="0"/>
              </a:spcAft>
              <a:buClr>
                <a:srgbClr val="5F5F5F"/>
              </a:buClr>
              <a:buSzTx/>
              <a:buFont typeface="Courier New" panose="02070309020205020404" pitchFamily="49" charset="0"/>
              <a:buNone/>
              <a:tabLst/>
              <a:defRPr/>
            </a:pPr>
            <a:r>
              <a:rPr kumimoji="0" lang="en-US" sz="800" b="0" i="1" u="none" strike="noStrike" kern="1200" cap="none" spc="0" normalizeH="0" baseline="0" noProof="0" dirty="0">
                <a:ln>
                  <a:noFill/>
                </a:ln>
                <a:solidFill>
                  <a:prstClr val="black">
                    <a:lumMod val="75000"/>
                  </a:prstClr>
                </a:solidFill>
                <a:effectLst/>
                <a:uLnTx/>
                <a:uFillTx/>
                <a:latin typeface="Montserrat" panose="00000500000000000000" pitchFamily="50" charset="0"/>
                <a:ea typeface="Verdana" pitchFamily="34" charset="0"/>
                <a:cs typeface="Arial" pitchFamily="34" charset="0"/>
              </a:rPr>
              <a:t>Sources: Online News</a:t>
            </a:r>
            <a:r>
              <a:rPr kumimoji="0" lang="en-US" sz="800" b="0" i="1" u="none" strike="noStrike" kern="1200" cap="none" spc="0" normalizeH="0" baseline="0" noProof="0">
                <a:ln>
                  <a:noFill/>
                </a:ln>
                <a:solidFill>
                  <a:prstClr val="black">
                    <a:lumMod val="75000"/>
                  </a:prstClr>
                </a:solidFill>
                <a:effectLst/>
                <a:uLnTx/>
                <a:uFillTx/>
                <a:latin typeface="Montserrat" panose="00000500000000000000" pitchFamily="50" charset="0"/>
                <a:ea typeface="Verdana" pitchFamily="34" charset="0"/>
                <a:cs typeface="Arial" pitchFamily="34" charset="0"/>
              </a:rPr>
              <a:t>, Forums, </a:t>
            </a:r>
            <a:r>
              <a:rPr kumimoji="0" lang="en-US" sz="800" b="0" i="1" u="none" strike="noStrike" kern="1200" cap="none" spc="0" normalizeH="0" baseline="0" noProof="0" dirty="0">
                <a:ln>
                  <a:noFill/>
                </a:ln>
                <a:solidFill>
                  <a:prstClr val="black">
                    <a:lumMod val="75000"/>
                  </a:prstClr>
                </a:solidFill>
                <a:effectLst/>
                <a:uLnTx/>
                <a:uFillTx/>
                <a:latin typeface="Montserrat" panose="00000500000000000000" pitchFamily="50" charset="0"/>
                <a:ea typeface="Verdana" pitchFamily="34" charset="0"/>
                <a:cs typeface="Arial" pitchFamily="34" charset="0"/>
              </a:rPr>
              <a:t>and Social Networks. Time period</a:t>
            </a:r>
            <a:r>
              <a:rPr kumimoji="0" lang="en-US" sz="800" b="0" i="1" u="none" strike="noStrike" kern="1200" cap="none" spc="0" normalizeH="0" baseline="0" noProof="0">
                <a:ln>
                  <a:noFill/>
                </a:ln>
                <a:solidFill>
                  <a:prstClr val="black">
                    <a:lumMod val="75000"/>
                  </a:prstClr>
                </a:solidFill>
                <a:effectLst/>
                <a:uLnTx/>
                <a:uFillTx/>
                <a:latin typeface="Montserrat" panose="00000500000000000000" pitchFamily="50" charset="0"/>
                <a:ea typeface="Verdana" pitchFamily="34" charset="0"/>
                <a:cs typeface="Arial" pitchFamily="34" charset="0"/>
              </a:rPr>
              <a:t>: Febr</a:t>
            </a:r>
            <a:r>
              <a:rPr kumimoji="0" lang="vi-VN" sz="800" b="0" i="1" u="none" strike="noStrike" kern="1200" cap="none" spc="0" normalizeH="0" baseline="0" noProof="0">
                <a:ln>
                  <a:noFill/>
                </a:ln>
                <a:solidFill>
                  <a:prstClr val="black">
                    <a:lumMod val="75000"/>
                  </a:prstClr>
                </a:solidFill>
                <a:effectLst/>
                <a:uLnTx/>
                <a:uFillTx/>
                <a:latin typeface="Montserrat" panose="00000500000000000000" pitchFamily="50" charset="0"/>
                <a:ea typeface="Verdana" pitchFamily="34" charset="0"/>
                <a:cs typeface="Arial" pitchFamily="34" charset="0"/>
              </a:rPr>
              <a:t>uary</a:t>
            </a:r>
            <a:r>
              <a:rPr kumimoji="0" lang="en-US" sz="800" b="0" i="1" u="none" strike="noStrike" kern="1200" cap="none" spc="0" normalizeH="0" baseline="0" noProof="0">
                <a:ln>
                  <a:noFill/>
                </a:ln>
                <a:solidFill>
                  <a:prstClr val="black">
                    <a:lumMod val="75000"/>
                  </a:prstClr>
                </a:solidFill>
                <a:effectLst/>
                <a:uLnTx/>
                <a:uFillTx/>
                <a:latin typeface="Montserrat" panose="00000500000000000000" pitchFamily="50" charset="0"/>
                <a:ea typeface="Verdana" pitchFamily="34" charset="0"/>
                <a:cs typeface="Arial" pitchFamily="34" charset="0"/>
              </a:rPr>
              <a:t> 01 – Febr</a:t>
            </a:r>
            <a:r>
              <a:rPr kumimoji="0" lang="vi-VN" sz="800" b="0" i="1" u="none" strike="noStrike" kern="1200" cap="none" spc="0" normalizeH="0" baseline="0" noProof="0">
                <a:ln>
                  <a:noFill/>
                </a:ln>
                <a:solidFill>
                  <a:prstClr val="black">
                    <a:lumMod val="75000"/>
                  </a:prstClr>
                </a:solidFill>
                <a:effectLst/>
                <a:uLnTx/>
                <a:uFillTx/>
                <a:latin typeface="Montserrat" panose="00000500000000000000" pitchFamily="50" charset="0"/>
                <a:ea typeface="Verdana" pitchFamily="34" charset="0"/>
                <a:cs typeface="Arial" pitchFamily="34" charset="0"/>
              </a:rPr>
              <a:t>uary</a:t>
            </a:r>
            <a:r>
              <a:rPr lang="en-US" sz="800" i="1">
                <a:solidFill>
                  <a:prstClr val="black">
                    <a:lumMod val="75000"/>
                  </a:prstClr>
                </a:solidFill>
                <a:latin typeface="Montserrat" panose="00000500000000000000" pitchFamily="50" charset="0"/>
              </a:rPr>
              <a:t> 28</a:t>
            </a:r>
            <a:r>
              <a:rPr kumimoji="0" lang="en-US" sz="800" b="0" i="1" u="none" strike="noStrike" kern="1200" cap="none" spc="0" normalizeH="0" baseline="0" noProof="0">
                <a:ln>
                  <a:noFill/>
                </a:ln>
                <a:solidFill>
                  <a:prstClr val="black">
                    <a:lumMod val="75000"/>
                  </a:prstClr>
                </a:solidFill>
                <a:effectLst/>
                <a:uLnTx/>
                <a:uFillTx/>
                <a:latin typeface="Montserrat" panose="00000500000000000000" pitchFamily="50" charset="0"/>
                <a:ea typeface="Verdana" pitchFamily="34" charset="0"/>
                <a:cs typeface="Arial" pitchFamily="34" charset="0"/>
              </a:rPr>
              <a:t>, 202</a:t>
            </a:r>
            <a:r>
              <a:rPr kumimoji="0" lang="vi-VN" sz="800" b="0" i="1" u="none" strike="noStrike" kern="1200" cap="none" spc="0" normalizeH="0" baseline="0" noProof="0">
                <a:ln>
                  <a:noFill/>
                </a:ln>
                <a:solidFill>
                  <a:prstClr val="black">
                    <a:lumMod val="75000"/>
                  </a:prstClr>
                </a:solidFill>
                <a:effectLst/>
                <a:uLnTx/>
                <a:uFillTx/>
                <a:latin typeface="Montserrat" panose="00000500000000000000" pitchFamily="50" charset="0"/>
                <a:ea typeface="Verdana" pitchFamily="34" charset="0"/>
                <a:cs typeface="Arial" pitchFamily="34" charset="0"/>
              </a:rPr>
              <a:t>5</a:t>
            </a:r>
            <a:endParaRPr kumimoji="0" lang="en-US" sz="800" b="0" i="1" u="none" strike="noStrike" kern="1200" cap="none" spc="0" normalizeH="0" baseline="0" noProof="0" dirty="0">
              <a:ln>
                <a:noFill/>
              </a:ln>
              <a:solidFill>
                <a:prstClr val="black">
                  <a:lumMod val="75000"/>
                </a:prstClr>
              </a:solidFill>
              <a:effectLst/>
              <a:uLnTx/>
              <a:uFillTx/>
              <a:latin typeface="Montserrat" panose="00000500000000000000" pitchFamily="50" charset="0"/>
              <a:ea typeface="Verdana" pitchFamily="34" charset="0"/>
              <a:cs typeface="Arial" pitchFamily="34" charset="0"/>
            </a:endParaRPr>
          </a:p>
        </p:txBody>
      </p:sp>
    </p:spTree>
    <p:extLst>
      <p:ext uri="{BB962C8B-B14F-4D97-AF65-F5344CB8AC3E}">
        <p14:creationId xmlns:p14="http://schemas.microsoft.com/office/powerpoint/2010/main" val="27440240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92154395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chart" Target="../charts/chart1.xml"/><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chart" Target="../charts/chart3.xml"/><Relationship Id="rId10" Type="http://schemas.openxmlformats.org/officeDocument/2006/relationships/image" Target="../media/image11.png"/><Relationship Id="rId4" Type="http://schemas.openxmlformats.org/officeDocument/2006/relationships/chart" Target="../charts/chart2.xml"/><Relationship Id="rId9" Type="http://schemas.openxmlformats.org/officeDocument/2006/relationships/image" Target="../media/image10.png"/><Relationship Id="rId14" Type="http://schemas.openxmlformats.org/officeDocument/2006/relationships/chart" Target="../charts/chart4.xml"/></Relationships>
</file>

<file path=ppt/slides/_rels/slide4.xml.rels><?xml version="1.0" encoding="UTF-8" standalone="yes"?>
<Relationships xmlns="http://schemas.openxmlformats.org/package/2006/relationships"><Relationship Id="rId8" Type="http://schemas.openxmlformats.org/officeDocument/2006/relationships/hyperlink" Target="http://facebook.com/1555676601122727_1167050905467274" TargetMode="External"/><Relationship Id="rId13" Type="http://schemas.openxmlformats.org/officeDocument/2006/relationships/image" Target="../media/image10.png"/><Relationship Id="rId3" Type="http://schemas.openxmlformats.org/officeDocument/2006/relationships/chart" Target="../charts/chart5.xml"/><Relationship Id="rId7" Type="http://schemas.openxmlformats.org/officeDocument/2006/relationships/hyperlink" Target="http://facebook.com/656342367724454_1281587647341830" TargetMode="External"/><Relationship Id="rId12" Type="http://schemas.openxmlformats.org/officeDocument/2006/relationships/hyperlink" Target="http://facebook.com/195317977005315_122278082072199321" TargetMode="External"/><Relationship Id="rId2" Type="http://schemas.openxmlformats.org/officeDocument/2006/relationships/notesSlide" Target="../notesSlides/notesSlide4.xml"/><Relationship Id="rId16"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hyperlink" Target="http://facebook.com/656342367724454_1282334630600465" TargetMode="External"/><Relationship Id="rId11" Type="http://schemas.openxmlformats.org/officeDocument/2006/relationships/hyperlink" Target="https://www.facebook.com/VPBank/posts/pfbid0fUUXLE8nLME3QQ3neuz9N3z4taMJ697W1PrQwDyJxqfEgh2eFF4uDMYgMM1u9VNbl" TargetMode="External"/><Relationship Id="rId5" Type="http://schemas.openxmlformats.org/officeDocument/2006/relationships/hyperlink" Target="https://www.youtube.com/watch?v=kT71NL1fE_A" TargetMode="External"/><Relationship Id="rId15" Type="http://schemas.openxmlformats.org/officeDocument/2006/relationships/image" Target="../media/image9.png"/><Relationship Id="rId10" Type="http://schemas.openxmlformats.org/officeDocument/2006/relationships/hyperlink" Target="https://www.facebook.com/VPBankS/posts/pfbid029pcm9Xu7ndghBXkSgrwm8yC2MfaENCyZc9gvfSi3H1p85CrmJnPtMRemhpKEfFZl" TargetMode="External"/><Relationship Id="rId4" Type="http://schemas.openxmlformats.org/officeDocument/2006/relationships/image" Target="../media/image11.png"/><Relationship Id="rId9" Type="http://schemas.openxmlformats.org/officeDocument/2006/relationships/image" Target="../media/image7.png"/><Relationship Id="rId14" Type="http://schemas.openxmlformats.org/officeDocument/2006/relationships/hyperlink" Target="https://www.facebook.com/NganHangACB/posts/-nh%E1%BB%AFng-c%C3%A2u-h%E1%BB%8Fi-khi%E1%BA%BFn-ch%E1%BB%A7-shop-%C4%91au-%C4%91%E1%BA%A7u-s%E1%BA%BD-%C4%91%C6%B0%E1%BB%A3c-gi%E1%BA%A3i-%C4%91%C3%A1p-xem-ngay-livestream-%C4%91ang-/1295287142251386/"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chart" Target="../charts/chart6.xml"/><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hyperlink" Target="http://facebook.com/341988082671983_1259702336166524" TargetMode="External"/><Relationship Id="rId3" Type="http://schemas.openxmlformats.org/officeDocument/2006/relationships/hyperlink" Target="http://facebook.com/114459498350928_646910158437694" TargetMode="External"/><Relationship Id="rId7" Type="http://schemas.openxmlformats.org/officeDocument/2006/relationships/hyperlink" Target="http://facebook.com/100001882849041_30957988880513802" TargetMode="External"/><Relationship Id="rId2" Type="http://schemas.openxmlformats.org/officeDocument/2006/relationships/hyperlink" Target="http://facebook.com/1556407761272968_1074573781547445" TargetMode="External"/><Relationship Id="rId1" Type="http://schemas.openxmlformats.org/officeDocument/2006/relationships/slideLayout" Target="../slideLayouts/slideLayout2.xml"/><Relationship Id="rId6" Type="http://schemas.openxmlformats.org/officeDocument/2006/relationships/hyperlink" Target="http://facebook.com/223790994475363_1115710667431470" TargetMode="External"/><Relationship Id="rId11" Type="http://schemas.openxmlformats.org/officeDocument/2006/relationships/hyperlink" Target="http://facebook.com/354759621266457_1322296372793293" TargetMode="External"/><Relationship Id="rId5" Type="http://schemas.openxmlformats.org/officeDocument/2006/relationships/hyperlink" Target="http://facebook.com/192054114730975_1330054088487558" TargetMode="External"/><Relationship Id="rId10" Type="http://schemas.openxmlformats.org/officeDocument/2006/relationships/hyperlink" Target="http://facebook.com/343700282714890_1283292803155088" TargetMode="External"/><Relationship Id="rId4" Type="http://schemas.openxmlformats.org/officeDocument/2006/relationships/hyperlink" Target="http://facebook.com/207529980148983_1202830278527091" TargetMode="External"/><Relationship Id="rId9" Type="http://schemas.openxmlformats.org/officeDocument/2006/relationships/hyperlink" Target="https://www.tiktok.com/@kenh14official/video/7536437616883928327"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chart" Target="../charts/chart7.xml"/><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hyperlink" Target="http://facebook.com/341988082671983_1259702336166524" TargetMode="External"/><Relationship Id="rId3" Type="http://schemas.openxmlformats.org/officeDocument/2006/relationships/hyperlink" Target="http://facebook.com/1556407761272968_1093356943002462" TargetMode="External"/><Relationship Id="rId7" Type="http://schemas.openxmlformats.org/officeDocument/2006/relationships/hyperlink" Target="http://facebook.com/114459498350928_646264881835555" TargetMode="External"/><Relationship Id="rId2" Type="http://schemas.openxmlformats.org/officeDocument/2006/relationships/hyperlink" Target="http://facebook.com/207529980148983_1202830278527091" TargetMode="External"/><Relationship Id="rId1" Type="http://schemas.openxmlformats.org/officeDocument/2006/relationships/slideLayout" Target="../slideLayouts/slideLayout2.xml"/><Relationship Id="rId6" Type="http://schemas.openxmlformats.org/officeDocument/2006/relationships/hyperlink" Target="http://facebook.com/1556407761272968_1074573781547445" TargetMode="External"/><Relationship Id="rId5" Type="http://schemas.openxmlformats.org/officeDocument/2006/relationships/hyperlink" Target="http://facebook.com/1556407761272968_1100133202324836" TargetMode="External"/><Relationship Id="rId10" Type="http://schemas.openxmlformats.org/officeDocument/2006/relationships/hyperlink" Target="http://facebook.com/223790994475363_1115710667431470" TargetMode="External"/><Relationship Id="rId4" Type="http://schemas.openxmlformats.org/officeDocument/2006/relationships/hyperlink" Target="http://facebook.com/192054114730975_1330054088487558" TargetMode="External"/><Relationship Id="rId9" Type="http://schemas.openxmlformats.org/officeDocument/2006/relationships/hyperlink" Target="http://facebook.com/343700282714890_1283292803155088"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
          <p:cNvSpPr txBox="1"/>
          <p:nvPr/>
        </p:nvSpPr>
        <p:spPr>
          <a:xfrm>
            <a:off x="380246" y="2228850"/>
            <a:ext cx="10421104" cy="1200150"/>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90000"/>
              </a:lnSpc>
              <a:spcBef>
                <a:spcPts val="0"/>
              </a:spcBef>
              <a:spcAft>
                <a:spcPts val="0"/>
              </a:spcAft>
              <a:buClr>
                <a:srgbClr val="FFFFFF"/>
              </a:buClr>
              <a:buSzPts val="3600"/>
              <a:buFont typeface="Arial"/>
              <a:buNone/>
              <a:tabLst/>
              <a:defRPr/>
            </a:pPr>
            <a:r>
              <a:rPr kumimoji="0" lang="en-US" sz="3600" b="1" i="0" u="none" strike="noStrike" kern="0" cap="none" spc="0" normalizeH="0" baseline="0" noProof="0">
                <a:ln>
                  <a:noFill/>
                </a:ln>
                <a:solidFill>
                  <a:srgbClr val="FFFFFF"/>
                </a:solidFill>
                <a:effectLst/>
                <a:uLnTx/>
                <a:uFillTx/>
                <a:latin typeface="SVN-Product Sans" panose="020B0403030502040203" pitchFamily="34" charset="0"/>
                <a:cs typeface="Arial"/>
                <a:sym typeface="Arial"/>
              </a:rPr>
              <a:t>BÁO CÁO TỔNG QUAN THẢO LUẬN</a:t>
            </a:r>
            <a:br>
              <a:rPr kumimoji="0" lang="en-US" sz="3600" b="1" i="0" u="none" strike="noStrike" kern="0" cap="none" spc="0" normalizeH="0" baseline="0" noProof="0">
                <a:ln>
                  <a:noFill/>
                </a:ln>
                <a:solidFill>
                  <a:srgbClr val="FFFFFF"/>
                </a:solidFill>
                <a:effectLst/>
                <a:uLnTx/>
                <a:uFillTx/>
                <a:latin typeface="SVN-Product Sans" panose="020B0403030502040203" pitchFamily="34" charset="0"/>
                <a:cs typeface="Arial"/>
                <a:sym typeface="Arial"/>
              </a:rPr>
            </a:br>
            <a:r>
              <a:rPr kumimoji="0" lang="en-US" sz="3600" b="1" i="0" u="none" strike="noStrike" kern="0" cap="none" spc="0" normalizeH="0" baseline="0" noProof="0">
                <a:ln>
                  <a:noFill/>
                </a:ln>
                <a:solidFill>
                  <a:srgbClr val="FFFFFF"/>
                </a:solidFill>
                <a:effectLst/>
                <a:uLnTx/>
                <a:uFillTx/>
                <a:latin typeface="SVN-Product Sans" panose="020B0403030502040203" pitchFamily="34" charset="0"/>
                <a:cs typeface="Arial"/>
                <a:sym typeface="Arial"/>
              </a:rPr>
              <a:t>VỀ BIDV VÀ CÁC ĐỐI THỦ</a:t>
            </a:r>
            <a:endParaRPr kumimoji="0" sz="3600" b="1" i="0" u="none" strike="noStrike" kern="0" cap="none" spc="0" normalizeH="0" baseline="0" noProof="0">
              <a:ln>
                <a:noFill/>
              </a:ln>
              <a:solidFill>
                <a:srgbClr val="FFFFFF"/>
              </a:solidFill>
              <a:effectLst/>
              <a:uLnTx/>
              <a:uFillTx/>
              <a:latin typeface="SVN-Product Sans" panose="020B0403030502040203" pitchFamily="34" charset="0"/>
              <a:cs typeface="Arial"/>
              <a:sym typeface="Arial"/>
            </a:endParaRPr>
          </a:p>
        </p:txBody>
      </p:sp>
      <p:sp>
        <p:nvSpPr>
          <p:cNvPr id="87" name="Google Shape;87;p1"/>
          <p:cNvSpPr/>
          <p:nvPr/>
        </p:nvSpPr>
        <p:spPr>
          <a:xfrm>
            <a:off x="380246" y="3429000"/>
            <a:ext cx="7652130" cy="337242"/>
          </a:xfrm>
          <a:prstGeom prst="roundRect">
            <a:avLst>
              <a:gd name="adj" fmla="val 16667"/>
            </a:avLst>
          </a:prstGeom>
          <a:solidFill>
            <a:srgbClr val="FFC62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a:ln>
                  <a:noFill/>
                </a:ln>
                <a:solidFill>
                  <a:srgbClr val="006B68"/>
                </a:solidFill>
                <a:effectLst/>
                <a:uLnTx/>
                <a:uFillTx/>
                <a:latin typeface="SVN-Product Sans" panose="020B0403030502040203" pitchFamily="34" charset="0"/>
                <a:cs typeface="Arial"/>
                <a:sym typeface="Arial"/>
              </a:rPr>
              <a:t>QUÝ III/</a:t>
            </a:r>
            <a:r>
              <a:rPr kumimoji="0" lang="en-US" sz="1800" b="1" i="0" u="none" strike="noStrike" kern="0" cap="none" spc="0" normalizeH="0" baseline="0" noProof="0" dirty="0">
                <a:ln>
                  <a:noFill/>
                </a:ln>
                <a:solidFill>
                  <a:srgbClr val="006B68"/>
                </a:solidFill>
                <a:effectLst/>
                <a:uLnTx/>
                <a:uFillTx/>
                <a:latin typeface="SVN-Product Sans" panose="020B0403030502040203" pitchFamily="34" charset="0"/>
                <a:cs typeface="Arial"/>
                <a:sym typeface="Arial"/>
              </a:rPr>
              <a:t>2025 </a:t>
            </a:r>
            <a:r>
              <a:rPr kumimoji="0" lang="vi-VN" sz="1800" b="1" i="0" u="none" strike="noStrike" kern="0" cap="none" spc="0" normalizeH="0" baseline="0" noProof="0" dirty="0">
                <a:ln>
                  <a:noFill/>
                </a:ln>
                <a:solidFill>
                  <a:srgbClr val="006B68"/>
                </a:solidFill>
                <a:effectLst/>
                <a:uLnTx/>
                <a:uFillTx/>
                <a:latin typeface="SVN-Product Sans" panose="020B0403030502040203" pitchFamily="34" charset="0"/>
                <a:cs typeface="Arial"/>
                <a:sym typeface="Arial"/>
              </a:rPr>
              <a:t>(</a:t>
            </a:r>
            <a:r>
              <a:rPr kumimoji="0" lang="en-US" sz="1800" b="1" i="0" u="none" strike="noStrike" kern="0" cap="none" spc="0" normalizeH="0" baseline="0" noProof="0" dirty="0" err="1">
                <a:ln>
                  <a:noFill/>
                </a:ln>
                <a:solidFill>
                  <a:srgbClr val="006B68"/>
                </a:solidFill>
                <a:effectLst/>
                <a:uLnTx/>
                <a:uFillTx/>
                <a:latin typeface="SVN-Product Sans" panose="020B0403030502040203" pitchFamily="34" charset="0"/>
                <a:cs typeface="Arial"/>
                <a:sym typeface="Arial"/>
              </a:rPr>
              <a:t>từ</a:t>
            </a:r>
            <a:r>
              <a:rPr kumimoji="0" lang="en-US" sz="1800" b="1" i="0" u="none" strike="noStrike" kern="0" cap="none" spc="0" normalizeH="0" baseline="0" noProof="0" dirty="0">
                <a:ln>
                  <a:noFill/>
                </a:ln>
                <a:solidFill>
                  <a:srgbClr val="006B68"/>
                </a:solidFill>
                <a:effectLst/>
                <a:uLnTx/>
                <a:uFillTx/>
                <a:latin typeface="SVN-Product Sans" panose="020B0403030502040203" pitchFamily="34" charset="0"/>
                <a:cs typeface="Arial"/>
                <a:sym typeface="Arial"/>
              </a:rPr>
              <a:t> 1</a:t>
            </a:r>
            <a:r>
              <a:rPr kumimoji="0" lang="vi-VN" sz="1800" b="1" i="0" u="none" strike="noStrike" kern="0" cap="none" spc="0" normalizeH="0" baseline="0" noProof="0" dirty="0">
                <a:ln>
                  <a:noFill/>
                </a:ln>
                <a:solidFill>
                  <a:srgbClr val="006B68"/>
                </a:solidFill>
                <a:effectLst/>
                <a:uLnTx/>
                <a:uFillTx/>
                <a:latin typeface="SVN-Product Sans" panose="020B0403030502040203" pitchFamily="34" charset="0"/>
                <a:cs typeface="Arial"/>
                <a:sym typeface="Arial"/>
              </a:rPr>
              <a:t>6</a:t>
            </a:r>
            <a:r>
              <a:rPr kumimoji="0" lang="en-US" sz="1800" b="1" i="0" u="none" strike="noStrike" kern="0" cap="none" spc="0" normalizeH="0" baseline="0" noProof="0" dirty="0">
                <a:ln>
                  <a:noFill/>
                </a:ln>
                <a:solidFill>
                  <a:srgbClr val="006B68"/>
                </a:solidFill>
                <a:effectLst/>
                <a:uLnTx/>
                <a:uFillTx/>
                <a:latin typeface="SVN-Product Sans" panose="020B0403030502040203" pitchFamily="34" charset="0"/>
                <a:cs typeface="Arial"/>
                <a:sym typeface="Arial"/>
              </a:rPr>
              <a:t>.06.2025 </a:t>
            </a:r>
            <a:r>
              <a:rPr kumimoji="0" lang="en-US" sz="1800" b="1" i="0" u="none" strike="noStrike" kern="0" cap="none" spc="0" normalizeH="0" baseline="0" noProof="0" dirty="0" err="1">
                <a:ln>
                  <a:noFill/>
                </a:ln>
                <a:solidFill>
                  <a:srgbClr val="006B68"/>
                </a:solidFill>
                <a:effectLst/>
                <a:uLnTx/>
                <a:uFillTx/>
                <a:latin typeface="SVN-Product Sans" panose="020B0403030502040203" pitchFamily="34" charset="0"/>
                <a:cs typeface="Arial"/>
                <a:sym typeface="Arial"/>
              </a:rPr>
              <a:t>đến</a:t>
            </a:r>
            <a:r>
              <a:rPr kumimoji="0" lang="en-US" sz="1800" b="1" i="0" u="none" strike="noStrike" kern="0" cap="none" spc="0" normalizeH="0" baseline="0" noProof="0" dirty="0">
                <a:ln>
                  <a:noFill/>
                </a:ln>
                <a:solidFill>
                  <a:srgbClr val="006B68"/>
                </a:solidFill>
                <a:effectLst/>
                <a:uLnTx/>
                <a:uFillTx/>
                <a:latin typeface="SVN-Product Sans" panose="020B0403030502040203" pitchFamily="34" charset="0"/>
                <a:cs typeface="Arial"/>
                <a:sym typeface="Arial"/>
              </a:rPr>
              <a:t> </a:t>
            </a:r>
            <a:r>
              <a:rPr kumimoji="0" lang="vi-VN" sz="1800" b="1" i="0" u="none" strike="noStrike" kern="0" cap="none" spc="0" normalizeH="0" baseline="0" noProof="0" dirty="0">
                <a:ln>
                  <a:noFill/>
                </a:ln>
                <a:solidFill>
                  <a:srgbClr val="006B68"/>
                </a:solidFill>
                <a:effectLst/>
                <a:uLnTx/>
                <a:uFillTx/>
                <a:latin typeface="SVN-Product Sans" panose="020B0403030502040203" pitchFamily="34" charset="0"/>
                <a:cs typeface="Arial"/>
                <a:sym typeface="Arial"/>
              </a:rPr>
              <a:t>15</a:t>
            </a:r>
            <a:r>
              <a:rPr kumimoji="0" lang="en-US" sz="1800" b="1" i="0" u="none" strike="noStrike" kern="0" cap="none" spc="0" normalizeH="0" baseline="0" noProof="0" dirty="0">
                <a:ln>
                  <a:noFill/>
                </a:ln>
                <a:solidFill>
                  <a:srgbClr val="006B68"/>
                </a:solidFill>
                <a:effectLst/>
                <a:uLnTx/>
                <a:uFillTx/>
                <a:latin typeface="SVN-Product Sans" panose="020B0403030502040203" pitchFamily="34" charset="0"/>
                <a:cs typeface="Arial"/>
                <a:sym typeface="Arial"/>
              </a:rPr>
              <a:t>.09.2025</a:t>
            </a:r>
            <a:r>
              <a:rPr kumimoji="0" lang="vi-VN" sz="1800" b="1" i="0" u="none" strike="noStrike" kern="0" cap="none" spc="0" normalizeH="0" baseline="0" noProof="0" dirty="0">
                <a:ln>
                  <a:noFill/>
                </a:ln>
                <a:solidFill>
                  <a:srgbClr val="006B68"/>
                </a:solidFill>
                <a:effectLst/>
                <a:uLnTx/>
                <a:uFillTx/>
                <a:latin typeface="SVN-Product Sans" panose="020B0403030502040203" pitchFamily="34" charset="0"/>
                <a:cs typeface="Arial"/>
                <a:sym typeface="Arial"/>
              </a:rPr>
              <a:t>)</a:t>
            </a:r>
            <a:endParaRPr kumimoji="0" sz="1800" b="1" i="0" u="none" strike="noStrike" kern="0" cap="none" spc="0" normalizeH="0" baseline="0" noProof="0" dirty="0">
              <a:ln>
                <a:noFill/>
              </a:ln>
              <a:solidFill>
                <a:srgbClr val="006B68"/>
              </a:solidFill>
              <a:effectLst/>
              <a:uLnTx/>
              <a:uFillTx/>
              <a:latin typeface="SVN-Product Sans" panose="020B0403030502040203" pitchFamily="34" charset="0"/>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27"/>
          <p:cNvSpPr txBox="1"/>
          <p:nvPr/>
        </p:nvSpPr>
        <p:spPr>
          <a:xfrm>
            <a:off x="371701" y="3608318"/>
            <a:ext cx="10929712" cy="47701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500" b="1" i="0" u="none" strike="noStrike" kern="0" cap="none" spc="0" normalizeH="0" baseline="0" noProof="0">
                <a:ln>
                  <a:noFill/>
                </a:ln>
                <a:solidFill>
                  <a:srgbClr val="FFFFFF"/>
                </a:solidFill>
                <a:effectLst/>
                <a:uLnTx/>
                <a:uFillTx/>
                <a:latin typeface="SVN-Product Sans" panose="020B0403030502040203" pitchFamily="34" charset="0"/>
                <a:cs typeface="Arial"/>
                <a:sym typeface="Arial"/>
              </a:rPr>
              <a:t>PHÂN TÍCH THẢO LUẬN CỦA BIDV VÀ MỘT SỐ NGÂN HÀNG KHÁC</a:t>
            </a:r>
            <a:endParaRPr kumimoji="0" sz="2500" b="1" i="0" u="none" strike="noStrike" kern="0" cap="none" spc="0" normalizeH="0" baseline="0" noProof="0">
              <a:ln>
                <a:noFill/>
              </a:ln>
              <a:solidFill>
                <a:srgbClr val="FFFFFF"/>
              </a:solidFill>
              <a:effectLst/>
              <a:uLnTx/>
              <a:uFillTx/>
              <a:latin typeface="SVN-Product Sans" panose="020B0403030502040203" pitchFamily="34" charset="0"/>
              <a:ea typeface="Calibri"/>
              <a:cs typeface="Calibri"/>
              <a:sym typeface="Calibri"/>
            </a:endParaRPr>
          </a:p>
        </p:txBody>
      </p:sp>
      <p:sp>
        <p:nvSpPr>
          <p:cNvPr id="546" name="Google Shape;546;p27"/>
          <p:cNvSpPr txBox="1"/>
          <p:nvPr/>
        </p:nvSpPr>
        <p:spPr>
          <a:xfrm>
            <a:off x="371701" y="2367211"/>
            <a:ext cx="5632859" cy="1323399"/>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FFFF"/>
              </a:buClr>
              <a:buSzPts val="8000"/>
              <a:buFont typeface="Arial"/>
              <a:buNone/>
              <a:tabLst/>
              <a:defRPr/>
            </a:pPr>
            <a:r>
              <a:rPr kumimoji="0" lang="en-US" sz="8000" b="1" i="0" u="none" strike="noStrike" kern="0" cap="none" spc="0" normalizeH="0" baseline="0" noProof="0">
                <a:ln>
                  <a:noFill/>
                </a:ln>
                <a:solidFill>
                  <a:srgbClr val="FFFFFF"/>
                </a:solidFill>
                <a:effectLst/>
                <a:uLnTx/>
                <a:uFillTx/>
                <a:latin typeface="SVN-Product Sans" panose="020B0403030502040203" pitchFamily="34" charset="0"/>
                <a:cs typeface="Arial"/>
                <a:sym typeface="Arial"/>
              </a:rPr>
              <a:t>C.</a:t>
            </a:r>
            <a:endParaRPr kumimoji="0" sz="8000" b="0" i="0" u="none" strike="noStrike" kern="0" cap="none" spc="0" normalizeH="0" baseline="0" noProof="0">
              <a:ln>
                <a:noFill/>
              </a:ln>
              <a:solidFill>
                <a:srgbClr val="FFFFFF"/>
              </a:solidFill>
              <a:effectLst/>
              <a:uLnTx/>
              <a:uFillTx/>
              <a:latin typeface="SVN-Product Sans" panose="020B0403030502040203" pitchFamily="34" charset="0"/>
              <a:cs typeface="Arial"/>
              <a:sym typeface="Arial"/>
            </a:endParaRPr>
          </a:p>
        </p:txBody>
      </p:sp>
    </p:spTree>
    <p:extLst>
      <p:ext uri="{BB962C8B-B14F-4D97-AF65-F5344CB8AC3E}">
        <p14:creationId xmlns:p14="http://schemas.microsoft.com/office/powerpoint/2010/main" val="1579782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graphicFrame>
        <p:nvGraphicFramePr>
          <p:cNvPr id="24" name="Google Shape;554;p28">
            <a:extLst>
              <a:ext uri="{FF2B5EF4-FFF2-40B4-BE49-F238E27FC236}">
                <a16:creationId xmlns:a16="http://schemas.microsoft.com/office/drawing/2014/main" id="{31C66A1E-FE2E-4963-4C75-931EA211D1E3}"/>
              </a:ext>
            </a:extLst>
          </p:cNvPr>
          <p:cNvGraphicFramePr/>
          <p:nvPr>
            <p:extLst>
              <p:ext uri="{D42A27DB-BD31-4B8C-83A1-F6EECF244321}">
                <p14:modId xmlns:p14="http://schemas.microsoft.com/office/powerpoint/2010/main" val="4085140460"/>
              </p:ext>
            </p:extLst>
          </p:nvPr>
        </p:nvGraphicFramePr>
        <p:xfrm>
          <a:off x="344819" y="2831961"/>
          <a:ext cx="2227513" cy="2409724"/>
        </p:xfrm>
        <a:graphic>
          <a:graphicData uri="http://schemas.openxmlformats.org/drawingml/2006/chart">
            <c:chart xmlns:c="http://schemas.openxmlformats.org/drawingml/2006/chart" xmlns:r="http://schemas.openxmlformats.org/officeDocument/2006/relationships" r:id="rId3"/>
          </a:graphicData>
        </a:graphic>
      </p:graphicFrame>
      <p:sp>
        <p:nvSpPr>
          <p:cNvPr id="552" name="Google Shape;552;p28"/>
          <p:cNvSpPr/>
          <p:nvPr/>
        </p:nvSpPr>
        <p:spPr>
          <a:xfrm>
            <a:off x="219366" y="560288"/>
            <a:ext cx="11753268" cy="2006794"/>
          </a:xfrm>
          <a:prstGeom prst="roundRect">
            <a:avLst>
              <a:gd name="adj" fmla="val 6219"/>
            </a:avLst>
          </a:prstGeom>
          <a:no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defTabSz="914400" rtl="0" eaLnBrk="1" fontAlgn="auto" latinLnBrk="0" hangingPunct="1">
              <a:lnSpc>
                <a:spcPct val="100000"/>
              </a:lnSpc>
              <a:spcBef>
                <a:spcPts val="0"/>
              </a:spcBef>
              <a:spcAft>
                <a:spcPts val="600"/>
              </a:spcAft>
              <a:buClr>
                <a:srgbClr val="7F7F7F"/>
              </a:buClr>
              <a:buSzPts val="1400"/>
              <a:buFont typeface="Arial"/>
              <a:buNone/>
              <a:tabLst/>
              <a:defRPr/>
            </a:pPr>
            <a:r>
              <a:rPr kumimoji="0" lang="en-US" sz="1300" b="1" i="0" u="none" strike="noStrike" kern="0" cap="none" spc="0" normalizeH="0" baseline="0" noProof="0" dirty="0">
                <a:ln>
                  <a:noFill/>
                </a:ln>
                <a:solidFill>
                  <a:srgbClr val="158C49"/>
                </a:solidFill>
                <a:effectLst/>
                <a:uLnTx/>
                <a:uFillTx/>
                <a:latin typeface="SVN-Product Sans" panose="020B0403030502040203" pitchFamily="34" charset="0"/>
                <a:cs typeface="Arial"/>
                <a:sym typeface="Arial"/>
              </a:rPr>
              <a:t>VPBANK</a:t>
            </a:r>
            <a:r>
              <a:rPr kumimoji="0" lang="en-US" sz="1300" b="1"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TỤT HẠNG, GIẢM MẠNH VỀ LƯỢNG THẢO LUẬN TRONG QUÝ 3 SAU KHI THIẾU HOẠT ĐỘNG NỔI BẬT NHƯ ĐẠI NHẠC HỘI TRONG QUÝ 2</a:t>
            </a:r>
          </a:p>
          <a:p>
            <a:pPr marL="117475" marR="0" lvl="0" indent="-117475" algn="just" defTabSz="914400" rtl="0" eaLnBrk="1" fontAlgn="auto" latinLnBrk="0" hangingPunct="1">
              <a:lnSpc>
                <a:spcPct val="100000"/>
              </a:lnSpc>
              <a:spcBef>
                <a:spcPts val="0"/>
              </a:spcBef>
              <a:spcAft>
                <a:spcPts val="300"/>
              </a:spcAft>
              <a:buClr>
                <a:srgbClr val="7F7F7F"/>
              </a:buClr>
              <a:buSzPts val="1400"/>
              <a:buFont typeface="Arial"/>
              <a:buChar char="•"/>
              <a:tabLst/>
              <a:defRPr/>
            </a:pP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Tổng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lượng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thảo</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luận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ngành</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hàng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giảm</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nhẹ</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1,4% so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với</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quý</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2,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chủ</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yếu</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ảnh</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hưởng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đến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từ</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việc</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1" i="0" u="none" strike="noStrike" kern="0" cap="none" spc="0" normalizeH="0" baseline="0" noProof="0" dirty="0" err="1">
                <a:ln>
                  <a:noFill/>
                </a:ln>
                <a:solidFill>
                  <a:srgbClr val="008D4B"/>
                </a:solidFill>
                <a:effectLst/>
                <a:uLnTx/>
                <a:uFillTx/>
                <a:latin typeface="SVN-Product Sans" panose="020B0403030502040203" pitchFamily="34" charset="0"/>
                <a:cs typeface="Arial"/>
                <a:sym typeface="Arial"/>
              </a:rPr>
              <a:t>VPBank</a:t>
            </a:r>
            <a:r>
              <a:rPr kumimoji="0" lang="en-US" sz="1100" b="1" i="0" u="none" strike="noStrike" kern="0" cap="none" spc="0" normalizeH="0" baseline="0" noProof="0" dirty="0">
                <a:ln>
                  <a:noFill/>
                </a:ln>
                <a:solidFill>
                  <a:srgbClr val="008D4B"/>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giảm</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mạnh</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thảo</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luận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về</a:t>
            </a:r>
            <a:r>
              <a:rPr lang="en-US" sz="1100" kern="0" dirty="0">
                <a:solidFill>
                  <a:srgbClr val="000000"/>
                </a:solidFill>
                <a:latin typeface="SVN-Product Sans" panose="020B0403030502040203" pitchFamily="34" charset="0"/>
                <a:cs typeface="Arial"/>
                <a:sym typeface="Arial"/>
              </a:rPr>
              <a:t> </a:t>
            </a:r>
            <a:r>
              <a:rPr kumimoji="0" lang="en-US" sz="1100" b="1" i="1"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Đại</a:t>
            </a:r>
            <a:r>
              <a:rPr kumimoji="0" lang="en-US" sz="1100" b="1" i="1"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1" i="1"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nhạc</a:t>
            </a:r>
            <a:r>
              <a:rPr kumimoji="0" lang="en-US" sz="1100" b="1" i="1"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1" i="1"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hội</a:t>
            </a:r>
            <a:r>
              <a:rPr kumimoji="0" lang="en-US" sz="1100" b="1" i="1"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“VPBANK K-STAR SPARK” </a:t>
            </a:r>
            <a:r>
              <a:rPr lang="en-US" sz="1100" kern="0" dirty="0">
                <a:solidFill>
                  <a:srgbClr val="000000"/>
                </a:solidFill>
                <a:latin typeface="SVN-Product Sans" panose="020B0403030502040203" pitchFamily="34" charset="0"/>
                <a:cs typeface="Arial"/>
                <a:sym typeface="Arial"/>
              </a:rPr>
              <a:t> so </a:t>
            </a:r>
            <a:r>
              <a:rPr lang="en-US" sz="1100" kern="0" dirty="0" err="1">
                <a:solidFill>
                  <a:srgbClr val="000000"/>
                </a:solidFill>
                <a:latin typeface="SVN-Product Sans" panose="020B0403030502040203" pitchFamily="34" charset="0"/>
                <a:cs typeface="Arial"/>
                <a:sym typeface="Arial"/>
              </a:rPr>
              <a:t>với</a:t>
            </a:r>
            <a:r>
              <a:rPr lang="en-US" sz="1100" kern="0" dirty="0">
                <a:solidFill>
                  <a:srgbClr val="000000"/>
                </a:solidFill>
                <a:latin typeface="SVN-Product Sans" panose="020B0403030502040203" pitchFamily="34" charset="0"/>
                <a:cs typeface="Arial"/>
                <a:sym typeface="Arial"/>
              </a:rPr>
              <a:t> </a:t>
            </a:r>
            <a:r>
              <a:rPr lang="en-US" sz="1100" kern="0" dirty="0" err="1">
                <a:solidFill>
                  <a:srgbClr val="000000"/>
                </a:solidFill>
                <a:latin typeface="SVN-Product Sans" panose="020B0403030502040203" pitchFamily="34" charset="0"/>
                <a:cs typeface="Arial"/>
                <a:sym typeface="Arial"/>
              </a:rPr>
              <a:t>quý</a:t>
            </a:r>
            <a:r>
              <a:rPr lang="en-US" sz="1100" kern="0" dirty="0">
                <a:solidFill>
                  <a:srgbClr val="000000"/>
                </a:solidFill>
                <a:latin typeface="SVN-Product Sans" panose="020B0403030502040203" pitchFamily="34" charset="0"/>
                <a:cs typeface="Arial"/>
                <a:sym typeface="Arial"/>
              </a:rPr>
              <a:t> 2. </a:t>
            </a:r>
            <a:endPar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endParaRPr>
          </a:p>
          <a:p>
            <a:pPr marL="117475" marR="0" lvl="0" indent="-117475" algn="just" defTabSz="914400" rtl="0" eaLnBrk="1" fontAlgn="auto" latinLnBrk="0" hangingPunct="1">
              <a:lnSpc>
                <a:spcPct val="100000"/>
              </a:lnSpc>
              <a:spcBef>
                <a:spcPts val="0"/>
              </a:spcBef>
              <a:spcAft>
                <a:spcPts val="300"/>
              </a:spcAft>
              <a:buClr>
                <a:srgbClr val="7F7F7F"/>
              </a:buClr>
              <a:buSzPts val="1400"/>
              <a:buFont typeface="Arial"/>
              <a:buChar char="•"/>
              <a:tabLst/>
              <a:defRPr/>
            </a:pP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Về</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phía</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các</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ngân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hàng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khác</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1" i="0" u="none" strike="noStrike" kern="0" cap="none" spc="0" normalizeH="0" baseline="0" noProof="0" dirty="0" err="1">
                <a:ln>
                  <a:noFill/>
                </a:ln>
                <a:solidFill>
                  <a:srgbClr val="FF0000"/>
                </a:solidFill>
                <a:effectLst/>
                <a:uLnTx/>
                <a:uFillTx/>
                <a:latin typeface="SVN-Product Sans" panose="020B0403030502040203" pitchFamily="34" charset="0"/>
                <a:cs typeface="Arial"/>
                <a:sym typeface="Arial"/>
              </a:rPr>
              <a:t>Techcombank</a:t>
            </a:r>
            <a:r>
              <a:rPr kumimoji="0" lang="en-US" sz="1100" b="1" i="0" u="none" strike="noStrike" kern="0" cap="none" spc="0" normalizeH="0" baseline="0" noProof="0" dirty="0">
                <a:ln>
                  <a:noFill/>
                </a:ln>
                <a:solidFill>
                  <a:srgbClr val="FF0000"/>
                </a:solidFill>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vươn</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lên</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dẫn</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đầu</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với</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sự</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tăng</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trưởng</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45,7%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ghi</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nhận</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các</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thảo</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luận</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nổi</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bật</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liên</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quan</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đến</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hoạt</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động</a:t>
            </a:r>
            <a:r>
              <a:rPr lang="en-US" sz="1100" kern="0" dirty="0">
                <a:latin typeface="SVN-Product Sans" panose="020B0403030502040203" pitchFamily="34" charset="0"/>
                <a:cs typeface="Arial"/>
                <a:sym typeface="Arial"/>
              </a:rPr>
              <a:t> concert Anh </a:t>
            </a:r>
            <a:r>
              <a:rPr lang="en-US" sz="1100" kern="0" dirty="0" err="1">
                <a:latin typeface="SVN-Product Sans" panose="020B0403030502040203" pitchFamily="34" charset="0"/>
                <a:cs typeface="Arial"/>
                <a:sym typeface="Arial"/>
              </a:rPr>
              <a:t>trai</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vượt</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ngàn</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trông</a:t>
            </a:r>
            <a:r>
              <a:rPr lang="en-US" sz="1100" kern="0" dirty="0">
                <a:latin typeface="SVN-Product Sans" panose="020B0403030502040203" pitchFamily="34" charset="0"/>
                <a:cs typeface="Arial"/>
                <a:sym typeface="Arial"/>
              </a:rPr>
              <a:t> gai, </a:t>
            </a:r>
            <a:r>
              <a:rPr lang="en-US" sz="1100" kern="0" dirty="0" err="1">
                <a:latin typeface="SVN-Product Sans" panose="020B0403030502040203" pitchFamily="34" charset="0"/>
                <a:cs typeface="Arial"/>
                <a:sym typeface="Arial"/>
              </a:rPr>
              <a:t>tài</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trợ</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chương</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trình</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Tân</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Binh</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Toàn</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Năng</a:t>
            </a:r>
            <a:r>
              <a:rPr lang="en-US" sz="1100" kern="0" dirty="0">
                <a:latin typeface="SVN-Product Sans" panose="020B0403030502040203" pitchFamily="34" charset="0"/>
                <a:cs typeface="Arial"/>
                <a:sym typeface="Arial"/>
              </a:rPr>
              <a:t>. </a:t>
            </a:r>
            <a:r>
              <a:rPr kumimoji="0" lang="en-US" sz="1100" b="1" i="0" u="none" strike="noStrike" kern="0" cap="none" spc="0" normalizeH="0" baseline="0" noProof="0" dirty="0" err="1">
                <a:ln>
                  <a:noFill/>
                </a:ln>
                <a:solidFill>
                  <a:srgbClr val="0B4825"/>
                </a:solidFill>
                <a:effectLst/>
                <a:uLnTx/>
                <a:uFillTx/>
                <a:latin typeface="SVN-Product Sans" panose="020B0403030502040203" pitchFamily="34" charset="0"/>
                <a:cs typeface="Arial"/>
                <a:sym typeface="Arial"/>
              </a:rPr>
              <a:t>Vietcombank</a:t>
            </a:r>
            <a:r>
              <a:rPr kumimoji="0" lang="en-US" sz="1100" b="1" i="0" u="none" strike="noStrike" kern="0" cap="none" spc="0" normalizeH="0" baseline="0" noProof="0" dirty="0">
                <a:ln>
                  <a:noFill/>
                </a:ln>
                <a:solidFill>
                  <a:srgbClr val="0B4825"/>
                </a:solidFill>
                <a:effectLst/>
                <a:uLnTx/>
                <a:uFillTx/>
                <a:latin typeface="SVN-Product Sans" panose="020B0403030502040203" pitchFamily="34" charset="0"/>
                <a:cs typeface="Arial"/>
                <a:sym typeface="Arial"/>
              </a:rPr>
              <a:t>, </a:t>
            </a:r>
            <a:r>
              <a:rPr kumimoji="0" lang="en-US" sz="1100" b="1" i="0" u="none" strike="noStrike" kern="0" cap="none" spc="0" normalizeH="0" baseline="0" noProof="0" dirty="0">
                <a:ln>
                  <a:noFill/>
                </a:ln>
                <a:solidFill>
                  <a:srgbClr val="131DD3"/>
                </a:solidFill>
                <a:effectLst/>
                <a:uLnTx/>
                <a:uFillTx/>
                <a:latin typeface="SVN-Product Sans" panose="020B0403030502040203" pitchFamily="34" charset="0"/>
                <a:cs typeface="Arial"/>
                <a:sym typeface="Arial"/>
              </a:rPr>
              <a:t>MB Bank</a:t>
            </a:r>
            <a:r>
              <a:rPr kumimoji="0" lang="en-US" sz="1100" b="1" i="0" u="none" strike="noStrike" kern="0" cap="none" spc="0" normalizeH="0" baseline="0" noProof="0" dirty="0">
                <a:ln>
                  <a:noFill/>
                </a:ln>
                <a:solidFill>
                  <a:srgbClr val="0B4825"/>
                </a:solidFill>
                <a:effectLst/>
                <a:uLnTx/>
                <a:uFillTx/>
                <a:latin typeface="SVN-Product Sans" panose="020B0403030502040203" pitchFamily="34" charset="0"/>
                <a:cs typeface="Arial"/>
                <a:sym typeface="Arial"/>
              </a:rPr>
              <a:t>, </a:t>
            </a:r>
            <a:r>
              <a:rPr kumimoji="0" lang="en-US" sz="1100" b="1" i="0" u="none" strike="noStrike" kern="0" cap="none" spc="0" normalizeH="0" baseline="0" noProof="0" dirty="0">
                <a:ln>
                  <a:noFill/>
                </a:ln>
                <a:solidFill>
                  <a:srgbClr val="0E6C69"/>
                </a:solidFill>
                <a:effectLst/>
                <a:uLnTx/>
                <a:uFillTx/>
                <a:latin typeface="SVN-Product Sans" panose="020B0403030502040203" pitchFamily="34" charset="0"/>
                <a:cs typeface="Arial"/>
                <a:sym typeface="Arial"/>
              </a:rPr>
              <a:t>BIDV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cũng</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ghi</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nhận</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sự</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gia</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tăng</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thảo</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luận</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trong</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đó</a:t>
            </a:r>
            <a:r>
              <a:rPr lang="en-US" sz="1100" kern="0" dirty="0">
                <a:latin typeface="SVN-Product Sans" panose="020B0403030502040203" pitchFamily="34" charset="0"/>
                <a:cs typeface="Arial"/>
                <a:sym typeface="Arial"/>
              </a:rPr>
              <a:t> </a:t>
            </a:r>
            <a:r>
              <a:rPr kumimoji="0" lang="en-US" sz="1100" b="1" i="0" u="none" strike="noStrike" kern="0" cap="none" spc="0" normalizeH="0" baseline="0" noProof="0" dirty="0" err="1">
                <a:ln>
                  <a:noFill/>
                </a:ln>
                <a:solidFill>
                  <a:srgbClr val="0B4825"/>
                </a:solidFill>
                <a:effectLst/>
                <a:uLnTx/>
                <a:uFillTx/>
                <a:latin typeface="SVN-Product Sans" panose="020B0403030502040203" pitchFamily="34" charset="0"/>
                <a:cs typeface="Arial"/>
                <a:sym typeface="Arial"/>
              </a:rPr>
              <a:t>Vietcombank</a:t>
            </a:r>
            <a:r>
              <a:rPr kumimoji="0" lang="en-US" sz="1100" b="1" i="0" u="none" strike="noStrike" kern="0" cap="none" spc="0" normalizeH="0" baseline="0" noProof="0" dirty="0">
                <a:ln>
                  <a:noFill/>
                </a:ln>
                <a:solidFill>
                  <a:srgbClr val="0B4825"/>
                </a:solidFill>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đồng</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hành</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cùng</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chương</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trình</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Chiến</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sĩ</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quả</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cảm</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b="1" i="0" u="none" strike="noStrike" kern="0" cap="none" spc="0" normalizeH="0" baseline="0" noProof="0" dirty="0">
                <a:ln>
                  <a:noFill/>
                </a:ln>
                <a:solidFill>
                  <a:srgbClr val="131DD3"/>
                </a:solidFill>
                <a:effectLst/>
                <a:uLnTx/>
                <a:uFillTx/>
                <a:latin typeface="SVN-Product Sans" panose="020B0403030502040203" pitchFamily="34" charset="0"/>
                <a:cs typeface="Arial"/>
                <a:sym typeface="Arial"/>
              </a:rPr>
              <a:t>MB Bank </a:t>
            </a:r>
            <a:r>
              <a:rPr lang="en-US" sz="1100" kern="0" dirty="0" err="1">
                <a:latin typeface="SVN-Product Sans" panose="020B0403030502040203" pitchFamily="34" charset="0"/>
                <a:cs typeface="Arial"/>
                <a:sym typeface="Arial"/>
              </a:rPr>
              <a:t>đồng</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hành</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cùng</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chương</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trình</a:t>
            </a:r>
            <a:r>
              <a:rPr lang="en-US" sz="1100" kern="0" dirty="0">
                <a:latin typeface="SVN-Product Sans" panose="020B0403030502040203" pitchFamily="34" charset="0"/>
                <a:cs typeface="Arial"/>
                <a:sym typeface="Arial"/>
              </a:rPr>
              <a:t> Sao </a:t>
            </a:r>
            <a:r>
              <a:rPr lang="en-US" sz="1100" kern="0" dirty="0" err="1">
                <a:latin typeface="SVN-Product Sans" panose="020B0403030502040203" pitchFamily="34" charset="0"/>
                <a:cs typeface="Arial"/>
                <a:sym typeface="Arial"/>
              </a:rPr>
              <a:t>nhập</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ngũ</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cả</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hai</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thương</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hiệu</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cũng</a:t>
            </a:r>
            <a:r>
              <a:rPr lang="en-US" sz="1100" kern="0" dirty="0">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tổ</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chức</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các</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hoạt</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động</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minigame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trên</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fanpage</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nhận</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hưởng</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ứng</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tích</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cực</a:t>
            </a:r>
            <a:r>
              <a:rPr lang="en-US" sz="1100" kern="0" dirty="0">
                <a:latin typeface="SVN-Product Sans" panose="020B0403030502040203" pitchFamily="34" charset="0"/>
                <a:cs typeface="Arial"/>
                <a:sym typeface="Arial"/>
              </a:rPr>
              <a:t>.</a:t>
            </a:r>
          </a:p>
          <a:p>
            <a:pPr marL="117475" marR="0" lvl="0" indent="-117475" algn="just" defTabSz="914400" rtl="0" eaLnBrk="1" fontAlgn="auto" latinLnBrk="0" hangingPunct="1">
              <a:lnSpc>
                <a:spcPct val="100000"/>
              </a:lnSpc>
              <a:spcBef>
                <a:spcPts val="0"/>
              </a:spcBef>
              <a:spcAft>
                <a:spcPts val="300"/>
              </a:spcAft>
              <a:buClr>
                <a:srgbClr val="7F7F7F"/>
              </a:buClr>
              <a:buSzPts val="1400"/>
              <a:buFont typeface="Arial"/>
              <a:buChar char="•"/>
              <a:tabLst/>
              <a:defRPr/>
            </a:pP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Ghi</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nhận</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sự</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giảm</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mạnh</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trong</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quý</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3, </a:t>
            </a:r>
            <a:r>
              <a:rPr kumimoji="0" lang="en-US" sz="1100" b="1" i="0" u="none" strike="noStrike" kern="0" cap="none" spc="0" normalizeH="0" baseline="0" noProof="0" dirty="0">
                <a:ln>
                  <a:noFill/>
                </a:ln>
                <a:solidFill>
                  <a:srgbClr val="00B0F0"/>
                </a:solidFill>
                <a:effectLst/>
                <a:uLnTx/>
                <a:uFillTx/>
                <a:latin typeface="SVN-Product Sans" panose="020B0403030502040203" pitchFamily="34" charset="0"/>
                <a:cs typeface="Arial"/>
                <a:sym typeface="Arial"/>
              </a:rPr>
              <a:t>ACB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với</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lượng</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thảo</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luận</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chủ</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yếu</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đến</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từ</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các</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bài</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đăng</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tương</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tác</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các</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tin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tức</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có</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nhắc</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đến</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ACB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trên</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các</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trang</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cộng</a:t>
            </a:r>
            <a:r>
              <a:rPr kumimoji="0" lang="en-US" sz="1100" i="0" u="none" strike="noStrike" kern="0" cap="none" spc="0" normalizeH="0" baseline="0" noProof="0" dirty="0">
                <a:ln>
                  <a:noFill/>
                </a:ln>
                <a:effectLst/>
                <a:uLnTx/>
                <a:uFillTx/>
                <a:latin typeface="SVN-Product Sans" panose="020B0403030502040203" pitchFamily="34" charset="0"/>
                <a:cs typeface="Arial"/>
                <a:sym typeface="Arial"/>
              </a:rPr>
              <a:t> </a:t>
            </a:r>
            <a:r>
              <a:rPr kumimoji="0" lang="en-US" sz="1100" i="0" u="none" strike="noStrike" kern="0" cap="none" spc="0" normalizeH="0" baseline="0" noProof="0" dirty="0" err="1">
                <a:ln>
                  <a:noFill/>
                </a:ln>
                <a:effectLst/>
                <a:uLnTx/>
                <a:uFillTx/>
                <a:latin typeface="SVN-Product Sans" panose="020B0403030502040203" pitchFamily="34" charset="0"/>
                <a:cs typeface="Arial"/>
                <a:sym typeface="Arial"/>
              </a:rPr>
              <a:t>đồng</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tuy</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nhiên</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thiếu</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vắng</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các</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hoạt</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động</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thúc</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đẩy</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người</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dùng</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tương</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tác</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trên</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các</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kênh</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sở</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hữu</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của</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thương</a:t>
            </a:r>
            <a:r>
              <a:rPr lang="en-US" sz="1100" kern="0" dirty="0">
                <a:latin typeface="SVN-Product Sans" panose="020B0403030502040203" pitchFamily="34" charset="0"/>
                <a:cs typeface="Arial"/>
                <a:sym typeface="Arial"/>
              </a:rPr>
              <a:t> </a:t>
            </a:r>
            <a:r>
              <a:rPr lang="en-US" sz="1100" kern="0" dirty="0" err="1">
                <a:latin typeface="SVN-Product Sans" panose="020B0403030502040203" pitchFamily="34" charset="0"/>
                <a:cs typeface="Arial"/>
                <a:sym typeface="Arial"/>
              </a:rPr>
              <a:t>hiệu</a:t>
            </a:r>
            <a:r>
              <a:rPr lang="en-US" sz="1100" kern="0" dirty="0">
                <a:latin typeface="SVN-Product Sans" panose="020B0403030502040203" pitchFamily="34" charset="0"/>
                <a:cs typeface="Arial"/>
                <a:sym typeface="Arial"/>
              </a:rPr>
              <a:t>.</a:t>
            </a:r>
            <a:endParaRPr kumimoji="0" lang="en-US" sz="1100" i="0" u="none" strike="noStrike" kern="0" cap="none" spc="0" normalizeH="0" baseline="0" noProof="0" dirty="0">
              <a:ln>
                <a:noFill/>
              </a:ln>
              <a:effectLst/>
              <a:uLnTx/>
              <a:uFillTx/>
              <a:latin typeface="SVN-Product Sans" panose="020B0403030502040203" pitchFamily="34" charset="0"/>
              <a:cs typeface="Arial"/>
              <a:sym typeface="Arial"/>
            </a:endParaRPr>
          </a:p>
        </p:txBody>
      </p:sp>
      <p:sp>
        <p:nvSpPr>
          <p:cNvPr id="553" name="Google Shape;553;p28"/>
          <p:cNvSpPr txBox="1">
            <a:spLocks noGrp="1"/>
          </p:cNvSpPr>
          <p:nvPr>
            <p:ph type="title"/>
          </p:nvPr>
        </p:nvSpPr>
        <p:spPr>
          <a:xfrm>
            <a:off x="2068154" y="147389"/>
            <a:ext cx="9953993" cy="45982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B68"/>
              </a:buClr>
              <a:buSzPts val="2400"/>
              <a:buFont typeface="Arial"/>
              <a:buNone/>
            </a:pPr>
            <a:r>
              <a:rPr lang="en-US" sz="2000" dirty="0">
                <a:latin typeface="SVN-Product Sans" panose="020B0403030502040203" pitchFamily="34" charset="0"/>
                <a:sym typeface="Arial"/>
              </a:rPr>
              <a:t>TỔNG QUAN </a:t>
            </a:r>
            <a:r>
              <a:rPr lang="en-US" sz="2000" dirty="0"/>
              <a:t>ĐỀ CẬP </a:t>
            </a:r>
            <a:r>
              <a:rPr lang="en-US" sz="2000" dirty="0">
                <a:latin typeface="SVN-Product Sans" panose="020B0403030502040203" pitchFamily="34" charset="0"/>
                <a:sym typeface="Arial"/>
              </a:rPr>
              <a:t>VỀ THƯƠNG HIỆU BIDV VÀ MỘT SỐ NGÂN HÀNG KHÁC</a:t>
            </a:r>
            <a:endParaRPr sz="2000" dirty="0">
              <a:latin typeface="SVN-Product Sans" panose="020B0403030502040203" pitchFamily="34" charset="0"/>
            </a:endParaRPr>
          </a:p>
        </p:txBody>
      </p:sp>
      <p:graphicFrame>
        <p:nvGraphicFramePr>
          <p:cNvPr id="554" name="Google Shape;554;p28"/>
          <p:cNvGraphicFramePr/>
          <p:nvPr>
            <p:extLst>
              <p:ext uri="{D42A27DB-BD31-4B8C-83A1-F6EECF244321}">
                <p14:modId xmlns:p14="http://schemas.microsoft.com/office/powerpoint/2010/main" val="3442089160"/>
              </p:ext>
            </p:extLst>
          </p:nvPr>
        </p:nvGraphicFramePr>
        <p:xfrm>
          <a:off x="3140756" y="2831961"/>
          <a:ext cx="2227513" cy="2409724"/>
        </p:xfrm>
        <a:graphic>
          <a:graphicData uri="http://schemas.openxmlformats.org/drawingml/2006/chart">
            <c:chart xmlns:c="http://schemas.openxmlformats.org/drawingml/2006/chart" xmlns:r="http://schemas.openxmlformats.org/officeDocument/2006/relationships" r:id="rId4"/>
          </a:graphicData>
        </a:graphic>
      </p:graphicFrame>
      <p:sp>
        <p:nvSpPr>
          <p:cNvPr id="581" name="Google Shape;581;p28"/>
          <p:cNvSpPr txBox="1"/>
          <p:nvPr/>
        </p:nvSpPr>
        <p:spPr>
          <a:xfrm>
            <a:off x="3586742" y="3684946"/>
            <a:ext cx="1317081" cy="697586"/>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546A"/>
              </a:buClr>
              <a:buSzPts val="2000"/>
              <a:buFont typeface="Arial"/>
              <a:buNone/>
              <a:tabLst/>
              <a:defRPr/>
            </a:pPr>
            <a:r>
              <a:rPr kumimoji="0" lang="en-US" sz="1800" b="1"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t>814,625 </a:t>
            </a:r>
            <a:br>
              <a:rPr kumimoji="0" lang="en-US" sz="800" b="1"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br>
            <a:r>
              <a:rPr kumimoji="0" lang="en-US" sz="800" b="1"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lượt</a:t>
            </a:r>
            <a:r>
              <a:rPr kumimoji="0" lang="en-US" sz="800" b="1"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t> </a:t>
            </a:r>
            <a:r>
              <a:rPr kumimoji="0" lang="en-US" sz="800" b="1"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đề</a:t>
            </a:r>
            <a:r>
              <a:rPr kumimoji="0" lang="en-US" sz="800" b="1"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t> </a:t>
            </a:r>
            <a:r>
              <a:rPr kumimoji="0" lang="en-US" sz="800" b="1"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cập</a:t>
            </a:r>
            <a:endParaRPr kumimoji="0" lang="en-US" sz="800" b="1"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endParaRPr>
          </a:p>
          <a:p>
            <a:pPr marL="0" marR="0" lvl="0" indent="0" algn="ctr" defTabSz="914400" rtl="0" eaLnBrk="1" fontAlgn="auto" latinLnBrk="0" hangingPunct="1">
              <a:lnSpc>
                <a:spcPct val="100000"/>
              </a:lnSpc>
              <a:spcBef>
                <a:spcPts val="400"/>
              </a:spcBef>
              <a:spcAft>
                <a:spcPts val="0"/>
              </a:spcAft>
              <a:buClr>
                <a:srgbClr val="44546A"/>
              </a:buClr>
              <a:buSzPts val="2000"/>
              <a:buFont typeface="Arial"/>
              <a:buNone/>
              <a:tabLst/>
              <a:defRPr/>
            </a:pPr>
            <a:r>
              <a:rPr lang="en-US" sz="1000" b="1" kern="0" dirty="0">
                <a:solidFill>
                  <a:srgbClr val="FF0000"/>
                </a:solidFill>
                <a:latin typeface="SVN-Product Sans" panose="020B0403030502040203" pitchFamily="34" charset="0"/>
                <a:cs typeface="Times New Roman" panose="02020603050405020304" pitchFamily="18" charset="0"/>
                <a:sym typeface="Arial"/>
              </a:rPr>
              <a:t>🔻1,4%</a:t>
            </a:r>
            <a:endParaRPr kumimoji="0" sz="1000" b="1" i="0" u="none" strike="noStrike" kern="0" cap="none" spc="0" normalizeH="0" baseline="0" noProof="0" dirty="0">
              <a:ln>
                <a:noFill/>
              </a:ln>
              <a:solidFill>
                <a:srgbClr val="FF0000"/>
              </a:solidFill>
              <a:effectLst/>
              <a:uLnTx/>
              <a:uFillTx/>
              <a:latin typeface="SVN-Product Sans" panose="020B0403030502040203" pitchFamily="34" charset="0"/>
              <a:cs typeface="Arial"/>
              <a:sym typeface="Arial"/>
            </a:endParaRPr>
          </a:p>
        </p:txBody>
      </p:sp>
      <p:graphicFrame>
        <p:nvGraphicFramePr>
          <p:cNvPr id="568" name="Google Shape;568;p28"/>
          <p:cNvGraphicFramePr/>
          <p:nvPr>
            <p:extLst>
              <p:ext uri="{D42A27DB-BD31-4B8C-83A1-F6EECF244321}">
                <p14:modId xmlns:p14="http://schemas.microsoft.com/office/powerpoint/2010/main" val="1230980319"/>
              </p:ext>
            </p:extLst>
          </p:nvPr>
        </p:nvGraphicFramePr>
        <p:xfrm>
          <a:off x="5676634" y="3070954"/>
          <a:ext cx="6096583" cy="3425951"/>
        </p:xfrm>
        <a:graphic>
          <a:graphicData uri="http://schemas.openxmlformats.org/drawingml/2006/chart">
            <c:chart xmlns:c="http://schemas.openxmlformats.org/drawingml/2006/chart" xmlns:r="http://schemas.openxmlformats.org/officeDocument/2006/relationships" r:id="rId5"/>
          </a:graphicData>
        </a:graphic>
      </p:graphicFrame>
      <p:pic>
        <p:nvPicPr>
          <p:cNvPr id="572" name="Google Shape;572;p28"/>
          <p:cNvPicPr preferRelativeResize="0"/>
          <p:nvPr/>
        </p:nvPicPr>
        <p:blipFill rotWithShape="1">
          <a:blip r:embed="rId6">
            <a:alphaModFix/>
          </a:blip>
          <a:srcRect/>
          <a:stretch/>
        </p:blipFill>
        <p:spPr>
          <a:xfrm>
            <a:off x="6496490" y="6297712"/>
            <a:ext cx="655473" cy="139435"/>
          </a:xfrm>
          <a:prstGeom prst="rect">
            <a:avLst/>
          </a:prstGeom>
          <a:noFill/>
          <a:ln>
            <a:noFill/>
          </a:ln>
        </p:spPr>
      </p:pic>
      <p:pic>
        <p:nvPicPr>
          <p:cNvPr id="573" name="Google Shape;573;p28"/>
          <p:cNvPicPr preferRelativeResize="0"/>
          <p:nvPr/>
        </p:nvPicPr>
        <p:blipFill rotWithShape="1">
          <a:blip r:embed="rId7">
            <a:alphaModFix/>
          </a:blip>
          <a:srcRect l="16489" t="37966" r="15703" b="37225"/>
          <a:stretch/>
        </p:blipFill>
        <p:spPr>
          <a:xfrm>
            <a:off x="7299111" y="6240056"/>
            <a:ext cx="538742" cy="197091"/>
          </a:xfrm>
          <a:prstGeom prst="rect">
            <a:avLst/>
          </a:prstGeom>
          <a:noFill/>
          <a:ln>
            <a:noFill/>
          </a:ln>
        </p:spPr>
      </p:pic>
      <p:pic>
        <p:nvPicPr>
          <p:cNvPr id="574" name="Google Shape;574;p28"/>
          <p:cNvPicPr preferRelativeResize="0"/>
          <p:nvPr/>
        </p:nvPicPr>
        <p:blipFill rotWithShape="1">
          <a:blip r:embed="rId8">
            <a:alphaModFix/>
          </a:blip>
          <a:srcRect/>
          <a:stretch/>
        </p:blipFill>
        <p:spPr>
          <a:xfrm>
            <a:off x="8091193" y="6231430"/>
            <a:ext cx="478148" cy="214342"/>
          </a:xfrm>
          <a:prstGeom prst="rect">
            <a:avLst/>
          </a:prstGeom>
          <a:noFill/>
          <a:ln>
            <a:noFill/>
          </a:ln>
        </p:spPr>
      </p:pic>
      <p:pic>
        <p:nvPicPr>
          <p:cNvPr id="575" name="Google Shape;575;p28"/>
          <p:cNvPicPr preferRelativeResize="0"/>
          <p:nvPr/>
        </p:nvPicPr>
        <p:blipFill rotWithShape="1">
          <a:blip r:embed="rId9">
            <a:alphaModFix/>
          </a:blip>
          <a:srcRect/>
          <a:stretch/>
        </p:blipFill>
        <p:spPr>
          <a:xfrm>
            <a:off x="5788915" y="6251015"/>
            <a:ext cx="538743" cy="244230"/>
          </a:xfrm>
          <a:prstGeom prst="rect">
            <a:avLst/>
          </a:prstGeom>
          <a:noFill/>
          <a:ln>
            <a:noFill/>
          </a:ln>
        </p:spPr>
      </p:pic>
      <p:pic>
        <p:nvPicPr>
          <p:cNvPr id="576" name="Google Shape;576;p28"/>
          <p:cNvPicPr preferRelativeResize="0"/>
          <p:nvPr/>
        </p:nvPicPr>
        <p:blipFill rotWithShape="1">
          <a:blip r:embed="rId10">
            <a:alphaModFix/>
          </a:blip>
          <a:srcRect/>
          <a:stretch/>
        </p:blipFill>
        <p:spPr>
          <a:xfrm>
            <a:off x="8852095" y="6186386"/>
            <a:ext cx="561086" cy="259934"/>
          </a:xfrm>
          <a:prstGeom prst="rect">
            <a:avLst/>
          </a:prstGeom>
          <a:noFill/>
          <a:ln>
            <a:noFill/>
          </a:ln>
        </p:spPr>
      </p:pic>
      <p:pic>
        <p:nvPicPr>
          <p:cNvPr id="577" name="Google Shape;577;p28"/>
          <p:cNvPicPr preferRelativeResize="0"/>
          <p:nvPr/>
        </p:nvPicPr>
        <p:blipFill rotWithShape="1">
          <a:blip r:embed="rId11">
            <a:alphaModFix/>
          </a:blip>
          <a:srcRect t="39624" b="41312"/>
          <a:stretch/>
        </p:blipFill>
        <p:spPr>
          <a:xfrm>
            <a:off x="10249581" y="6269278"/>
            <a:ext cx="727263" cy="138645"/>
          </a:xfrm>
          <a:prstGeom prst="rect">
            <a:avLst/>
          </a:prstGeom>
          <a:noFill/>
          <a:ln>
            <a:noFill/>
          </a:ln>
        </p:spPr>
      </p:pic>
      <p:pic>
        <p:nvPicPr>
          <p:cNvPr id="578" name="Google Shape;578;p28"/>
          <p:cNvPicPr preferRelativeResize="0"/>
          <p:nvPr/>
        </p:nvPicPr>
        <p:blipFill rotWithShape="1">
          <a:blip r:embed="rId12">
            <a:alphaModFix/>
          </a:blip>
          <a:srcRect/>
          <a:stretch/>
        </p:blipFill>
        <p:spPr>
          <a:xfrm>
            <a:off x="11215278" y="6289750"/>
            <a:ext cx="337058" cy="133700"/>
          </a:xfrm>
          <a:prstGeom prst="rect">
            <a:avLst/>
          </a:prstGeom>
          <a:noFill/>
          <a:ln>
            <a:noFill/>
          </a:ln>
        </p:spPr>
      </p:pic>
      <p:pic>
        <p:nvPicPr>
          <p:cNvPr id="579" name="Google Shape;579;p28"/>
          <p:cNvPicPr preferRelativeResize="0"/>
          <p:nvPr/>
        </p:nvPicPr>
        <p:blipFill rotWithShape="1">
          <a:blip r:embed="rId13">
            <a:alphaModFix/>
          </a:blip>
          <a:srcRect/>
          <a:stretch/>
        </p:blipFill>
        <p:spPr>
          <a:xfrm>
            <a:off x="9566522" y="6240056"/>
            <a:ext cx="637511" cy="233089"/>
          </a:xfrm>
          <a:prstGeom prst="rect">
            <a:avLst/>
          </a:prstGeom>
          <a:noFill/>
          <a:ln>
            <a:noFill/>
          </a:ln>
        </p:spPr>
      </p:pic>
      <p:sp>
        <p:nvSpPr>
          <p:cNvPr id="22" name="Google Shape;559;p28">
            <a:extLst>
              <a:ext uri="{FF2B5EF4-FFF2-40B4-BE49-F238E27FC236}">
                <a16:creationId xmlns:a16="http://schemas.microsoft.com/office/drawing/2014/main" id="{40F76FF9-1854-B15F-2CD4-0E8F998E576A}"/>
              </a:ext>
            </a:extLst>
          </p:cNvPr>
          <p:cNvSpPr txBox="1"/>
          <p:nvPr/>
        </p:nvSpPr>
        <p:spPr>
          <a:xfrm>
            <a:off x="3395686" y="5149827"/>
            <a:ext cx="1717651" cy="407764"/>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Quý</a:t>
            </a:r>
            <a:r>
              <a:rPr kumimoji="0" lang="en-US" sz="900" b="1"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3/2025</a:t>
            </a:r>
            <a:endParaRPr kumimoji="0" lang="en-US" sz="9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endParaRPr>
          </a:p>
          <a:p>
            <a:pPr marL="0" marR="0" lvl="0" indent="0" algn="ctr" defTabSz="914400" rtl="0" eaLnBrk="1" fontAlgn="auto" latinLnBrk="0" hangingPunct="1">
              <a:lnSpc>
                <a:spcPct val="100000"/>
              </a:lnSpc>
              <a:spcBef>
                <a:spcPts val="300"/>
              </a:spcBef>
              <a:spcAft>
                <a:spcPts val="0"/>
              </a:spcAft>
              <a:buClr>
                <a:srgbClr val="000000"/>
              </a:buClr>
              <a:buSzTx/>
              <a:buFont typeface="Arial"/>
              <a:buNone/>
              <a:tabLst/>
              <a:defRPr/>
            </a:pPr>
            <a:r>
              <a:rPr kumimoji="0" lang="en-US" sz="9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(16/06/2024 – 15/09/2025)</a:t>
            </a:r>
            <a:endParaRPr kumimoji="0" sz="9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endParaRPr>
          </a:p>
        </p:txBody>
      </p:sp>
      <p:sp>
        <p:nvSpPr>
          <p:cNvPr id="25" name="Google Shape;571;p28">
            <a:extLst>
              <a:ext uri="{FF2B5EF4-FFF2-40B4-BE49-F238E27FC236}">
                <a16:creationId xmlns:a16="http://schemas.microsoft.com/office/drawing/2014/main" id="{357DC2A6-57F5-1C18-2F1C-90554A2EF6DF}"/>
              </a:ext>
            </a:extLst>
          </p:cNvPr>
          <p:cNvSpPr txBox="1"/>
          <p:nvPr/>
        </p:nvSpPr>
        <p:spPr>
          <a:xfrm>
            <a:off x="495031" y="2598388"/>
            <a:ext cx="1843218" cy="242108"/>
          </a:xfrm>
          <a:prstGeom prst="roundRect">
            <a:avLst>
              <a:gd name="adj" fmla="val 26020"/>
            </a:avLst>
          </a:prstGeom>
          <a:gradFill>
            <a:gsLst>
              <a:gs pos="20000">
                <a:srgbClr val="006C69"/>
              </a:gs>
              <a:gs pos="100000">
                <a:srgbClr val="00B8B4"/>
              </a:gs>
            </a:gsLst>
            <a:lin ang="0" scaled="0"/>
          </a:gradFill>
          <a:ln>
            <a:noFill/>
          </a:ln>
        </p:spPr>
        <p:txBody>
          <a:bodyPr spcFirstLastPara="1" wrap="square" lIns="91440" tIns="18288" rIns="0" bIns="18288" anchor="t" anchorCtr="0">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FFFFFF"/>
                </a:solidFill>
                <a:effectLst/>
                <a:uLnTx/>
                <a:uFillTx/>
                <a:latin typeface="SVN-Product Sans" panose="020B0403030502040203" pitchFamily="34" charset="0"/>
                <a:cs typeface="Arial"/>
                <a:sym typeface="Arial"/>
              </a:rPr>
              <a:t>Thị phần đề cập</a:t>
            </a:r>
            <a:endParaRPr kumimoji="0" sz="1400" b="0" i="0" u="none" strike="noStrike" kern="0" cap="none" spc="0" normalizeH="0" baseline="0" noProof="0">
              <a:ln>
                <a:noFill/>
              </a:ln>
              <a:solidFill>
                <a:srgbClr val="000000"/>
              </a:solidFill>
              <a:effectLst/>
              <a:uLnTx/>
              <a:uFillTx/>
              <a:latin typeface="SVN-Product Sans" panose="020B0403030502040203" pitchFamily="34" charset="0"/>
              <a:cs typeface="Arial"/>
              <a:sym typeface="Arial"/>
            </a:endParaRPr>
          </a:p>
        </p:txBody>
      </p:sp>
      <p:grpSp>
        <p:nvGrpSpPr>
          <p:cNvPr id="2" name="Group 1">
            <a:extLst>
              <a:ext uri="{FF2B5EF4-FFF2-40B4-BE49-F238E27FC236}">
                <a16:creationId xmlns:a16="http://schemas.microsoft.com/office/drawing/2014/main" id="{D3B00D77-2FC7-8E9D-96E2-6B41CE03791A}"/>
              </a:ext>
            </a:extLst>
          </p:cNvPr>
          <p:cNvGrpSpPr/>
          <p:nvPr/>
        </p:nvGrpSpPr>
        <p:grpSpPr>
          <a:xfrm>
            <a:off x="554880" y="5583728"/>
            <a:ext cx="4674233" cy="800959"/>
            <a:chOff x="554880" y="5583728"/>
            <a:chExt cx="4674233" cy="800959"/>
          </a:xfrm>
        </p:grpSpPr>
        <p:graphicFrame>
          <p:nvGraphicFramePr>
            <p:cNvPr id="23" name="Google Shape;551;p28">
              <a:extLst>
                <a:ext uri="{FF2B5EF4-FFF2-40B4-BE49-F238E27FC236}">
                  <a16:creationId xmlns:a16="http://schemas.microsoft.com/office/drawing/2014/main" id="{6C24CD89-3E64-2FED-CEE1-AB92A24B1F83}"/>
                </a:ext>
              </a:extLst>
            </p:cNvPr>
            <p:cNvGraphicFramePr/>
            <p:nvPr/>
          </p:nvGraphicFramePr>
          <p:xfrm>
            <a:off x="880168" y="5590884"/>
            <a:ext cx="4023655" cy="793803"/>
          </p:xfrm>
          <a:graphic>
            <a:graphicData uri="http://schemas.openxmlformats.org/drawingml/2006/chart">
              <c:chart xmlns:c="http://schemas.openxmlformats.org/drawingml/2006/chart" xmlns:r="http://schemas.openxmlformats.org/officeDocument/2006/relationships" r:id="rId14"/>
            </a:graphicData>
          </a:graphic>
        </p:graphicFrame>
        <p:sp>
          <p:nvSpPr>
            <p:cNvPr id="26" name="Rectangle: Rounded Corners 25">
              <a:extLst>
                <a:ext uri="{FF2B5EF4-FFF2-40B4-BE49-F238E27FC236}">
                  <a16:creationId xmlns:a16="http://schemas.microsoft.com/office/drawing/2014/main" id="{D85D35BC-CF5E-8188-DD69-624889B4AD9D}"/>
                </a:ext>
              </a:extLst>
            </p:cNvPr>
            <p:cNvSpPr/>
            <p:nvPr/>
          </p:nvSpPr>
          <p:spPr>
            <a:xfrm>
              <a:off x="554880" y="5583728"/>
              <a:ext cx="4674233" cy="793803"/>
            </a:xfrm>
            <a:prstGeom prst="roundRect">
              <a:avLst>
                <a:gd name="adj" fmla="val 11071"/>
              </a:avLst>
            </a:prstGeom>
            <a:noFill/>
            <a:ln w="952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300" b="0" i="0" u="none" strike="noStrike" kern="0" cap="none" spc="0" normalizeH="0" baseline="0" noProof="0">
                <a:ln>
                  <a:noFill/>
                </a:ln>
                <a:solidFill>
                  <a:srgbClr val="000000"/>
                </a:solidFill>
                <a:effectLst/>
                <a:uLnTx/>
                <a:uFillTx/>
                <a:latin typeface="SVN-Product Sans" panose="020B0403030502040203" pitchFamily="34" charset="0"/>
                <a:ea typeface="+mn-ea"/>
                <a:cs typeface="+mn-cs"/>
                <a:sym typeface="Arial"/>
              </a:endParaRPr>
            </a:p>
          </p:txBody>
        </p:sp>
      </p:grpSp>
      <p:sp>
        <p:nvSpPr>
          <p:cNvPr id="27" name="Google Shape;571;p28">
            <a:extLst>
              <a:ext uri="{FF2B5EF4-FFF2-40B4-BE49-F238E27FC236}">
                <a16:creationId xmlns:a16="http://schemas.microsoft.com/office/drawing/2014/main" id="{4744B0F3-1DEF-7F27-7A17-A9BE2FCC1147}"/>
              </a:ext>
            </a:extLst>
          </p:cNvPr>
          <p:cNvSpPr txBox="1"/>
          <p:nvPr/>
        </p:nvSpPr>
        <p:spPr>
          <a:xfrm>
            <a:off x="5658523" y="2598388"/>
            <a:ext cx="3231767" cy="242108"/>
          </a:xfrm>
          <a:prstGeom prst="roundRect">
            <a:avLst>
              <a:gd name="adj" fmla="val 26020"/>
            </a:avLst>
          </a:prstGeom>
          <a:gradFill>
            <a:gsLst>
              <a:gs pos="20000">
                <a:srgbClr val="006C69"/>
              </a:gs>
              <a:gs pos="100000">
                <a:srgbClr val="00B8B4"/>
              </a:gs>
            </a:gsLst>
            <a:lin ang="0" scaled="0"/>
          </a:gradFill>
          <a:ln>
            <a:noFill/>
          </a:ln>
        </p:spPr>
        <p:txBody>
          <a:bodyPr spcFirstLastPara="1" wrap="square" lIns="91440" tIns="18288" rIns="0" bIns="18288" anchor="t" anchorCtr="0">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vi-VN" sz="1100" b="1" i="0" u="none" strike="noStrike" kern="0" cap="none" spc="0" normalizeH="0" baseline="0" noProof="0" dirty="0">
                <a:ln>
                  <a:noFill/>
                </a:ln>
                <a:solidFill>
                  <a:srgbClr val="FFFFFF"/>
                </a:solidFill>
                <a:effectLst/>
                <a:uLnTx/>
                <a:uFillTx/>
                <a:latin typeface="SVN-Product Sans" panose="020B0403030502040203" pitchFamily="34" charset="0"/>
                <a:cs typeface="Arial"/>
                <a:sym typeface="Arial"/>
              </a:rPr>
              <a:t>Tổng </a:t>
            </a:r>
            <a:r>
              <a:rPr kumimoji="0" lang="en-US" sz="1100" b="1" i="0" u="none" strike="noStrike" kern="0" cap="none" spc="0" normalizeH="0" baseline="0" noProof="0" dirty="0" err="1">
                <a:ln>
                  <a:noFill/>
                </a:ln>
                <a:solidFill>
                  <a:srgbClr val="FFFFFF"/>
                </a:solidFill>
                <a:effectLst/>
                <a:uLnTx/>
                <a:uFillTx/>
                <a:latin typeface="SVN-Product Sans" panose="020B0403030502040203" pitchFamily="34" charset="0"/>
                <a:cs typeface="Arial"/>
                <a:sym typeface="Arial"/>
              </a:rPr>
              <a:t>đề</a:t>
            </a:r>
            <a:r>
              <a:rPr kumimoji="0" lang="en-US" sz="1100" b="1" i="0" u="none" strike="noStrike" kern="0" cap="none" spc="0" normalizeH="0" baseline="0" noProof="0" dirty="0">
                <a:ln>
                  <a:noFill/>
                </a:ln>
                <a:solidFill>
                  <a:srgbClr val="FFFFFF"/>
                </a:solidFill>
                <a:effectLst/>
                <a:uLnTx/>
                <a:uFillTx/>
                <a:latin typeface="SVN-Product Sans" panose="020B0403030502040203" pitchFamily="34" charset="0"/>
                <a:cs typeface="Arial"/>
                <a:sym typeface="Arial"/>
              </a:rPr>
              <a:t> </a:t>
            </a:r>
            <a:r>
              <a:rPr kumimoji="0" lang="en-US" sz="1100" b="1" i="0" u="none" strike="noStrike" kern="0" cap="none" spc="0" normalizeH="0" baseline="0" noProof="0" dirty="0" err="1">
                <a:ln>
                  <a:noFill/>
                </a:ln>
                <a:solidFill>
                  <a:srgbClr val="FFFFFF"/>
                </a:solidFill>
                <a:effectLst/>
                <a:uLnTx/>
                <a:uFillTx/>
                <a:latin typeface="SVN-Product Sans" panose="020B0403030502040203" pitchFamily="34" charset="0"/>
                <a:cs typeface="Arial"/>
                <a:sym typeface="Arial"/>
              </a:rPr>
              <a:t>cập</a:t>
            </a:r>
            <a:r>
              <a:rPr kumimoji="0" lang="vi-VN" sz="1100" b="1" i="0" u="none" strike="noStrike" kern="0" cap="none" spc="0" normalizeH="0" baseline="0" noProof="0" dirty="0">
                <a:ln>
                  <a:noFill/>
                </a:ln>
                <a:solidFill>
                  <a:srgbClr val="FFFFFF"/>
                </a:solidFill>
                <a:effectLst/>
                <a:uLnTx/>
                <a:uFillTx/>
                <a:latin typeface="SVN-Product Sans" panose="020B0403030502040203" pitchFamily="34" charset="0"/>
                <a:cs typeface="Arial"/>
                <a:sym typeface="Arial"/>
              </a:rPr>
              <a:t> của các thương hiệu</a:t>
            </a:r>
          </a:p>
        </p:txBody>
      </p:sp>
      <p:sp>
        <p:nvSpPr>
          <p:cNvPr id="8" name="Rounded Rectangle 64">
            <a:extLst>
              <a:ext uri="{FF2B5EF4-FFF2-40B4-BE49-F238E27FC236}">
                <a16:creationId xmlns:a16="http://schemas.microsoft.com/office/drawing/2014/main" id="{77874009-A81C-B176-F72E-74C46593B06E}"/>
              </a:ext>
            </a:extLst>
          </p:cNvPr>
          <p:cNvSpPr/>
          <p:nvPr/>
        </p:nvSpPr>
        <p:spPr>
          <a:xfrm>
            <a:off x="7285330" y="4485671"/>
            <a:ext cx="566304" cy="192416"/>
          </a:xfrm>
          <a:prstGeom prst="roundRect">
            <a:avLst>
              <a:gd name="adj" fmla="val 50000"/>
            </a:avLst>
          </a:prstGeom>
          <a:solidFill>
            <a:srgbClr val="53B15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0" cap="none" spc="0" normalizeH="0" baseline="0" noProof="0" dirty="0">
                <a:ln>
                  <a:noFill/>
                </a:ln>
                <a:solidFill>
                  <a:srgbClr val="FFFFFF"/>
                </a:solidFill>
                <a:effectLst/>
                <a:uLnTx/>
                <a:uFillTx/>
                <a:latin typeface="SVN-Product Sans" panose="020B0403030502040203" pitchFamily="34" charset="0"/>
                <a:ea typeface="+mn-ea"/>
                <a:cs typeface="Times New Roman" panose="02020603050405020304" pitchFamily="18" charset="0"/>
                <a:sym typeface="Arial"/>
              </a:rPr>
              <a:t>▲ </a:t>
            </a:r>
            <a:r>
              <a:rPr lang="en-US" sz="800" b="1" kern="0" dirty="0">
                <a:solidFill>
                  <a:srgbClr val="FFFFFF"/>
                </a:solidFill>
                <a:latin typeface="SVN-Product Sans" panose="020B0403030502040203" pitchFamily="34" charset="0"/>
                <a:cs typeface="Times New Roman" panose="02020603050405020304" pitchFamily="18" charset="0"/>
                <a:sym typeface="Arial"/>
              </a:rPr>
              <a:t>29,0</a:t>
            </a:r>
            <a:r>
              <a:rPr kumimoji="0" lang="en-US" sz="800" b="1" i="0" u="none" strike="noStrike" kern="0" cap="none" spc="0" normalizeH="0" baseline="0" noProof="0" dirty="0">
                <a:ln>
                  <a:noFill/>
                </a:ln>
                <a:solidFill>
                  <a:srgbClr val="FFFFFF"/>
                </a:solidFill>
                <a:effectLst/>
                <a:uLnTx/>
                <a:uFillTx/>
                <a:latin typeface="SVN-Product Sans" panose="020B0403030502040203" pitchFamily="34" charset="0"/>
                <a:ea typeface="+mn-ea"/>
                <a:cs typeface="Arial" panose="020B0604020202020204" pitchFamily="34" charset="0"/>
                <a:sym typeface="Arial"/>
              </a:rPr>
              <a:t>%</a:t>
            </a:r>
          </a:p>
        </p:txBody>
      </p:sp>
      <p:sp>
        <p:nvSpPr>
          <p:cNvPr id="19" name="Rounded Rectangle 64">
            <a:extLst>
              <a:ext uri="{FF2B5EF4-FFF2-40B4-BE49-F238E27FC236}">
                <a16:creationId xmlns:a16="http://schemas.microsoft.com/office/drawing/2014/main" id="{37360751-6DC4-4A7D-F1EA-AEB844E36F27}"/>
              </a:ext>
            </a:extLst>
          </p:cNvPr>
          <p:cNvSpPr/>
          <p:nvPr/>
        </p:nvSpPr>
        <p:spPr>
          <a:xfrm>
            <a:off x="5812848" y="3332792"/>
            <a:ext cx="566304" cy="192416"/>
          </a:xfrm>
          <a:prstGeom prst="roundRect">
            <a:avLst>
              <a:gd name="adj" fmla="val 50000"/>
            </a:avLst>
          </a:prstGeom>
          <a:solidFill>
            <a:srgbClr val="53B15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0" cap="none" spc="0" normalizeH="0" baseline="0" noProof="0" dirty="0">
                <a:ln>
                  <a:noFill/>
                </a:ln>
                <a:solidFill>
                  <a:srgbClr val="FFFFFF"/>
                </a:solidFill>
                <a:effectLst/>
                <a:uLnTx/>
                <a:uFillTx/>
                <a:latin typeface="SVN-Product Sans" panose="020B0403030502040203" pitchFamily="34" charset="0"/>
                <a:ea typeface="+mn-ea"/>
                <a:cs typeface="Times New Roman" panose="02020603050405020304" pitchFamily="18" charset="0"/>
                <a:sym typeface="Arial"/>
              </a:rPr>
              <a:t>▲ </a:t>
            </a:r>
            <a:r>
              <a:rPr lang="en-US" sz="800" b="1" kern="0" dirty="0">
                <a:solidFill>
                  <a:srgbClr val="FFFFFF"/>
                </a:solidFill>
                <a:latin typeface="SVN-Product Sans" panose="020B0403030502040203" pitchFamily="34" charset="0"/>
                <a:cs typeface="Arial" panose="020B0604020202020204" pitchFamily="34" charset="0"/>
                <a:sym typeface="Arial"/>
              </a:rPr>
              <a:t>45,7</a:t>
            </a:r>
            <a:r>
              <a:rPr kumimoji="0" lang="en-US" sz="800" b="1" i="0" u="none" strike="noStrike" kern="0" cap="none" spc="0" normalizeH="0" baseline="0" noProof="0" dirty="0">
                <a:ln>
                  <a:noFill/>
                </a:ln>
                <a:solidFill>
                  <a:srgbClr val="FFFFFF"/>
                </a:solidFill>
                <a:effectLst/>
                <a:uLnTx/>
                <a:uFillTx/>
                <a:latin typeface="SVN-Product Sans" panose="020B0403030502040203" pitchFamily="34" charset="0"/>
                <a:ea typeface="+mn-ea"/>
                <a:cs typeface="Arial" panose="020B0604020202020204" pitchFamily="34" charset="0"/>
                <a:sym typeface="Arial"/>
              </a:rPr>
              <a:t>%</a:t>
            </a:r>
          </a:p>
        </p:txBody>
      </p:sp>
      <p:sp>
        <p:nvSpPr>
          <p:cNvPr id="28" name="Rounded Rectangle 64">
            <a:extLst>
              <a:ext uri="{FF2B5EF4-FFF2-40B4-BE49-F238E27FC236}">
                <a16:creationId xmlns:a16="http://schemas.microsoft.com/office/drawing/2014/main" id="{58287BC1-4CB6-A592-0593-BB7455BD824F}"/>
              </a:ext>
            </a:extLst>
          </p:cNvPr>
          <p:cNvSpPr/>
          <p:nvPr/>
        </p:nvSpPr>
        <p:spPr>
          <a:xfrm>
            <a:off x="8050413" y="4565499"/>
            <a:ext cx="566304" cy="192416"/>
          </a:xfrm>
          <a:prstGeom prst="roundRect">
            <a:avLst>
              <a:gd name="adj" fmla="val 50000"/>
            </a:avLst>
          </a:prstGeom>
          <a:solidFill>
            <a:srgbClr val="53B15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0" cap="none" spc="0" normalizeH="0" baseline="0" noProof="0" dirty="0">
                <a:ln>
                  <a:noFill/>
                </a:ln>
                <a:solidFill>
                  <a:srgbClr val="FFFFFF"/>
                </a:solidFill>
                <a:effectLst/>
                <a:uLnTx/>
                <a:uFillTx/>
                <a:latin typeface="SVN-Product Sans" panose="020B0403030502040203" pitchFamily="34" charset="0"/>
                <a:ea typeface="+mn-ea"/>
                <a:cs typeface="Arial" panose="020B0604020202020204" pitchFamily="34" charset="0"/>
                <a:sym typeface="Arial"/>
              </a:rPr>
              <a:t>▲ </a:t>
            </a:r>
            <a:r>
              <a:rPr lang="en-US" sz="800" b="1" kern="0" dirty="0">
                <a:solidFill>
                  <a:srgbClr val="FFFFFF"/>
                </a:solidFill>
                <a:latin typeface="SVN-Product Sans" panose="020B0403030502040203" pitchFamily="34" charset="0"/>
                <a:cs typeface="Arial" panose="020B0604020202020204" pitchFamily="34" charset="0"/>
                <a:sym typeface="Arial"/>
              </a:rPr>
              <a:t>39,7</a:t>
            </a:r>
            <a:r>
              <a:rPr kumimoji="0" lang="en-US" sz="800" b="1" i="0" u="none" strike="noStrike" kern="0" cap="none" spc="0" normalizeH="0" baseline="0" noProof="0" dirty="0">
                <a:ln>
                  <a:noFill/>
                </a:ln>
                <a:solidFill>
                  <a:srgbClr val="FFFFFF"/>
                </a:solidFill>
                <a:effectLst/>
                <a:uLnTx/>
                <a:uFillTx/>
                <a:latin typeface="SVN-Product Sans" panose="020B0403030502040203" pitchFamily="34" charset="0"/>
                <a:ea typeface="+mn-ea"/>
                <a:cs typeface="Arial" panose="020B0604020202020204" pitchFamily="34" charset="0"/>
                <a:sym typeface="Arial"/>
              </a:rPr>
              <a:t>%</a:t>
            </a:r>
          </a:p>
        </p:txBody>
      </p:sp>
      <p:sp>
        <p:nvSpPr>
          <p:cNvPr id="29" name="Rounded Rectangle 64">
            <a:extLst>
              <a:ext uri="{FF2B5EF4-FFF2-40B4-BE49-F238E27FC236}">
                <a16:creationId xmlns:a16="http://schemas.microsoft.com/office/drawing/2014/main" id="{6370097B-A805-085C-1BA2-DCEDE27109A1}"/>
              </a:ext>
            </a:extLst>
          </p:cNvPr>
          <p:cNvSpPr/>
          <p:nvPr/>
        </p:nvSpPr>
        <p:spPr>
          <a:xfrm>
            <a:off x="8796260" y="4787979"/>
            <a:ext cx="566304" cy="192416"/>
          </a:xfrm>
          <a:prstGeom prst="roundRect">
            <a:avLst>
              <a:gd name="adj" fmla="val 50000"/>
            </a:avLst>
          </a:prstGeom>
          <a:solidFill>
            <a:srgbClr val="53B15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0" cap="none" spc="0" normalizeH="0" baseline="0" noProof="0" dirty="0">
                <a:ln>
                  <a:noFill/>
                </a:ln>
                <a:solidFill>
                  <a:srgbClr val="FFFFFF"/>
                </a:solidFill>
                <a:effectLst/>
                <a:uLnTx/>
                <a:uFillTx/>
                <a:latin typeface="SVN-Product Sans" panose="020B0403030502040203" pitchFamily="34" charset="0"/>
                <a:ea typeface="+mn-ea"/>
                <a:cs typeface="Times New Roman" panose="02020603050405020304" pitchFamily="18" charset="0"/>
                <a:sym typeface="Arial"/>
              </a:rPr>
              <a:t>▲ </a:t>
            </a:r>
            <a:r>
              <a:rPr kumimoji="0" lang="en-US" sz="800" b="1" i="0" u="none" strike="noStrike" kern="0" cap="none" spc="0" normalizeH="0" baseline="0" noProof="0" dirty="0">
                <a:ln>
                  <a:noFill/>
                </a:ln>
                <a:solidFill>
                  <a:srgbClr val="FFFFFF"/>
                </a:solidFill>
                <a:effectLst/>
                <a:uLnTx/>
                <a:uFillTx/>
                <a:latin typeface="SVN-Product Sans" panose="020B0403030502040203" pitchFamily="34" charset="0"/>
                <a:ea typeface="+mn-ea"/>
                <a:cs typeface="Arial" panose="020B0604020202020204" pitchFamily="34" charset="0"/>
                <a:sym typeface="Arial"/>
              </a:rPr>
              <a:t>18,7%</a:t>
            </a:r>
          </a:p>
        </p:txBody>
      </p:sp>
      <p:sp>
        <p:nvSpPr>
          <p:cNvPr id="32" name="Rounded Rectangle 64">
            <a:extLst>
              <a:ext uri="{FF2B5EF4-FFF2-40B4-BE49-F238E27FC236}">
                <a16:creationId xmlns:a16="http://schemas.microsoft.com/office/drawing/2014/main" id="{947DBA21-4CC2-65FF-A9A6-68F73B62D56A}"/>
              </a:ext>
            </a:extLst>
          </p:cNvPr>
          <p:cNvSpPr/>
          <p:nvPr/>
        </p:nvSpPr>
        <p:spPr>
          <a:xfrm>
            <a:off x="11100655" y="5177594"/>
            <a:ext cx="566304" cy="192416"/>
          </a:xfrm>
          <a:prstGeom prst="roundRect">
            <a:avLst>
              <a:gd name="adj" fmla="val 50000"/>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0" cap="none" spc="0" normalizeH="0" baseline="0" noProof="0" dirty="0">
                <a:ln>
                  <a:noFill/>
                </a:ln>
                <a:solidFill>
                  <a:srgbClr val="FFFFFF"/>
                </a:solidFill>
                <a:effectLst/>
                <a:uLnTx/>
                <a:uFillTx/>
                <a:latin typeface="SVN-Product Sans" panose="020B0403030502040203" pitchFamily="34" charset="0"/>
                <a:ea typeface="+mn-ea"/>
                <a:cs typeface="Times New Roman" panose="02020603050405020304" pitchFamily="18" charset="0"/>
                <a:sym typeface="Arial"/>
              </a:rPr>
              <a:t>▼ </a:t>
            </a:r>
            <a:r>
              <a:rPr lang="en-US" sz="800" b="1" kern="0" dirty="0">
                <a:solidFill>
                  <a:srgbClr val="FFFFFF"/>
                </a:solidFill>
                <a:latin typeface="SVN-Product Sans" panose="020B0403030502040203" pitchFamily="34" charset="0"/>
                <a:cs typeface="Arial" panose="020B0604020202020204" pitchFamily="34" charset="0"/>
                <a:sym typeface="Arial"/>
              </a:rPr>
              <a:t>71,9</a:t>
            </a:r>
            <a:r>
              <a:rPr kumimoji="0" lang="en-US" sz="800" b="1" i="0" u="none" strike="noStrike" kern="0" cap="none" spc="0" normalizeH="0" baseline="0" noProof="0" dirty="0">
                <a:ln>
                  <a:noFill/>
                </a:ln>
                <a:solidFill>
                  <a:srgbClr val="FFFFFF"/>
                </a:solidFill>
                <a:effectLst/>
                <a:uLnTx/>
                <a:uFillTx/>
                <a:latin typeface="SVN-Product Sans" panose="020B0403030502040203" pitchFamily="34" charset="0"/>
                <a:ea typeface="+mn-ea"/>
                <a:cs typeface="Arial" panose="020B0604020202020204" pitchFamily="34" charset="0"/>
                <a:sym typeface="Arial"/>
              </a:rPr>
              <a:t>%</a:t>
            </a:r>
          </a:p>
        </p:txBody>
      </p:sp>
      <p:sp>
        <p:nvSpPr>
          <p:cNvPr id="3" name="Google Shape;581;p28">
            <a:extLst>
              <a:ext uri="{FF2B5EF4-FFF2-40B4-BE49-F238E27FC236}">
                <a16:creationId xmlns:a16="http://schemas.microsoft.com/office/drawing/2014/main" id="{7EF22033-439B-983A-B14D-CF6CBCDAFD21}"/>
              </a:ext>
            </a:extLst>
          </p:cNvPr>
          <p:cNvSpPr txBox="1"/>
          <p:nvPr/>
        </p:nvSpPr>
        <p:spPr>
          <a:xfrm>
            <a:off x="800034" y="3787538"/>
            <a:ext cx="1317081" cy="49240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546A"/>
              </a:buClr>
              <a:buSzPts val="2000"/>
              <a:buFont typeface="Arial"/>
              <a:buNone/>
              <a:tabLst/>
              <a:defRPr/>
            </a:pPr>
            <a:r>
              <a:rPr kumimoji="0" lang="en-US" sz="1800" b="1"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t>826,397 </a:t>
            </a:r>
            <a:br>
              <a:rPr kumimoji="0" lang="en-US" sz="800" b="1"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br>
            <a:r>
              <a:rPr kumimoji="0" lang="en-US" sz="800" b="1"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lượt</a:t>
            </a:r>
            <a:r>
              <a:rPr kumimoji="0" lang="en-US" sz="800" b="1"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t> </a:t>
            </a:r>
            <a:r>
              <a:rPr kumimoji="0" lang="en-US" sz="800" b="1"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đề</a:t>
            </a:r>
            <a:r>
              <a:rPr kumimoji="0" lang="en-US" sz="800" b="1"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t> </a:t>
            </a:r>
            <a:r>
              <a:rPr kumimoji="0" lang="en-US" sz="800" b="1"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cập</a:t>
            </a:r>
            <a:endParaRPr kumimoji="0" lang="en-US" sz="800" b="1"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endParaRPr>
          </a:p>
        </p:txBody>
      </p:sp>
      <p:sp>
        <p:nvSpPr>
          <p:cNvPr id="4" name="Google Shape;559;p28">
            <a:extLst>
              <a:ext uri="{FF2B5EF4-FFF2-40B4-BE49-F238E27FC236}">
                <a16:creationId xmlns:a16="http://schemas.microsoft.com/office/drawing/2014/main" id="{97553BCE-057F-2B7A-A88C-6A8E7C03C307}"/>
              </a:ext>
            </a:extLst>
          </p:cNvPr>
          <p:cNvSpPr txBox="1"/>
          <p:nvPr/>
        </p:nvSpPr>
        <p:spPr>
          <a:xfrm>
            <a:off x="599748" y="5152458"/>
            <a:ext cx="1717651" cy="407764"/>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Quý 2/2025</a:t>
            </a:r>
            <a:endParaRPr kumimoji="0" lang="en-US" sz="9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endParaRPr>
          </a:p>
          <a:p>
            <a:pPr marL="0" marR="0" lvl="0" indent="0" algn="ctr" defTabSz="914400" rtl="0" eaLnBrk="1" fontAlgn="auto" latinLnBrk="0" hangingPunct="1">
              <a:lnSpc>
                <a:spcPct val="100000"/>
              </a:lnSpc>
              <a:spcBef>
                <a:spcPts val="300"/>
              </a:spcBef>
              <a:spcAft>
                <a:spcPts val="0"/>
              </a:spcAft>
              <a:buClr>
                <a:srgbClr val="000000"/>
              </a:buClr>
              <a:buSzTx/>
              <a:buFont typeface="Arial"/>
              <a:buNone/>
              <a:tabLst/>
              <a:defRPr/>
            </a:pPr>
            <a:r>
              <a:rPr kumimoji="0" lang="en-US" sz="9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(16/03/2024 – 15/06/2025)</a:t>
            </a:r>
            <a:endParaRPr kumimoji="0" sz="9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endParaRPr>
          </a:p>
        </p:txBody>
      </p:sp>
      <p:sp>
        <p:nvSpPr>
          <p:cNvPr id="5" name="Rounded Rectangle 64">
            <a:extLst>
              <a:ext uri="{FF2B5EF4-FFF2-40B4-BE49-F238E27FC236}">
                <a16:creationId xmlns:a16="http://schemas.microsoft.com/office/drawing/2014/main" id="{68A8F86C-6282-FAB3-5764-30FC96354453}"/>
              </a:ext>
            </a:extLst>
          </p:cNvPr>
          <p:cNvSpPr/>
          <p:nvPr/>
        </p:nvSpPr>
        <p:spPr>
          <a:xfrm>
            <a:off x="6585659" y="3388376"/>
            <a:ext cx="566304" cy="192416"/>
          </a:xfrm>
          <a:prstGeom prst="roundRect">
            <a:avLst>
              <a:gd name="adj" fmla="val 50000"/>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0" cap="none" spc="0" normalizeH="0" baseline="0" noProof="0" dirty="0">
                <a:ln>
                  <a:noFill/>
                </a:ln>
                <a:solidFill>
                  <a:srgbClr val="FFFFFF"/>
                </a:solidFill>
                <a:effectLst/>
                <a:uLnTx/>
                <a:uFillTx/>
                <a:latin typeface="SVN-Product Sans" panose="020B0403030502040203" pitchFamily="34" charset="0"/>
                <a:ea typeface="+mn-ea"/>
                <a:cs typeface="Times New Roman" panose="02020603050405020304" pitchFamily="18" charset="0"/>
                <a:sym typeface="Arial"/>
              </a:rPr>
              <a:t>▼ </a:t>
            </a:r>
            <a:r>
              <a:rPr lang="en-US" sz="800" b="1" kern="0" dirty="0">
                <a:solidFill>
                  <a:srgbClr val="FFFFFF"/>
                </a:solidFill>
                <a:latin typeface="SVN-Product Sans" panose="020B0403030502040203" pitchFamily="34" charset="0"/>
                <a:cs typeface="Arial" panose="020B0604020202020204" pitchFamily="34" charset="0"/>
                <a:sym typeface="Arial"/>
              </a:rPr>
              <a:t>36,4</a:t>
            </a:r>
            <a:r>
              <a:rPr kumimoji="0" lang="en-US" sz="800" b="1" i="0" u="none" strike="noStrike" kern="0" cap="none" spc="0" normalizeH="0" baseline="0" noProof="0" dirty="0">
                <a:ln>
                  <a:noFill/>
                </a:ln>
                <a:solidFill>
                  <a:srgbClr val="FFFFFF"/>
                </a:solidFill>
                <a:effectLst/>
                <a:uLnTx/>
                <a:uFillTx/>
                <a:latin typeface="SVN-Product Sans" panose="020B0403030502040203" pitchFamily="34" charset="0"/>
                <a:ea typeface="+mn-ea"/>
                <a:cs typeface="Arial" panose="020B0604020202020204" pitchFamily="34" charset="0"/>
                <a:sym typeface="Arial"/>
              </a:rPr>
              <a:t>%</a:t>
            </a:r>
          </a:p>
        </p:txBody>
      </p:sp>
      <p:sp>
        <p:nvSpPr>
          <p:cNvPr id="6" name="Rounded Rectangle 64">
            <a:extLst>
              <a:ext uri="{FF2B5EF4-FFF2-40B4-BE49-F238E27FC236}">
                <a16:creationId xmlns:a16="http://schemas.microsoft.com/office/drawing/2014/main" id="{3324EFC8-0A81-19F4-C49F-7EE71657949E}"/>
              </a:ext>
            </a:extLst>
          </p:cNvPr>
          <p:cNvSpPr/>
          <p:nvPr/>
        </p:nvSpPr>
        <p:spPr>
          <a:xfrm>
            <a:off x="9555033" y="5073495"/>
            <a:ext cx="566304" cy="192416"/>
          </a:xfrm>
          <a:prstGeom prst="roundRect">
            <a:avLst>
              <a:gd name="adj" fmla="val 50000"/>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0" cap="none" spc="0" normalizeH="0" baseline="0" noProof="0" dirty="0">
                <a:ln>
                  <a:noFill/>
                </a:ln>
                <a:solidFill>
                  <a:srgbClr val="FFFFFF"/>
                </a:solidFill>
                <a:effectLst/>
                <a:uLnTx/>
                <a:uFillTx/>
                <a:latin typeface="SVN-Product Sans" panose="020B0403030502040203" pitchFamily="34" charset="0"/>
                <a:ea typeface="+mn-ea"/>
                <a:cs typeface="Times New Roman" panose="02020603050405020304" pitchFamily="18" charset="0"/>
                <a:sym typeface="Arial"/>
              </a:rPr>
              <a:t>▼ </a:t>
            </a:r>
            <a:r>
              <a:rPr kumimoji="0" lang="en-US" sz="800" b="1" i="0" u="none" strike="noStrike" kern="0" cap="none" spc="0" normalizeH="0" baseline="0" noProof="0" dirty="0">
                <a:ln>
                  <a:noFill/>
                </a:ln>
                <a:solidFill>
                  <a:srgbClr val="FFFFFF"/>
                </a:solidFill>
                <a:effectLst/>
                <a:uLnTx/>
                <a:uFillTx/>
                <a:latin typeface="SVN-Product Sans" panose="020B0403030502040203" pitchFamily="34" charset="0"/>
                <a:ea typeface="+mn-ea"/>
                <a:cs typeface="Arial" panose="020B0604020202020204" pitchFamily="34" charset="0"/>
                <a:sym typeface="Arial"/>
              </a:rPr>
              <a:t>24,6%</a:t>
            </a:r>
          </a:p>
        </p:txBody>
      </p:sp>
      <p:sp>
        <p:nvSpPr>
          <p:cNvPr id="9" name="Rounded Rectangle 64">
            <a:extLst>
              <a:ext uri="{FF2B5EF4-FFF2-40B4-BE49-F238E27FC236}">
                <a16:creationId xmlns:a16="http://schemas.microsoft.com/office/drawing/2014/main" id="{62A80CC2-1D56-5305-E3F7-24B06BCB3D70}"/>
              </a:ext>
            </a:extLst>
          </p:cNvPr>
          <p:cNvSpPr/>
          <p:nvPr/>
        </p:nvSpPr>
        <p:spPr>
          <a:xfrm>
            <a:off x="10327844" y="5078298"/>
            <a:ext cx="566304" cy="192416"/>
          </a:xfrm>
          <a:prstGeom prst="roundRect">
            <a:avLst>
              <a:gd name="adj" fmla="val 50000"/>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0" cap="none" spc="0" normalizeH="0" baseline="0" noProof="0" dirty="0">
                <a:ln>
                  <a:noFill/>
                </a:ln>
                <a:solidFill>
                  <a:srgbClr val="FFFFFF"/>
                </a:solidFill>
                <a:effectLst/>
                <a:uLnTx/>
                <a:uFillTx/>
                <a:latin typeface="SVN-Product Sans" panose="020B0403030502040203" pitchFamily="34" charset="0"/>
                <a:ea typeface="+mn-ea"/>
                <a:cs typeface="Times New Roman" panose="02020603050405020304" pitchFamily="18" charset="0"/>
                <a:sym typeface="Arial"/>
              </a:rPr>
              <a:t>▼ </a:t>
            </a:r>
            <a:r>
              <a:rPr lang="en-US" sz="800" b="1" kern="0" dirty="0">
                <a:solidFill>
                  <a:srgbClr val="FFFFFF"/>
                </a:solidFill>
                <a:latin typeface="SVN-Product Sans" panose="020B0403030502040203" pitchFamily="34" charset="0"/>
                <a:cs typeface="Arial" panose="020B0604020202020204" pitchFamily="34" charset="0"/>
                <a:sym typeface="Arial"/>
              </a:rPr>
              <a:t>37,4</a:t>
            </a:r>
            <a:r>
              <a:rPr kumimoji="0" lang="en-US" sz="800" b="1" i="0" u="none" strike="noStrike" kern="0" cap="none" spc="0" normalizeH="0" baseline="0" noProof="0" dirty="0">
                <a:ln>
                  <a:noFill/>
                </a:ln>
                <a:solidFill>
                  <a:srgbClr val="FFFFFF"/>
                </a:solidFill>
                <a:effectLst/>
                <a:uLnTx/>
                <a:uFillTx/>
                <a:latin typeface="SVN-Product Sans" panose="020B0403030502040203" pitchFamily="34" charset="0"/>
                <a:ea typeface="+mn-ea"/>
                <a:cs typeface="Arial" panose="020B0604020202020204" pitchFamily="34" charset="0"/>
                <a:sym typeface="Arial"/>
              </a:rPr>
              <a:t>%</a:t>
            </a:r>
          </a:p>
        </p:txBody>
      </p:sp>
    </p:spTree>
    <p:extLst>
      <p:ext uri="{BB962C8B-B14F-4D97-AF65-F5344CB8AC3E}">
        <p14:creationId xmlns:p14="http://schemas.microsoft.com/office/powerpoint/2010/main" val="3192960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29"/>
          <p:cNvSpPr txBox="1">
            <a:spLocks noGrp="1"/>
          </p:cNvSpPr>
          <p:nvPr>
            <p:ph type="title"/>
          </p:nvPr>
        </p:nvSpPr>
        <p:spPr>
          <a:xfrm>
            <a:off x="1945294" y="134037"/>
            <a:ext cx="10115409" cy="459823"/>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6B68"/>
              </a:buClr>
              <a:buSzPct val="100000"/>
              <a:buFont typeface="Arial"/>
              <a:buNone/>
            </a:pPr>
            <a:r>
              <a:rPr lang="en-US" sz="1900" dirty="0">
                <a:latin typeface="SVN-Product Sans" panose="020B0403030502040203" pitchFamily="34" charset="0"/>
              </a:rPr>
              <a:t>ĐƯỜNG BIỂU DIỄN XU HƯỚNG </a:t>
            </a:r>
            <a:r>
              <a:rPr lang="en-US" sz="1900" dirty="0"/>
              <a:t>ĐỀ CẬP </a:t>
            </a:r>
            <a:r>
              <a:rPr lang="en-US" sz="1900" dirty="0">
                <a:latin typeface="SVN-Product Sans" panose="020B0403030502040203" pitchFamily="34" charset="0"/>
              </a:rPr>
              <a:t>CỦA BIDV VÀ MỘT SỐ NGÂN HÀNG KHÁC</a:t>
            </a:r>
            <a:endParaRPr sz="1900" dirty="0">
              <a:latin typeface="SVN-Product Sans" panose="020B0403030502040203" pitchFamily="34" charset="0"/>
            </a:endParaRPr>
          </a:p>
        </p:txBody>
      </p:sp>
      <p:graphicFrame>
        <p:nvGraphicFramePr>
          <p:cNvPr id="588" name="Google Shape;588;p29"/>
          <p:cNvGraphicFramePr/>
          <p:nvPr>
            <p:extLst>
              <p:ext uri="{D42A27DB-BD31-4B8C-83A1-F6EECF244321}">
                <p14:modId xmlns:p14="http://schemas.microsoft.com/office/powerpoint/2010/main" val="22909333"/>
              </p:ext>
            </p:extLst>
          </p:nvPr>
        </p:nvGraphicFramePr>
        <p:xfrm>
          <a:off x="163790" y="1467853"/>
          <a:ext cx="11896913" cy="5017703"/>
        </p:xfrm>
        <a:graphic>
          <a:graphicData uri="http://schemas.openxmlformats.org/drawingml/2006/chart">
            <c:chart xmlns:c="http://schemas.openxmlformats.org/drawingml/2006/chart" xmlns:r="http://schemas.openxmlformats.org/officeDocument/2006/relationships" r:id="rId3"/>
          </a:graphicData>
        </a:graphic>
      </p:graphicFrame>
      <p:cxnSp>
        <p:nvCxnSpPr>
          <p:cNvPr id="13" name="Connector: Elbow 12">
            <a:extLst>
              <a:ext uri="{FF2B5EF4-FFF2-40B4-BE49-F238E27FC236}">
                <a16:creationId xmlns:a16="http://schemas.microsoft.com/office/drawing/2014/main" id="{BB5BC1CD-D6CA-4F7F-81E2-1ED0C552653C}"/>
              </a:ext>
            </a:extLst>
          </p:cNvPr>
          <p:cNvCxnSpPr>
            <a:cxnSpLocks/>
          </p:cNvCxnSpPr>
          <p:nvPr/>
        </p:nvCxnSpPr>
        <p:spPr>
          <a:xfrm rot="16200000" flipV="1">
            <a:off x="8750682" y="3923664"/>
            <a:ext cx="988590" cy="232619"/>
          </a:xfrm>
          <a:prstGeom prst="bentConnector3">
            <a:avLst>
              <a:gd name="adj1" fmla="val 50000"/>
            </a:avLst>
          </a:prstGeom>
          <a:ln>
            <a:solidFill>
              <a:srgbClr val="006C69"/>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49" name="Google Shape;606;p29">
            <a:extLst>
              <a:ext uri="{FF2B5EF4-FFF2-40B4-BE49-F238E27FC236}">
                <a16:creationId xmlns:a16="http://schemas.microsoft.com/office/drawing/2014/main" id="{FFD6B00D-E036-4372-BD04-532C25E0402A}"/>
              </a:ext>
            </a:extLst>
          </p:cNvPr>
          <p:cNvPicPr preferRelativeResize="0"/>
          <p:nvPr/>
        </p:nvPicPr>
        <p:blipFill rotWithShape="1">
          <a:blip r:embed="rId4">
            <a:alphaModFix/>
          </a:blip>
          <a:srcRect/>
          <a:stretch/>
        </p:blipFill>
        <p:spPr>
          <a:xfrm>
            <a:off x="8009825" y="2649857"/>
            <a:ext cx="726954" cy="336775"/>
          </a:xfrm>
          <a:prstGeom prst="rect">
            <a:avLst/>
          </a:prstGeom>
          <a:noFill/>
          <a:ln>
            <a:noFill/>
          </a:ln>
        </p:spPr>
      </p:pic>
      <p:sp>
        <p:nvSpPr>
          <p:cNvPr id="45" name="TextBox 44">
            <a:extLst>
              <a:ext uri="{FF2B5EF4-FFF2-40B4-BE49-F238E27FC236}">
                <a16:creationId xmlns:a16="http://schemas.microsoft.com/office/drawing/2014/main" id="{6127149E-6857-4130-A60A-6F0BC7196195}"/>
              </a:ext>
            </a:extLst>
          </p:cNvPr>
          <p:cNvSpPr txBox="1"/>
          <p:nvPr/>
        </p:nvSpPr>
        <p:spPr>
          <a:xfrm>
            <a:off x="542244" y="708631"/>
            <a:ext cx="11224398" cy="492443"/>
          </a:xfrm>
          <a:prstGeom prst="rect">
            <a:avLst/>
          </a:prstGeom>
          <a:noFill/>
        </p:spPr>
        <p:txBody>
          <a:bodyPr wrap="square" rtlCol="0">
            <a:spAutoFit/>
          </a:bodyPr>
          <a:lstStyle/>
          <a:p>
            <a:pPr marL="0" marR="0" lvl="0" indent="457200" algn="just" defTabSz="914400" rtl="0" eaLnBrk="1" fontAlgn="auto" latinLnBrk="0" hangingPunct="1">
              <a:lnSpc>
                <a:spcPct val="100000"/>
              </a:lnSpc>
              <a:spcBef>
                <a:spcPts val="0"/>
              </a:spcBef>
              <a:spcAft>
                <a:spcPts val="400"/>
              </a:spcAft>
              <a:buClr>
                <a:srgbClr val="000000"/>
              </a:buClr>
              <a:buSzTx/>
              <a:buFont typeface="Arial"/>
              <a:buNone/>
              <a:tabLst/>
              <a:defRPr/>
            </a:pPr>
            <a:r>
              <a:rPr lang="da-DK" sz="1300" b="1" kern="0" dirty="0" err="1">
                <a:solidFill>
                  <a:srgbClr val="000000"/>
                </a:solidFill>
                <a:latin typeface="SVN-Product Sans" panose="020B0403030502040203" pitchFamily="34" charset="0"/>
                <a:cs typeface="Arial"/>
                <a:sym typeface="Arial"/>
              </a:rPr>
              <a:t>Đáng</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chú</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ý</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trong</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quý</a:t>
            </a:r>
            <a:r>
              <a:rPr lang="da-DK" sz="1300" b="1" kern="0" dirty="0">
                <a:solidFill>
                  <a:srgbClr val="000000"/>
                </a:solidFill>
                <a:latin typeface="SVN-Product Sans" panose="020B0403030502040203" pitchFamily="34" charset="0"/>
                <a:cs typeface="Arial"/>
                <a:sym typeface="Arial"/>
              </a:rPr>
              <a:t> 3, </a:t>
            </a:r>
            <a:r>
              <a:rPr lang="da-DK" sz="1300" b="1" kern="0" dirty="0" err="1">
                <a:solidFill>
                  <a:srgbClr val="000000"/>
                </a:solidFill>
                <a:latin typeface="SVN-Product Sans" panose="020B0403030502040203" pitchFamily="34" charset="0"/>
                <a:cs typeface="Arial"/>
                <a:sym typeface="Arial"/>
              </a:rPr>
              <a:t>Các</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ngân</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hàng</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liên</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tục</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hợp</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tác</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tài</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trợ</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cho</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các</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chương</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trình</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giải</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trí</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âm</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nhạc</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hoặc</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kết</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hợp</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các</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hoạt</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động</a:t>
            </a:r>
            <a:r>
              <a:rPr lang="da-DK" sz="1300" b="1" kern="0" dirty="0">
                <a:solidFill>
                  <a:srgbClr val="000000"/>
                </a:solidFill>
                <a:latin typeface="SVN-Product Sans" panose="020B0403030502040203" pitchFamily="34" charset="0"/>
                <a:cs typeface="Arial"/>
                <a:sym typeface="Arial"/>
              </a:rPr>
              <a:t> </a:t>
            </a:r>
            <a:r>
              <a:rPr lang="da-DK" sz="1300" b="1" kern="0" dirty="0" err="1">
                <a:solidFill>
                  <a:srgbClr val="000000"/>
                </a:solidFill>
                <a:latin typeface="SVN-Product Sans" panose="020B0403030502040203" pitchFamily="34" charset="0"/>
                <a:cs typeface="Arial"/>
                <a:sym typeface="Arial"/>
              </a:rPr>
              <a:t>cùng</a:t>
            </a:r>
            <a:r>
              <a:rPr lang="da-DK" sz="1300" b="1" kern="0" dirty="0">
                <a:solidFill>
                  <a:srgbClr val="000000"/>
                </a:solidFill>
                <a:latin typeface="SVN-Product Sans" panose="020B0403030502040203" pitchFamily="34" charset="0"/>
                <a:cs typeface="Arial"/>
                <a:sym typeface="Arial"/>
              </a:rPr>
              <a:t> KOL.</a:t>
            </a:r>
            <a:endParaRPr kumimoji="0" lang="da-DK" sz="1300" b="1"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endParaRPr>
          </a:p>
        </p:txBody>
      </p:sp>
      <p:cxnSp>
        <p:nvCxnSpPr>
          <p:cNvPr id="67" name="Connector: Elbow 66">
            <a:extLst>
              <a:ext uri="{FF2B5EF4-FFF2-40B4-BE49-F238E27FC236}">
                <a16:creationId xmlns:a16="http://schemas.microsoft.com/office/drawing/2014/main" id="{8F07618F-2E31-2505-A790-2C53D9DB2E3D}"/>
              </a:ext>
            </a:extLst>
          </p:cNvPr>
          <p:cNvCxnSpPr>
            <a:cxnSpLocks/>
            <a:endCxn id="76" idx="2"/>
          </p:cNvCxnSpPr>
          <p:nvPr/>
        </p:nvCxnSpPr>
        <p:spPr>
          <a:xfrm rot="5400000" flipH="1" flipV="1">
            <a:off x="4970953" y="4130664"/>
            <a:ext cx="464735" cy="1348"/>
          </a:xfrm>
          <a:prstGeom prst="bentConnector3">
            <a:avLst>
              <a:gd name="adj1" fmla="val 50000"/>
            </a:avLst>
          </a:prstGeom>
          <a:ln>
            <a:solidFill>
              <a:srgbClr val="131DD3"/>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7" name="Google Shape;268;p14">
            <a:extLst>
              <a:ext uri="{FF2B5EF4-FFF2-40B4-BE49-F238E27FC236}">
                <a16:creationId xmlns:a16="http://schemas.microsoft.com/office/drawing/2014/main" id="{A17A28E9-65A2-DFC5-FD05-75CD688D9395}"/>
              </a:ext>
            </a:extLst>
          </p:cNvPr>
          <p:cNvGrpSpPr/>
          <p:nvPr/>
        </p:nvGrpSpPr>
        <p:grpSpPr>
          <a:xfrm>
            <a:off x="8047821" y="2967536"/>
            <a:ext cx="2121700" cy="607329"/>
            <a:chOff x="1544590" y="4757728"/>
            <a:chExt cx="1877708" cy="494968"/>
          </a:xfrm>
        </p:grpSpPr>
        <p:sp>
          <p:nvSpPr>
            <p:cNvPr id="8" name="Google Shape;269;p14">
              <a:extLst>
                <a:ext uri="{FF2B5EF4-FFF2-40B4-BE49-F238E27FC236}">
                  <a16:creationId xmlns:a16="http://schemas.microsoft.com/office/drawing/2014/main" id="{4C243C8D-E24D-8229-F545-D8D7C5BA7872}"/>
                </a:ext>
              </a:extLst>
            </p:cNvPr>
            <p:cNvSpPr/>
            <p:nvPr/>
          </p:nvSpPr>
          <p:spPr>
            <a:xfrm>
              <a:off x="1544590" y="4757728"/>
              <a:ext cx="1877708" cy="491163"/>
            </a:xfrm>
            <a:prstGeom prst="rect">
              <a:avLst/>
            </a:prstGeom>
            <a:solidFill>
              <a:schemeClr val="lt1"/>
            </a:solidFill>
            <a:ln w="12700" cap="flat" cmpd="sng">
              <a:solidFill>
                <a:srgbClr val="006B6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b="0" i="0" u="none" strike="noStrike" kern="0" cap="none" spc="0" normalizeH="0" baseline="0" noProof="0">
                <a:ln>
                  <a:noFill/>
                </a:ln>
                <a:solidFill>
                  <a:srgbClr val="FFFFFF"/>
                </a:solidFill>
                <a:effectLst/>
                <a:uLnTx/>
                <a:uFillTx/>
                <a:latin typeface="SVN-Product Sans" panose="020B0403030502040203" pitchFamily="34" charset="0"/>
                <a:cs typeface="Arial"/>
                <a:sym typeface="Arial"/>
              </a:endParaRPr>
            </a:p>
          </p:txBody>
        </p:sp>
        <p:sp>
          <p:nvSpPr>
            <p:cNvPr id="10" name="Google Shape;270;p14">
              <a:extLst>
                <a:ext uri="{FF2B5EF4-FFF2-40B4-BE49-F238E27FC236}">
                  <a16:creationId xmlns:a16="http://schemas.microsoft.com/office/drawing/2014/main" id="{8AE739F2-142E-E777-16D9-4E25EFBE02A4}"/>
                </a:ext>
              </a:extLst>
            </p:cNvPr>
            <p:cNvSpPr/>
            <p:nvPr/>
          </p:nvSpPr>
          <p:spPr>
            <a:xfrm>
              <a:off x="1569055" y="4776576"/>
              <a:ext cx="1832922" cy="153038"/>
            </a:xfrm>
            <a:prstGeom prst="rect">
              <a:avLst/>
            </a:prstGeom>
            <a:solidFill>
              <a:srgbClr val="006B68"/>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FFFFFF"/>
                  </a:solidFill>
                  <a:effectLst/>
                  <a:uLnTx/>
                  <a:uFillTx/>
                  <a:latin typeface="SVN-Product Sans" panose="020B0403030502040203" pitchFamily="34" charset="0"/>
                  <a:cs typeface="Arial"/>
                  <a:sym typeface="Arial"/>
                </a:rPr>
                <a:t>29/08/202</a:t>
              </a:r>
              <a:r>
                <a:rPr kumimoji="0" lang="vi-VN" sz="900" b="1" i="0" u="none" strike="noStrike" kern="0" cap="none" spc="0" normalizeH="0" baseline="0" noProof="0" dirty="0">
                  <a:ln>
                    <a:noFill/>
                  </a:ln>
                  <a:solidFill>
                    <a:srgbClr val="FFFFFF"/>
                  </a:solidFill>
                  <a:effectLst/>
                  <a:uLnTx/>
                  <a:uFillTx/>
                  <a:latin typeface="SVN-Product Sans" panose="020B0403030502040203" pitchFamily="34" charset="0"/>
                  <a:cs typeface="Arial"/>
                  <a:sym typeface="Arial"/>
                </a:rPr>
                <a:t>4</a:t>
              </a:r>
              <a:endParaRPr kumimoji="0" sz="9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endParaRPr>
            </a:p>
          </p:txBody>
        </p:sp>
        <p:sp>
          <p:nvSpPr>
            <p:cNvPr id="11" name="Google Shape;271;p14">
              <a:extLst>
                <a:ext uri="{FF2B5EF4-FFF2-40B4-BE49-F238E27FC236}">
                  <a16:creationId xmlns:a16="http://schemas.microsoft.com/office/drawing/2014/main" id="{0573BA61-295B-058E-5870-7C58F1D920DF}"/>
                </a:ext>
              </a:extLst>
            </p:cNvPr>
            <p:cNvSpPr txBox="1"/>
            <p:nvPr/>
          </p:nvSpPr>
          <p:spPr>
            <a:xfrm>
              <a:off x="1561908" y="4876459"/>
              <a:ext cx="1841730" cy="376237"/>
            </a:xfrm>
            <a:prstGeom prst="rect">
              <a:avLst/>
            </a:prstGeom>
            <a:noFill/>
            <a:ln>
              <a:noFill/>
            </a:ln>
          </p:spPr>
          <p:txBody>
            <a:bodyPr spcFirstLastPara="1" wrap="square" lIns="91425" tIns="45700" rIns="91425" bIns="0" anchor="ctr" anchorCtr="0">
              <a:spAutoFit/>
            </a:bodyPr>
            <a:lstStyle/>
            <a:p>
              <a:pPr marL="0" marR="0" lvl="0" indent="0" algn="just"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vi-VN" sz="9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Liên kết tài khoản hưởng an sinh với tài khoản BIDV trên VNeID nhận quà Quốc Khánh [</a:t>
              </a:r>
              <a:r>
                <a:rPr kumimoji="0" lang="en-US" sz="9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hlinkClick r:id="rId5"/>
                </a:rPr>
                <a:t>URL</a:t>
              </a:r>
              <a:r>
                <a:rPr kumimoji="0" lang="vi-VN" sz="9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a:t>
              </a:r>
              <a:endParaRPr kumimoji="0" lang="en-US" sz="9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endParaRPr>
            </a:p>
          </p:txBody>
        </p:sp>
      </p:grpSp>
      <p:grpSp>
        <p:nvGrpSpPr>
          <p:cNvPr id="48" name="Google Shape;621;p30">
            <a:extLst>
              <a:ext uri="{FF2B5EF4-FFF2-40B4-BE49-F238E27FC236}">
                <a16:creationId xmlns:a16="http://schemas.microsoft.com/office/drawing/2014/main" id="{8D7E7535-FE4D-37B5-5CD1-4FACD95F911B}"/>
              </a:ext>
            </a:extLst>
          </p:cNvPr>
          <p:cNvGrpSpPr/>
          <p:nvPr/>
        </p:nvGrpSpPr>
        <p:grpSpPr>
          <a:xfrm>
            <a:off x="4271155" y="1576501"/>
            <a:ext cx="1859785" cy="704956"/>
            <a:chOff x="1397359" y="4757726"/>
            <a:chExt cx="1816106" cy="467256"/>
          </a:xfrm>
        </p:grpSpPr>
        <p:sp>
          <p:nvSpPr>
            <p:cNvPr id="50" name="Google Shape;622;p30">
              <a:extLst>
                <a:ext uri="{FF2B5EF4-FFF2-40B4-BE49-F238E27FC236}">
                  <a16:creationId xmlns:a16="http://schemas.microsoft.com/office/drawing/2014/main" id="{B802AF16-2DA9-2AD8-A7B2-D3E0E0801AFB}"/>
                </a:ext>
              </a:extLst>
            </p:cNvPr>
            <p:cNvSpPr/>
            <p:nvPr/>
          </p:nvSpPr>
          <p:spPr>
            <a:xfrm>
              <a:off x="1397359" y="4757726"/>
              <a:ext cx="1816106" cy="453893"/>
            </a:xfrm>
            <a:prstGeom prst="rect">
              <a:avLst/>
            </a:prstGeom>
            <a:solidFill>
              <a:schemeClr val="lt1"/>
            </a:solidFill>
            <a:ln w="12700" cap="flat" cmpd="sng">
              <a:solidFill>
                <a:srgbClr val="008D4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b="0" i="0" u="none" strike="noStrike" kern="0" cap="none" spc="0" normalizeH="0" baseline="0" noProof="0">
                <a:ln>
                  <a:noFill/>
                </a:ln>
                <a:solidFill>
                  <a:srgbClr val="FFFFFF"/>
                </a:solidFill>
                <a:effectLst/>
                <a:uLnTx/>
                <a:uFillTx/>
                <a:latin typeface="SVN-Product Sans" panose="020B0403030502040203" pitchFamily="34" charset="0"/>
                <a:cs typeface="Arial"/>
                <a:sym typeface="Arial"/>
              </a:endParaRPr>
            </a:p>
          </p:txBody>
        </p:sp>
        <p:sp>
          <p:nvSpPr>
            <p:cNvPr id="51" name="Google Shape;623;p30">
              <a:extLst>
                <a:ext uri="{FF2B5EF4-FFF2-40B4-BE49-F238E27FC236}">
                  <a16:creationId xmlns:a16="http://schemas.microsoft.com/office/drawing/2014/main" id="{F94BFC3E-0EAC-74DA-98E2-922075DC9DA4}"/>
                </a:ext>
              </a:extLst>
            </p:cNvPr>
            <p:cNvSpPr/>
            <p:nvPr/>
          </p:nvSpPr>
          <p:spPr>
            <a:xfrm>
              <a:off x="1415295" y="4780098"/>
              <a:ext cx="1764600" cy="137623"/>
            </a:xfrm>
            <a:prstGeom prst="rect">
              <a:avLst/>
            </a:prstGeom>
            <a:solidFill>
              <a:srgbClr val="008D4B"/>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b="1" kern="0" dirty="0">
                  <a:solidFill>
                    <a:srgbClr val="FFFFFF"/>
                  </a:solidFill>
                  <a:latin typeface="SVN-Product Sans" panose="020B0403030502040203" pitchFamily="34" charset="0"/>
                  <a:cs typeface="Arial"/>
                  <a:sym typeface="Arial"/>
                </a:rPr>
                <a:t>06/08</a:t>
              </a:r>
              <a:r>
                <a:rPr kumimoji="0" lang="en-US" sz="900" b="1" i="0" u="none" strike="noStrike" kern="0" cap="none" spc="0" normalizeH="0" baseline="0" noProof="0" dirty="0">
                  <a:ln>
                    <a:noFill/>
                  </a:ln>
                  <a:solidFill>
                    <a:srgbClr val="FFFFFF"/>
                  </a:solidFill>
                  <a:effectLst/>
                  <a:uLnTx/>
                  <a:uFillTx/>
                  <a:latin typeface="SVN-Product Sans" panose="020B0403030502040203" pitchFamily="34" charset="0"/>
                  <a:cs typeface="Arial"/>
                  <a:sym typeface="Arial"/>
                </a:rPr>
                <a:t>/2025</a:t>
              </a:r>
              <a:endParaRPr kumimoji="0" sz="9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endParaRPr>
            </a:p>
          </p:txBody>
        </p:sp>
        <p:sp>
          <p:nvSpPr>
            <p:cNvPr id="52" name="Google Shape;624;p30">
              <a:extLst>
                <a:ext uri="{FF2B5EF4-FFF2-40B4-BE49-F238E27FC236}">
                  <a16:creationId xmlns:a16="http://schemas.microsoft.com/office/drawing/2014/main" id="{1D49D929-BB61-4D58-9BD0-7E3F81E15E75}"/>
                </a:ext>
              </a:extLst>
            </p:cNvPr>
            <p:cNvSpPr txBox="1"/>
            <p:nvPr/>
          </p:nvSpPr>
          <p:spPr>
            <a:xfrm>
              <a:off x="1416366" y="4919010"/>
              <a:ext cx="1796956" cy="305972"/>
            </a:xfrm>
            <a:prstGeom prst="rect">
              <a:avLst/>
            </a:prstGeom>
            <a:noFill/>
            <a:ln>
              <a:noFill/>
            </a:ln>
          </p:spPr>
          <p:txBody>
            <a:bodyPr spcFirstLastPara="1" wrap="square" lIns="91425" tIns="45700" rIns="91425" bIns="45700" anchor="t" anchorCtr="0">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Minigame </a:t>
              </a:r>
              <a:r>
                <a:rPr kumimoji="0" lang="en-US" sz="8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Bứt</a:t>
              </a:r>
              <a:r>
                <a:rPr kumimoji="0" lang="en-US" sz="8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a:t>
              </a:r>
              <a:r>
                <a:rPr kumimoji="0" lang="en-US" sz="8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phá</a:t>
              </a:r>
              <a:r>
                <a:rPr kumimoji="0" lang="en-US" sz="8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a:t>
              </a:r>
              <a:r>
                <a:rPr kumimoji="0" lang="en-US" sz="8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từ</a:t>
              </a:r>
              <a:r>
                <a:rPr kumimoji="0" lang="en-US" sz="8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a:t>
              </a:r>
              <a:r>
                <a:rPr kumimoji="0" lang="en-US" sz="8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hôm</a:t>
              </a:r>
              <a:r>
                <a:rPr kumimoji="0" lang="en-US" sz="8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nay, </a:t>
              </a:r>
              <a:r>
                <a:rPr kumimoji="0" lang="en-US" sz="8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rinh</a:t>
              </a:r>
              <a:r>
                <a:rPr kumimoji="0" lang="en-US" sz="8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a:t>
              </a:r>
              <a:r>
                <a:rPr kumimoji="0" lang="en-US" sz="8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liền</a:t>
              </a:r>
              <a:r>
                <a:rPr kumimoji="0" lang="en-US" sz="8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a:t>
              </a:r>
              <a:r>
                <a:rPr kumimoji="0" lang="en-US" sz="8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tay</a:t>
              </a:r>
              <a:r>
                <a:rPr kumimoji="0" lang="en-US" sz="8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a:t>
              </a:r>
              <a:r>
                <a:rPr kumimoji="0" lang="en-US" sz="8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vé</a:t>
              </a:r>
              <a:r>
                <a:rPr kumimoji="0" lang="en-US" sz="8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V-FEST [</a:t>
              </a:r>
              <a:r>
                <a:rPr kumimoji="0" lang="en-US" sz="8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hlinkClick r:id="rId6"/>
                </a:rPr>
                <a:t>URL</a:t>
              </a:r>
              <a:r>
                <a:rPr kumimoji="0" lang="en-US" sz="8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a:t>
              </a:r>
              <a:r>
                <a:rPr lang="vi-VN" sz="800" kern="0" dirty="0">
                  <a:solidFill>
                    <a:srgbClr val="000000"/>
                  </a:solidFill>
                  <a:latin typeface="SVN-Product Sans" panose="020B0403030502040203" pitchFamily="34" charset="0"/>
                  <a:cs typeface="Arial"/>
                  <a:sym typeface="Arial"/>
                </a:rPr>
                <a:t>,  Gọi tên bài hát – rinh vé V Fest [</a:t>
              </a:r>
              <a:r>
                <a:rPr lang="vi-VN" sz="800" kern="0" dirty="0">
                  <a:solidFill>
                    <a:srgbClr val="000000"/>
                  </a:solidFill>
                  <a:latin typeface="SVN-Product Sans" panose="020B0403030502040203" pitchFamily="34" charset="0"/>
                  <a:cs typeface="Arial"/>
                  <a:sym typeface="Arial"/>
                  <a:hlinkClick r:id="rId7"/>
                </a:rPr>
                <a:t>URL</a:t>
              </a:r>
              <a:r>
                <a:rPr lang="vi-VN" sz="800" kern="0" dirty="0">
                  <a:solidFill>
                    <a:srgbClr val="000000"/>
                  </a:solidFill>
                  <a:latin typeface="SVN-Product Sans" panose="020B0403030502040203" pitchFamily="34" charset="0"/>
                  <a:cs typeface="Arial"/>
                  <a:sym typeface="Arial"/>
                </a:rPr>
                <a:t>]</a:t>
              </a:r>
              <a:endParaRPr kumimoji="0" lang="en-US" sz="8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endParaRPr>
            </a:p>
          </p:txBody>
        </p:sp>
      </p:grpSp>
      <p:cxnSp>
        <p:nvCxnSpPr>
          <p:cNvPr id="69" name="Connector: Elbow 68">
            <a:extLst>
              <a:ext uri="{FF2B5EF4-FFF2-40B4-BE49-F238E27FC236}">
                <a16:creationId xmlns:a16="http://schemas.microsoft.com/office/drawing/2014/main" id="{C5369E5F-8A39-0916-B07C-5FBB38D610BB}"/>
              </a:ext>
            </a:extLst>
          </p:cNvPr>
          <p:cNvCxnSpPr>
            <a:cxnSpLocks/>
            <a:stCxn id="50" idx="3"/>
          </p:cNvCxnSpPr>
          <p:nvPr/>
        </p:nvCxnSpPr>
        <p:spPr>
          <a:xfrm>
            <a:off x="6130940" y="1918899"/>
            <a:ext cx="414405" cy="248709"/>
          </a:xfrm>
          <a:prstGeom prst="bentConnector3">
            <a:avLst>
              <a:gd name="adj1" fmla="val 50000"/>
            </a:avLst>
          </a:prstGeom>
          <a:ln>
            <a:solidFill>
              <a:srgbClr val="008D4B"/>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75" name="Google Shape;631;p30">
            <a:extLst>
              <a:ext uri="{FF2B5EF4-FFF2-40B4-BE49-F238E27FC236}">
                <a16:creationId xmlns:a16="http://schemas.microsoft.com/office/drawing/2014/main" id="{C58492A3-1418-F53A-A551-AA73F11D2A82}"/>
              </a:ext>
            </a:extLst>
          </p:cNvPr>
          <p:cNvGrpSpPr/>
          <p:nvPr/>
        </p:nvGrpSpPr>
        <p:grpSpPr>
          <a:xfrm>
            <a:off x="4311987" y="3272279"/>
            <a:ext cx="1784013" cy="626691"/>
            <a:chOff x="1314642" y="4741135"/>
            <a:chExt cx="1486639" cy="328420"/>
          </a:xfrm>
        </p:grpSpPr>
        <p:sp>
          <p:nvSpPr>
            <p:cNvPr id="76" name="Google Shape;632;p30">
              <a:extLst>
                <a:ext uri="{FF2B5EF4-FFF2-40B4-BE49-F238E27FC236}">
                  <a16:creationId xmlns:a16="http://schemas.microsoft.com/office/drawing/2014/main" id="{13BA016D-DEEA-9A1B-E674-C58D3B9914B6}"/>
                </a:ext>
              </a:extLst>
            </p:cNvPr>
            <p:cNvSpPr/>
            <p:nvPr/>
          </p:nvSpPr>
          <p:spPr>
            <a:xfrm>
              <a:off x="1314642" y="4741135"/>
              <a:ext cx="1486639" cy="328420"/>
            </a:xfrm>
            <a:prstGeom prst="rect">
              <a:avLst/>
            </a:prstGeom>
            <a:solidFill>
              <a:schemeClr val="lt1"/>
            </a:solidFill>
            <a:ln w="12700" cap="flat" cmpd="sng">
              <a:solidFill>
                <a:srgbClr val="0B482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b="0" i="0" u="none" strike="noStrike" kern="0" cap="none" spc="0" normalizeH="0" baseline="0" noProof="0">
                <a:ln>
                  <a:noFill/>
                </a:ln>
                <a:solidFill>
                  <a:srgbClr val="FFFFFF"/>
                </a:solidFill>
                <a:effectLst/>
                <a:uLnTx/>
                <a:uFillTx/>
                <a:latin typeface="SVN-Product Sans" panose="020B0403030502040203" pitchFamily="34" charset="0"/>
                <a:cs typeface="Arial"/>
                <a:sym typeface="Arial"/>
              </a:endParaRPr>
            </a:p>
          </p:txBody>
        </p:sp>
        <p:sp>
          <p:nvSpPr>
            <p:cNvPr id="77" name="Google Shape;633;p30">
              <a:extLst>
                <a:ext uri="{FF2B5EF4-FFF2-40B4-BE49-F238E27FC236}">
                  <a16:creationId xmlns:a16="http://schemas.microsoft.com/office/drawing/2014/main" id="{0117F15D-BBFF-8C8E-F58F-202054548EE7}"/>
                </a:ext>
              </a:extLst>
            </p:cNvPr>
            <p:cNvSpPr/>
            <p:nvPr/>
          </p:nvSpPr>
          <p:spPr>
            <a:xfrm>
              <a:off x="1343433" y="4758790"/>
              <a:ext cx="1426812" cy="96292"/>
            </a:xfrm>
            <a:prstGeom prst="rect">
              <a:avLst/>
            </a:prstGeom>
            <a:solidFill>
              <a:srgbClr val="131DD3"/>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b="1" kern="0" dirty="0">
                  <a:solidFill>
                    <a:srgbClr val="FFFFFF"/>
                  </a:solidFill>
                  <a:latin typeface="SVN-Product Sans" panose="020B0403030502040203" pitchFamily="34" charset="0"/>
                  <a:cs typeface="Arial"/>
                  <a:sym typeface="Arial"/>
                </a:rPr>
                <a:t>26/07</a:t>
              </a:r>
              <a:r>
                <a:rPr kumimoji="0" lang="en-US" sz="900" b="1" i="0" u="none" strike="noStrike" kern="0" cap="none" spc="0" normalizeH="0" baseline="0" noProof="0" dirty="0">
                  <a:ln>
                    <a:noFill/>
                  </a:ln>
                  <a:solidFill>
                    <a:srgbClr val="FFFFFF"/>
                  </a:solidFill>
                  <a:effectLst/>
                  <a:uLnTx/>
                  <a:uFillTx/>
                  <a:latin typeface="SVN-Product Sans" panose="020B0403030502040203" pitchFamily="34" charset="0"/>
                  <a:cs typeface="Arial"/>
                  <a:sym typeface="Arial"/>
                </a:rPr>
                <a:t>/2025</a:t>
              </a:r>
              <a:endParaRPr kumimoji="0" sz="9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endParaRPr>
            </a:p>
          </p:txBody>
        </p:sp>
        <p:sp>
          <p:nvSpPr>
            <p:cNvPr id="78" name="Google Shape;634;p30">
              <a:extLst>
                <a:ext uri="{FF2B5EF4-FFF2-40B4-BE49-F238E27FC236}">
                  <a16:creationId xmlns:a16="http://schemas.microsoft.com/office/drawing/2014/main" id="{6EA03439-D06D-A320-45BF-ECC3FF45BBA8}"/>
                </a:ext>
              </a:extLst>
            </p:cNvPr>
            <p:cNvSpPr txBox="1"/>
            <p:nvPr/>
          </p:nvSpPr>
          <p:spPr>
            <a:xfrm>
              <a:off x="1330365" y="4886371"/>
              <a:ext cx="1459954" cy="153227"/>
            </a:xfrm>
            <a:prstGeom prst="rect">
              <a:avLst/>
            </a:prstGeom>
            <a:noFill/>
            <a:ln>
              <a:noFill/>
            </a:ln>
          </p:spPr>
          <p:txBody>
            <a:bodyPr spcFirstLastPara="1" wrap="square" lIns="91425" tIns="45720" rIns="91425" bIns="0" anchor="b" anchorCtr="0">
              <a:spAutoFit/>
            </a:bodyPr>
            <a:lstStyle/>
            <a:p>
              <a:pPr marL="0" marR="0" lvl="0" indent="0" algn="just"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8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Minigame </a:t>
              </a:r>
              <a:r>
                <a:rPr kumimoji="0" lang="en-US" sz="8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Nối</a:t>
              </a:r>
              <a:r>
                <a:rPr kumimoji="0" lang="en-US" sz="8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8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đúng</a:t>
              </a:r>
              <a:r>
                <a:rPr kumimoji="0" lang="en-US" sz="8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8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tính</a:t>
              </a:r>
              <a:r>
                <a:rPr kumimoji="0" lang="en-US" sz="8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8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năng</a:t>
              </a:r>
              <a:r>
                <a:rPr kumimoji="0" lang="en-US" sz="8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8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chốt</a:t>
              </a:r>
              <a:r>
                <a:rPr kumimoji="0" lang="en-US" sz="8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8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lời</a:t>
              </a:r>
              <a:r>
                <a:rPr kumimoji="0" lang="en-US" sz="8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8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tiền</a:t>
              </a:r>
              <a:r>
                <a:rPr kumimoji="0" lang="en-US" sz="8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8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triệu</a:t>
              </a:r>
              <a:r>
                <a:rPr kumimoji="0" lang="en-US" sz="8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8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hlinkClick r:id="rId8"/>
                </a:rPr>
                <a:t>URL</a:t>
              </a:r>
              <a:r>
                <a:rPr kumimoji="0" lang="en-US" sz="8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a:t>
              </a:r>
            </a:p>
          </p:txBody>
        </p:sp>
      </p:grpSp>
      <p:pic>
        <p:nvPicPr>
          <p:cNvPr id="39" name="Google Shape;572;p28">
            <a:extLst>
              <a:ext uri="{FF2B5EF4-FFF2-40B4-BE49-F238E27FC236}">
                <a16:creationId xmlns:a16="http://schemas.microsoft.com/office/drawing/2014/main" id="{AFE892E1-0F74-DA83-9D60-D04A4F339D38}"/>
              </a:ext>
            </a:extLst>
          </p:cNvPr>
          <p:cNvPicPr preferRelativeResize="0"/>
          <p:nvPr/>
        </p:nvPicPr>
        <p:blipFill rotWithShape="1">
          <a:blip r:embed="rId9">
            <a:alphaModFix/>
          </a:blip>
          <a:srcRect/>
          <a:stretch/>
        </p:blipFill>
        <p:spPr>
          <a:xfrm>
            <a:off x="4271155" y="1373638"/>
            <a:ext cx="655473" cy="139435"/>
          </a:xfrm>
          <a:prstGeom prst="rect">
            <a:avLst/>
          </a:prstGeom>
          <a:noFill/>
          <a:ln>
            <a:noFill/>
          </a:ln>
        </p:spPr>
      </p:pic>
      <p:grpSp>
        <p:nvGrpSpPr>
          <p:cNvPr id="81" name="Google Shape;621;p30">
            <a:extLst>
              <a:ext uri="{FF2B5EF4-FFF2-40B4-BE49-F238E27FC236}">
                <a16:creationId xmlns:a16="http://schemas.microsoft.com/office/drawing/2014/main" id="{BCFF5621-3A50-7ECF-F141-4BEEF0766895}"/>
              </a:ext>
            </a:extLst>
          </p:cNvPr>
          <p:cNvGrpSpPr/>
          <p:nvPr/>
        </p:nvGrpSpPr>
        <p:grpSpPr>
          <a:xfrm>
            <a:off x="214507" y="1421208"/>
            <a:ext cx="1859785" cy="849135"/>
            <a:chOff x="1397359" y="4757726"/>
            <a:chExt cx="1816106" cy="562820"/>
          </a:xfrm>
        </p:grpSpPr>
        <p:sp>
          <p:nvSpPr>
            <p:cNvPr id="90" name="Google Shape;622;p30">
              <a:extLst>
                <a:ext uri="{FF2B5EF4-FFF2-40B4-BE49-F238E27FC236}">
                  <a16:creationId xmlns:a16="http://schemas.microsoft.com/office/drawing/2014/main" id="{DA2F934D-2565-9D90-DE2B-C2AA56EB41A3}"/>
                </a:ext>
              </a:extLst>
            </p:cNvPr>
            <p:cNvSpPr/>
            <p:nvPr/>
          </p:nvSpPr>
          <p:spPr>
            <a:xfrm>
              <a:off x="1397359" y="4757726"/>
              <a:ext cx="1816106" cy="562820"/>
            </a:xfrm>
            <a:prstGeom prst="rect">
              <a:avLst/>
            </a:prstGeom>
            <a:solidFill>
              <a:schemeClr val="lt1"/>
            </a:solidFill>
            <a:ln w="12700" cap="flat" cmpd="sng">
              <a:solidFill>
                <a:srgbClr val="008D4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b="0" i="0" u="none" strike="noStrike" kern="0" cap="none" spc="0" normalizeH="0" baseline="0" noProof="0">
                <a:ln>
                  <a:noFill/>
                </a:ln>
                <a:solidFill>
                  <a:srgbClr val="FFFFFF"/>
                </a:solidFill>
                <a:effectLst/>
                <a:uLnTx/>
                <a:uFillTx/>
                <a:latin typeface="SVN-Product Sans" panose="020B0403030502040203" pitchFamily="34" charset="0"/>
                <a:cs typeface="Arial"/>
                <a:sym typeface="Arial"/>
              </a:endParaRPr>
            </a:p>
          </p:txBody>
        </p:sp>
        <p:sp>
          <p:nvSpPr>
            <p:cNvPr id="91" name="Google Shape;623;p30">
              <a:extLst>
                <a:ext uri="{FF2B5EF4-FFF2-40B4-BE49-F238E27FC236}">
                  <a16:creationId xmlns:a16="http://schemas.microsoft.com/office/drawing/2014/main" id="{44584659-FA40-5F7B-2CCC-E5281DE2FD8A}"/>
                </a:ext>
              </a:extLst>
            </p:cNvPr>
            <p:cNvSpPr/>
            <p:nvPr/>
          </p:nvSpPr>
          <p:spPr>
            <a:xfrm>
              <a:off x="1415295" y="4780098"/>
              <a:ext cx="1764600" cy="137623"/>
            </a:xfrm>
            <a:prstGeom prst="rect">
              <a:avLst/>
            </a:prstGeom>
            <a:solidFill>
              <a:srgbClr val="008D4B"/>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FFFFFF"/>
                  </a:solidFill>
                  <a:effectLst/>
                  <a:uLnTx/>
                  <a:uFillTx/>
                  <a:latin typeface="SVN-Product Sans" panose="020B0403030502040203" pitchFamily="34" charset="0"/>
                  <a:cs typeface="Arial"/>
                  <a:sym typeface="Arial"/>
                </a:rPr>
                <a:t>23/06/2025</a:t>
              </a:r>
              <a:endParaRPr kumimoji="0" sz="9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endParaRPr>
            </a:p>
          </p:txBody>
        </p:sp>
        <p:sp>
          <p:nvSpPr>
            <p:cNvPr id="92" name="Google Shape;624;p30">
              <a:extLst>
                <a:ext uri="{FF2B5EF4-FFF2-40B4-BE49-F238E27FC236}">
                  <a16:creationId xmlns:a16="http://schemas.microsoft.com/office/drawing/2014/main" id="{25D2F155-B612-363A-91EF-A366F14055E5}"/>
                </a:ext>
              </a:extLst>
            </p:cNvPr>
            <p:cNvSpPr txBox="1"/>
            <p:nvPr/>
          </p:nvSpPr>
          <p:spPr>
            <a:xfrm>
              <a:off x="1416366" y="4919010"/>
              <a:ext cx="1796956" cy="387572"/>
            </a:xfrm>
            <a:prstGeom prst="rect">
              <a:avLst/>
            </a:prstGeom>
            <a:noFill/>
            <a:ln>
              <a:noFill/>
            </a:ln>
          </p:spPr>
          <p:txBody>
            <a:bodyPr spcFirstLastPara="1" wrap="square" lIns="91425" tIns="45700" rIns="91425" bIns="45700" anchor="t" anchorCtr="0">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Chứng</a:t>
              </a:r>
              <a:r>
                <a:rPr kumimoji="0" lang="en-US" sz="8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a:t>
              </a:r>
              <a:r>
                <a:rPr kumimoji="0" lang="en-US" sz="8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khoán</a:t>
              </a:r>
              <a:r>
                <a:rPr kumimoji="0" lang="en-US" sz="8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a:t>
              </a:r>
              <a:r>
                <a:rPr kumimoji="0" lang="en-US" sz="8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VPBank</a:t>
              </a:r>
              <a:r>
                <a:rPr kumimoji="0" lang="en-US" sz="8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 Minigame: </a:t>
              </a:r>
              <a:r>
                <a:rPr kumimoji="0" lang="en-US" sz="8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Tìm</a:t>
              </a:r>
              <a:r>
                <a:rPr kumimoji="0" lang="en-US" sz="8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a:t>
              </a:r>
              <a:r>
                <a:rPr kumimoji="0" lang="en-US" sz="8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nhân</a:t>
              </a:r>
              <a:r>
                <a:rPr kumimoji="0" lang="en-US" sz="8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a:t>
              </a:r>
              <a:r>
                <a:rPr kumimoji="0" lang="en-US" sz="8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tố</a:t>
              </a:r>
              <a:r>
                <a:rPr kumimoji="0" lang="en-US" sz="8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X [</a:t>
              </a:r>
              <a:r>
                <a:rPr kumimoji="0" lang="en-US" sz="8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hlinkClick r:id="rId10"/>
                </a:rPr>
                <a:t>URL</a:t>
              </a:r>
              <a:r>
                <a:rPr kumimoji="0" lang="en-US" sz="8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800" b="0" i="0" dirty="0">
                  <a:solidFill>
                    <a:srgbClr val="050505"/>
                  </a:solidFill>
                  <a:effectLst/>
                  <a:latin typeface="system-ui"/>
                </a:rPr>
                <a:t>K-STAR SPARK in VIETNAM - PRESENTED BY VPBANK</a:t>
              </a:r>
              <a:r>
                <a:rPr lang="en-US" sz="800" kern="0" dirty="0">
                  <a:solidFill>
                    <a:srgbClr val="050505"/>
                  </a:solidFill>
                  <a:latin typeface="SVN-Product Sans" panose="020B0403030502040203" pitchFamily="34" charset="0"/>
                  <a:cs typeface="Arial"/>
                  <a:sym typeface="Arial"/>
                </a:rPr>
                <a:t> [</a:t>
              </a:r>
              <a:r>
                <a:rPr lang="en-US" sz="800" kern="0" dirty="0">
                  <a:solidFill>
                    <a:srgbClr val="050505"/>
                  </a:solidFill>
                  <a:latin typeface="SVN-Product Sans" panose="020B0403030502040203" pitchFamily="34" charset="0"/>
                  <a:cs typeface="Arial"/>
                  <a:sym typeface="Arial"/>
                  <a:hlinkClick r:id="rId11"/>
                </a:rPr>
                <a:t>URL</a:t>
              </a:r>
              <a:r>
                <a:rPr lang="en-US" sz="800" kern="0" dirty="0">
                  <a:solidFill>
                    <a:srgbClr val="050505"/>
                  </a:solidFill>
                  <a:latin typeface="SVN-Product Sans" panose="020B0403030502040203" pitchFamily="34" charset="0"/>
                  <a:cs typeface="Arial"/>
                  <a:sym typeface="Arial"/>
                </a:rPr>
                <a:t>]</a:t>
              </a:r>
            </a:p>
          </p:txBody>
        </p:sp>
      </p:grpSp>
      <p:cxnSp>
        <p:nvCxnSpPr>
          <p:cNvPr id="94" name="Connector: Elbow 93">
            <a:extLst>
              <a:ext uri="{FF2B5EF4-FFF2-40B4-BE49-F238E27FC236}">
                <a16:creationId xmlns:a16="http://schemas.microsoft.com/office/drawing/2014/main" id="{6BC62A50-E28C-F959-4018-0F292DB94F23}"/>
              </a:ext>
            </a:extLst>
          </p:cNvPr>
          <p:cNvCxnSpPr>
            <a:cxnSpLocks/>
            <a:endCxn id="90" idx="2"/>
          </p:cNvCxnSpPr>
          <p:nvPr/>
        </p:nvCxnSpPr>
        <p:spPr>
          <a:xfrm rot="5400000" flipH="1" flipV="1">
            <a:off x="609383" y="2733848"/>
            <a:ext cx="998521" cy="71513"/>
          </a:xfrm>
          <a:prstGeom prst="bentConnector3">
            <a:avLst>
              <a:gd name="adj1" fmla="val 50000"/>
            </a:avLst>
          </a:prstGeom>
          <a:ln>
            <a:solidFill>
              <a:srgbClr val="008D4B"/>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95" name="Google Shape;572;p28">
            <a:extLst>
              <a:ext uri="{FF2B5EF4-FFF2-40B4-BE49-F238E27FC236}">
                <a16:creationId xmlns:a16="http://schemas.microsoft.com/office/drawing/2014/main" id="{6A56B27F-F974-20D9-636F-53240002F732}"/>
              </a:ext>
            </a:extLst>
          </p:cNvPr>
          <p:cNvPicPr preferRelativeResize="0"/>
          <p:nvPr/>
        </p:nvPicPr>
        <p:blipFill rotWithShape="1">
          <a:blip r:embed="rId9">
            <a:alphaModFix/>
          </a:blip>
          <a:srcRect/>
          <a:stretch/>
        </p:blipFill>
        <p:spPr>
          <a:xfrm>
            <a:off x="214507" y="1205309"/>
            <a:ext cx="655473" cy="139435"/>
          </a:xfrm>
          <a:prstGeom prst="rect">
            <a:avLst/>
          </a:prstGeom>
          <a:noFill/>
          <a:ln>
            <a:noFill/>
          </a:ln>
        </p:spPr>
      </p:pic>
      <p:grpSp>
        <p:nvGrpSpPr>
          <p:cNvPr id="103" name="Google Shape;631;p30">
            <a:extLst>
              <a:ext uri="{FF2B5EF4-FFF2-40B4-BE49-F238E27FC236}">
                <a16:creationId xmlns:a16="http://schemas.microsoft.com/office/drawing/2014/main" id="{B55C129D-1C60-B05B-D06A-80066EAE627F}"/>
              </a:ext>
            </a:extLst>
          </p:cNvPr>
          <p:cNvGrpSpPr/>
          <p:nvPr/>
        </p:nvGrpSpPr>
        <p:grpSpPr>
          <a:xfrm>
            <a:off x="1816501" y="2731231"/>
            <a:ext cx="2287860" cy="1025682"/>
            <a:chOff x="1443623" y="4757727"/>
            <a:chExt cx="2025888" cy="478440"/>
          </a:xfrm>
        </p:grpSpPr>
        <p:sp>
          <p:nvSpPr>
            <p:cNvPr id="104" name="Google Shape;632;p30">
              <a:extLst>
                <a:ext uri="{FF2B5EF4-FFF2-40B4-BE49-F238E27FC236}">
                  <a16:creationId xmlns:a16="http://schemas.microsoft.com/office/drawing/2014/main" id="{5DA624CE-5D62-5D54-F32E-E459AA78814B}"/>
                </a:ext>
              </a:extLst>
            </p:cNvPr>
            <p:cNvSpPr/>
            <p:nvPr/>
          </p:nvSpPr>
          <p:spPr>
            <a:xfrm>
              <a:off x="1476466" y="4869340"/>
              <a:ext cx="1993045" cy="346742"/>
            </a:xfrm>
            <a:prstGeom prst="rect">
              <a:avLst/>
            </a:prstGeom>
            <a:solidFill>
              <a:schemeClr val="lt1"/>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b="0" i="0" u="none" strike="noStrike" kern="0" cap="none" spc="0" normalizeH="0" baseline="0" noProof="0" dirty="0">
                <a:ln>
                  <a:noFill/>
                </a:ln>
                <a:solidFill>
                  <a:srgbClr val="FFFFFF"/>
                </a:solidFill>
                <a:effectLst/>
                <a:uLnTx/>
                <a:uFillTx/>
                <a:latin typeface="SVN-Product Sans" panose="020B0403030502040203" pitchFamily="34" charset="0"/>
                <a:cs typeface="Arial"/>
                <a:sym typeface="Arial"/>
              </a:endParaRPr>
            </a:p>
          </p:txBody>
        </p:sp>
        <p:sp>
          <p:nvSpPr>
            <p:cNvPr id="105" name="Google Shape;633;p30">
              <a:extLst>
                <a:ext uri="{FF2B5EF4-FFF2-40B4-BE49-F238E27FC236}">
                  <a16:creationId xmlns:a16="http://schemas.microsoft.com/office/drawing/2014/main" id="{D6E0587D-2EC9-45F3-CB70-01B2A9456BDF}"/>
                </a:ext>
              </a:extLst>
            </p:cNvPr>
            <p:cNvSpPr/>
            <p:nvPr/>
          </p:nvSpPr>
          <p:spPr>
            <a:xfrm>
              <a:off x="1495739" y="4757727"/>
              <a:ext cx="1950413" cy="86447"/>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b="1" kern="0" dirty="0">
                  <a:solidFill>
                    <a:srgbClr val="FFFFFF"/>
                  </a:solidFill>
                  <a:latin typeface="SVN-Product Sans" panose="020B0403030502040203" pitchFamily="34" charset="0"/>
                  <a:cs typeface="Arial"/>
                  <a:sym typeface="Arial"/>
                </a:rPr>
                <a:t>10/07</a:t>
              </a:r>
              <a:r>
                <a:rPr kumimoji="0" lang="en-US" sz="900" b="1" i="0" u="none" strike="noStrike" kern="0" cap="none" spc="0" normalizeH="0" baseline="0" noProof="0" dirty="0">
                  <a:ln>
                    <a:noFill/>
                  </a:ln>
                  <a:solidFill>
                    <a:srgbClr val="FFFFFF"/>
                  </a:solidFill>
                  <a:effectLst/>
                  <a:uLnTx/>
                  <a:uFillTx/>
                  <a:latin typeface="SVN-Product Sans" panose="020B0403030502040203" pitchFamily="34" charset="0"/>
                  <a:cs typeface="Arial"/>
                  <a:sym typeface="Arial"/>
                </a:rPr>
                <a:t>/2025</a:t>
              </a:r>
              <a:endParaRPr kumimoji="0" sz="9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endParaRPr>
            </a:p>
          </p:txBody>
        </p:sp>
        <p:sp>
          <p:nvSpPr>
            <p:cNvPr id="106" name="Google Shape;634;p30">
              <a:extLst>
                <a:ext uri="{FF2B5EF4-FFF2-40B4-BE49-F238E27FC236}">
                  <a16:creationId xmlns:a16="http://schemas.microsoft.com/office/drawing/2014/main" id="{550AE5E0-FA4E-2BBD-0CEC-5356EE111CED}"/>
                </a:ext>
              </a:extLst>
            </p:cNvPr>
            <p:cNvSpPr txBox="1"/>
            <p:nvPr/>
          </p:nvSpPr>
          <p:spPr>
            <a:xfrm>
              <a:off x="1443623" y="4848559"/>
              <a:ext cx="1950413" cy="387608"/>
            </a:xfrm>
            <a:prstGeom prst="rect">
              <a:avLst/>
            </a:prstGeom>
            <a:noFill/>
            <a:ln>
              <a:noFill/>
            </a:ln>
          </p:spPr>
          <p:txBody>
            <a:bodyPr spcFirstLastPara="1" wrap="square" lIns="91425" tIns="45700" rIns="91425" bIns="45700" anchor="ctr" anchorCtr="0">
              <a:spAutoFit/>
            </a:bodyPr>
            <a:lstStyle/>
            <a:p>
              <a:pPr marL="0" marR="0" lvl="0" indent="0" algn="just"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8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Thông</a:t>
              </a:r>
              <a:r>
                <a:rPr kumimoji="0" lang="en-US" sz="8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tin  Concert Encore Day 7 &amp; 8 </a:t>
              </a:r>
              <a:r>
                <a:rPr kumimoji="0" lang="vi-VN" sz="8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Anh Trai Vượt Ngàn Chông Gai </a:t>
              </a:r>
              <a:r>
                <a:rPr kumimoji="0" lang="en-US" sz="8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a:t>
              </a:r>
              <a:r>
                <a:rPr kumimoji="0" lang="en-US" sz="8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hlinkClick r:id="rId12"/>
                </a:rPr>
                <a:t>URL</a:t>
              </a:r>
              <a:r>
                <a:rPr kumimoji="0" lang="en-US" sz="8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a:t>
              </a:r>
            </a:p>
            <a:p>
              <a:pPr marL="0" marR="0" lvl="0" indent="0" algn="just" defTabSz="914400" rtl="0" eaLnBrk="1" fontAlgn="auto" latinLnBrk="0" hangingPunct="1">
                <a:lnSpc>
                  <a:spcPct val="100000"/>
                </a:lnSpc>
                <a:spcBef>
                  <a:spcPts val="0"/>
                </a:spcBef>
                <a:spcAft>
                  <a:spcPts val="0"/>
                </a:spcAft>
                <a:buClr>
                  <a:srgbClr val="000000"/>
                </a:buClr>
                <a:buSzPts val="1000"/>
                <a:buFont typeface="Arial"/>
                <a:buNone/>
                <a:tabLst/>
                <a:defRPr/>
              </a:pPr>
              <a:r>
                <a:rPr lang="vi-VN" sz="800" kern="0" dirty="0">
                  <a:solidFill>
                    <a:srgbClr val="000000"/>
                  </a:solidFill>
                  <a:latin typeface="SVN-Product Sans" panose="020B0403030502040203" pitchFamily="34" charset="0"/>
                  <a:cs typeface="Arial"/>
                  <a:sym typeface="Arial"/>
                </a:rPr>
                <a:t>Li</a:t>
              </a:r>
              <a:r>
                <a:rPr kumimoji="0" lang="vi-VN" sz="8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vestream “đỉnh nóc, kịch trần” cùng Hoa hậu Lương Thùy Linh và đại diện Techcombank Ông Trần Việt Hưng</a:t>
              </a:r>
              <a:r>
                <a:rPr lang="en-US" sz="800" kern="0" dirty="0">
                  <a:solidFill>
                    <a:srgbClr val="000000"/>
                  </a:solidFill>
                  <a:latin typeface="SVN-Product Sans" panose="020B0403030502040203" pitchFamily="34" charset="0"/>
                  <a:cs typeface="Arial"/>
                  <a:sym typeface="Arial"/>
                </a:rPr>
                <a:t> [</a:t>
              </a:r>
              <a:r>
                <a:rPr lang="en-US" sz="800" kern="0" dirty="0" err="1">
                  <a:solidFill>
                    <a:srgbClr val="000000"/>
                  </a:solidFill>
                  <a:latin typeface="SVN-Product Sans" panose="020B0403030502040203" pitchFamily="34" charset="0"/>
                  <a:cs typeface="Arial"/>
                  <a:sym typeface="Arial"/>
                </a:rPr>
                <a:t>Bài</a:t>
              </a:r>
              <a:r>
                <a:rPr lang="en-US" sz="800" kern="0" dirty="0">
                  <a:solidFill>
                    <a:srgbClr val="000000"/>
                  </a:solidFill>
                  <a:latin typeface="SVN-Product Sans" panose="020B0403030502040203" pitchFamily="34" charset="0"/>
                  <a:cs typeface="Arial"/>
                  <a:sym typeface="Arial"/>
                </a:rPr>
                <a:t> </a:t>
              </a:r>
              <a:r>
                <a:rPr lang="en-US" sz="800" kern="0" dirty="0" err="1">
                  <a:solidFill>
                    <a:srgbClr val="000000"/>
                  </a:solidFill>
                  <a:latin typeface="SVN-Product Sans" panose="020B0403030502040203" pitchFamily="34" charset="0"/>
                  <a:cs typeface="Arial"/>
                  <a:sym typeface="Arial"/>
                </a:rPr>
                <a:t>đăng</a:t>
              </a:r>
              <a:r>
                <a:rPr lang="en-US" sz="800" kern="0" dirty="0">
                  <a:solidFill>
                    <a:srgbClr val="000000"/>
                  </a:solidFill>
                  <a:latin typeface="SVN-Product Sans" panose="020B0403030502040203" pitchFamily="34" charset="0"/>
                  <a:cs typeface="Arial"/>
                  <a:sym typeface="Arial"/>
                </a:rPr>
                <a:t> </a:t>
              </a:r>
              <a:r>
                <a:rPr lang="en-US" sz="800" kern="0" dirty="0" err="1">
                  <a:solidFill>
                    <a:srgbClr val="000000"/>
                  </a:solidFill>
                  <a:latin typeface="SVN-Product Sans" panose="020B0403030502040203" pitchFamily="34" charset="0"/>
                  <a:cs typeface="Arial"/>
                  <a:sym typeface="Arial"/>
                </a:rPr>
                <a:t>đã</a:t>
              </a:r>
              <a:r>
                <a:rPr lang="en-US" sz="800" kern="0" dirty="0">
                  <a:solidFill>
                    <a:srgbClr val="000000"/>
                  </a:solidFill>
                  <a:latin typeface="SVN-Product Sans" panose="020B0403030502040203" pitchFamily="34" charset="0"/>
                  <a:cs typeface="Arial"/>
                  <a:sym typeface="Arial"/>
                </a:rPr>
                <a:t> </a:t>
              </a:r>
              <a:r>
                <a:rPr lang="en-US" sz="800" kern="0" dirty="0" err="1">
                  <a:solidFill>
                    <a:srgbClr val="000000"/>
                  </a:solidFill>
                  <a:latin typeface="SVN-Product Sans" panose="020B0403030502040203" pitchFamily="34" charset="0"/>
                  <a:cs typeface="Arial"/>
                  <a:sym typeface="Arial"/>
                </a:rPr>
                <a:t>bị</a:t>
              </a:r>
              <a:r>
                <a:rPr lang="en-US" sz="800" kern="0" dirty="0">
                  <a:solidFill>
                    <a:srgbClr val="000000"/>
                  </a:solidFill>
                  <a:latin typeface="SVN-Product Sans" panose="020B0403030502040203" pitchFamily="34" charset="0"/>
                  <a:cs typeface="Arial"/>
                  <a:sym typeface="Arial"/>
                </a:rPr>
                <a:t> </a:t>
              </a:r>
              <a:r>
                <a:rPr lang="en-US" sz="800" kern="0" dirty="0" err="1">
                  <a:solidFill>
                    <a:srgbClr val="000000"/>
                  </a:solidFill>
                  <a:latin typeface="SVN-Product Sans" panose="020B0403030502040203" pitchFamily="34" charset="0"/>
                  <a:cs typeface="Arial"/>
                  <a:sym typeface="Arial"/>
                </a:rPr>
                <a:t>ẩn</a:t>
              </a:r>
              <a:r>
                <a:rPr lang="en-US" sz="800" kern="0" dirty="0">
                  <a:solidFill>
                    <a:srgbClr val="000000"/>
                  </a:solidFill>
                  <a:latin typeface="SVN-Product Sans" panose="020B0403030502040203" pitchFamily="34" charset="0"/>
                  <a:cs typeface="Arial"/>
                  <a:sym typeface="Arial"/>
                </a:rPr>
                <a:t> </a:t>
              </a:r>
              <a:r>
                <a:rPr lang="en-US" sz="800" kern="0" dirty="0" err="1">
                  <a:solidFill>
                    <a:srgbClr val="000000"/>
                  </a:solidFill>
                  <a:latin typeface="SVN-Product Sans" panose="020B0403030502040203" pitchFamily="34" charset="0"/>
                  <a:cs typeface="Arial"/>
                  <a:sym typeface="Arial"/>
                </a:rPr>
                <a:t>hoặc</a:t>
              </a:r>
              <a:r>
                <a:rPr lang="en-US" sz="800" kern="0" dirty="0">
                  <a:solidFill>
                    <a:srgbClr val="000000"/>
                  </a:solidFill>
                  <a:latin typeface="SVN-Product Sans" panose="020B0403030502040203" pitchFamily="34" charset="0"/>
                  <a:cs typeface="Arial"/>
                  <a:sym typeface="Arial"/>
                </a:rPr>
                <a:t> </a:t>
              </a:r>
              <a:r>
                <a:rPr lang="en-US" sz="800" kern="0" dirty="0" err="1">
                  <a:solidFill>
                    <a:srgbClr val="000000"/>
                  </a:solidFill>
                  <a:latin typeface="SVN-Product Sans" panose="020B0403030502040203" pitchFamily="34" charset="0"/>
                  <a:cs typeface="Arial"/>
                  <a:sym typeface="Arial"/>
                </a:rPr>
                <a:t>xoá</a:t>
              </a:r>
              <a:r>
                <a:rPr lang="en-US" sz="800" kern="0" dirty="0">
                  <a:solidFill>
                    <a:srgbClr val="000000"/>
                  </a:solidFill>
                  <a:latin typeface="SVN-Product Sans" panose="020B0403030502040203" pitchFamily="34" charset="0"/>
                  <a:cs typeface="Arial"/>
                  <a:sym typeface="Arial"/>
                </a:rPr>
                <a:t>]</a:t>
              </a:r>
              <a:endParaRPr kumimoji="0" lang="vi-VN" sz="8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endParaRPr>
            </a:p>
          </p:txBody>
        </p:sp>
      </p:grpSp>
      <p:cxnSp>
        <p:nvCxnSpPr>
          <p:cNvPr id="107" name="Connector: Elbow 106">
            <a:extLst>
              <a:ext uri="{FF2B5EF4-FFF2-40B4-BE49-F238E27FC236}">
                <a16:creationId xmlns:a16="http://schemas.microsoft.com/office/drawing/2014/main" id="{A660BCCB-F07C-809F-15C2-A1378E54EDE8}"/>
              </a:ext>
            </a:extLst>
          </p:cNvPr>
          <p:cNvCxnSpPr>
            <a:cxnSpLocks/>
            <a:endCxn id="104" idx="2"/>
          </p:cNvCxnSpPr>
          <p:nvPr/>
        </p:nvCxnSpPr>
        <p:spPr>
          <a:xfrm rot="10800000">
            <a:off x="2978976" y="3713855"/>
            <a:ext cx="190944" cy="94215"/>
          </a:xfrm>
          <a:prstGeom prst="bentConnector2">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108" name="Google Shape;575;p28">
            <a:extLst>
              <a:ext uri="{FF2B5EF4-FFF2-40B4-BE49-F238E27FC236}">
                <a16:creationId xmlns:a16="http://schemas.microsoft.com/office/drawing/2014/main" id="{777192FF-4B7D-88D7-DB1E-966908B722BC}"/>
              </a:ext>
            </a:extLst>
          </p:cNvPr>
          <p:cNvPicPr preferRelativeResize="0"/>
          <p:nvPr/>
        </p:nvPicPr>
        <p:blipFill rotWithShape="1">
          <a:blip r:embed="rId13">
            <a:alphaModFix/>
          </a:blip>
          <a:srcRect/>
          <a:stretch/>
        </p:blipFill>
        <p:spPr>
          <a:xfrm>
            <a:off x="1875356" y="2403024"/>
            <a:ext cx="538743" cy="244230"/>
          </a:xfrm>
          <a:prstGeom prst="rect">
            <a:avLst/>
          </a:prstGeom>
          <a:noFill/>
          <a:ln>
            <a:noFill/>
          </a:ln>
        </p:spPr>
      </p:pic>
      <p:cxnSp>
        <p:nvCxnSpPr>
          <p:cNvPr id="112" name="Connector: Elbow 111">
            <a:extLst>
              <a:ext uri="{FF2B5EF4-FFF2-40B4-BE49-F238E27FC236}">
                <a16:creationId xmlns:a16="http://schemas.microsoft.com/office/drawing/2014/main" id="{BA743195-AE89-419C-8E73-4EEC78A0B8AD}"/>
              </a:ext>
            </a:extLst>
          </p:cNvPr>
          <p:cNvCxnSpPr>
            <a:cxnSpLocks/>
            <a:endCxn id="115" idx="2"/>
          </p:cNvCxnSpPr>
          <p:nvPr/>
        </p:nvCxnSpPr>
        <p:spPr>
          <a:xfrm rot="10800000">
            <a:off x="10388897" y="2731233"/>
            <a:ext cx="755495" cy="574735"/>
          </a:xfrm>
          <a:prstGeom prst="bentConnector2">
            <a:avLst/>
          </a:prstGeom>
          <a:ln>
            <a:solidFill>
              <a:srgbClr val="0C5E9A"/>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114" name="Group 113">
            <a:extLst>
              <a:ext uri="{FF2B5EF4-FFF2-40B4-BE49-F238E27FC236}">
                <a16:creationId xmlns:a16="http://schemas.microsoft.com/office/drawing/2014/main" id="{5E36374A-9AA1-90D7-1A66-165D38B6CF26}"/>
              </a:ext>
            </a:extLst>
          </p:cNvPr>
          <p:cNvGrpSpPr/>
          <p:nvPr/>
        </p:nvGrpSpPr>
        <p:grpSpPr>
          <a:xfrm>
            <a:off x="9361288" y="2189489"/>
            <a:ext cx="2055216" cy="611328"/>
            <a:chOff x="8174152" y="4298470"/>
            <a:chExt cx="2136044" cy="611328"/>
          </a:xfrm>
        </p:grpSpPr>
        <p:sp>
          <p:nvSpPr>
            <p:cNvPr id="115" name="Google Shape;673;p31">
              <a:extLst>
                <a:ext uri="{FF2B5EF4-FFF2-40B4-BE49-F238E27FC236}">
                  <a16:creationId xmlns:a16="http://schemas.microsoft.com/office/drawing/2014/main" id="{E8185156-0001-4654-C142-4F3DC3392AA5}"/>
                </a:ext>
              </a:extLst>
            </p:cNvPr>
            <p:cNvSpPr/>
            <p:nvPr/>
          </p:nvSpPr>
          <p:spPr>
            <a:xfrm>
              <a:off x="8174152" y="4298470"/>
              <a:ext cx="2136043" cy="541743"/>
            </a:xfrm>
            <a:prstGeom prst="rect">
              <a:avLst/>
            </a:prstGeom>
            <a:solidFill>
              <a:schemeClr val="lt1"/>
            </a:solidFill>
            <a:ln w="12700" cap="flat" cmpd="sng">
              <a:solidFill>
                <a:srgbClr val="0C5E9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b="0" i="0" u="none" strike="noStrike" kern="0" cap="none" spc="0" normalizeH="0" baseline="0" noProof="0">
                <a:ln>
                  <a:noFill/>
                </a:ln>
                <a:solidFill>
                  <a:srgbClr val="FFFFFF"/>
                </a:solidFill>
                <a:effectLst/>
                <a:uLnTx/>
                <a:uFillTx/>
                <a:latin typeface="SVN-Product Sans" panose="020B0403030502040203" pitchFamily="34" charset="0"/>
                <a:cs typeface="Arial"/>
                <a:sym typeface="Arial"/>
              </a:endParaRPr>
            </a:p>
          </p:txBody>
        </p:sp>
        <p:sp>
          <p:nvSpPr>
            <p:cNvPr id="116" name="Google Shape;674;p31">
              <a:extLst>
                <a:ext uri="{FF2B5EF4-FFF2-40B4-BE49-F238E27FC236}">
                  <a16:creationId xmlns:a16="http://schemas.microsoft.com/office/drawing/2014/main" id="{2081ADF5-04BD-76A6-3D05-24CFB5C45154}"/>
                </a:ext>
              </a:extLst>
            </p:cNvPr>
            <p:cNvSpPr/>
            <p:nvPr/>
          </p:nvSpPr>
          <p:spPr>
            <a:xfrm>
              <a:off x="8218586" y="4327739"/>
              <a:ext cx="2053027" cy="193761"/>
            </a:xfrm>
            <a:prstGeom prst="rect">
              <a:avLst/>
            </a:prstGeom>
            <a:solidFill>
              <a:srgbClr val="0C5E9A"/>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FFFFFF"/>
                  </a:solidFill>
                  <a:effectLst/>
                  <a:uLnTx/>
                  <a:uFillTx/>
                  <a:latin typeface="SVN-Product Sans" panose="020B0403030502040203" pitchFamily="34" charset="0"/>
                  <a:cs typeface="Arial"/>
                  <a:sym typeface="Arial"/>
                </a:rPr>
                <a:t>12/09/2025</a:t>
              </a:r>
              <a:endParaRPr kumimoji="0" sz="9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endParaRPr>
            </a:p>
          </p:txBody>
        </p:sp>
        <p:sp>
          <p:nvSpPr>
            <p:cNvPr id="117" name="Google Shape;675;p31">
              <a:extLst>
                <a:ext uri="{FF2B5EF4-FFF2-40B4-BE49-F238E27FC236}">
                  <a16:creationId xmlns:a16="http://schemas.microsoft.com/office/drawing/2014/main" id="{9C657B0E-E65B-0858-36DE-A9BC500A6D26}"/>
                </a:ext>
              </a:extLst>
            </p:cNvPr>
            <p:cNvSpPr txBox="1"/>
            <p:nvPr/>
          </p:nvSpPr>
          <p:spPr>
            <a:xfrm>
              <a:off x="8192504" y="4540466"/>
              <a:ext cx="2117692" cy="369332"/>
            </a:xfrm>
            <a:prstGeom prst="rect">
              <a:avLst/>
            </a:prstGeom>
            <a:noFill/>
            <a:ln>
              <a:noFill/>
            </a:ln>
          </p:spPr>
          <p:txBody>
            <a:bodyPr spcFirstLastPara="1" wrap="square" lIns="91425" tIns="0" rIns="91425" bIns="0" anchor="t" anchorCtr="0">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Livestream </a:t>
              </a:r>
              <a:r>
                <a:rPr kumimoji="0" lang="vi-VN" sz="8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Jun Phạm đã sẵn sàng phát Deal - Bạn sẵn sàng chưa? </a:t>
              </a:r>
              <a:r>
                <a:rPr kumimoji="0" lang="en-US" sz="8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a:t>
              </a:r>
              <a:r>
                <a:rPr kumimoji="0" lang="en-US" sz="8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hlinkClick r:id="rId14"/>
                </a:rPr>
                <a:t>URL</a:t>
              </a:r>
              <a:r>
                <a:rPr kumimoji="0" lang="en-US" sz="8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a:t>
              </a:r>
              <a:endParaRPr kumimoji="0" sz="8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endParaRPr>
            </a:p>
          </p:txBody>
        </p:sp>
      </p:grpSp>
      <p:pic>
        <p:nvPicPr>
          <p:cNvPr id="15" name="Google Shape;574;p28">
            <a:extLst>
              <a:ext uri="{FF2B5EF4-FFF2-40B4-BE49-F238E27FC236}">
                <a16:creationId xmlns:a16="http://schemas.microsoft.com/office/drawing/2014/main" id="{DD935441-1B05-F1DE-3833-CB9D91092AFA}"/>
              </a:ext>
            </a:extLst>
          </p:cNvPr>
          <p:cNvPicPr preferRelativeResize="0"/>
          <p:nvPr/>
        </p:nvPicPr>
        <p:blipFill rotWithShape="1">
          <a:blip r:embed="rId15">
            <a:alphaModFix/>
          </a:blip>
          <a:srcRect/>
          <a:stretch/>
        </p:blipFill>
        <p:spPr>
          <a:xfrm>
            <a:off x="4311987" y="2999031"/>
            <a:ext cx="478148" cy="214342"/>
          </a:xfrm>
          <a:prstGeom prst="rect">
            <a:avLst/>
          </a:prstGeom>
          <a:noFill/>
          <a:ln>
            <a:noFill/>
          </a:ln>
        </p:spPr>
      </p:pic>
      <p:pic>
        <p:nvPicPr>
          <p:cNvPr id="20" name="Google Shape;579;p28">
            <a:extLst>
              <a:ext uri="{FF2B5EF4-FFF2-40B4-BE49-F238E27FC236}">
                <a16:creationId xmlns:a16="http://schemas.microsoft.com/office/drawing/2014/main" id="{AFE66FA0-E56B-6DE1-E166-DDE7F9975C60}"/>
              </a:ext>
            </a:extLst>
          </p:cNvPr>
          <p:cNvPicPr preferRelativeResize="0"/>
          <p:nvPr/>
        </p:nvPicPr>
        <p:blipFill rotWithShape="1">
          <a:blip r:embed="rId16">
            <a:alphaModFix/>
          </a:blip>
          <a:srcRect/>
          <a:stretch/>
        </p:blipFill>
        <p:spPr>
          <a:xfrm>
            <a:off x="9341087" y="1920727"/>
            <a:ext cx="637511" cy="233089"/>
          </a:xfrm>
          <a:prstGeom prst="rect">
            <a:avLst/>
          </a:prstGeom>
          <a:noFill/>
          <a:ln>
            <a:noFill/>
          </a:ln>
        </p:spPr>
      </p:pic>
    </p:spTree>
    <p:extLst>
      <p:ext uri="{BB962C8B-B14F-4D97-AF65-F5344CB8AC3E}">
        <p14:creationId xmlns:p14="http://schemas.microsoft.com/office/powerpoint/2010/main" val="4042830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graphicFrame>
        <p:nvGraphicFramePr>
          <p:cNvPr id="683" name="Google Shape;683;p32"/>
          <p:cNvGraphicFramePr/>
          <p:nvPr>
            <p:extLst>
              <p:ext uri="{D42A27DB-BD31-4B8C-83A1-F6EECF244321}">
                <p14:modId xmlns:p14="http://schemas.microsoft.com/office/powerpoint/2010/main" val="172211474"/>
              </p:ext>
            </p:extLst>
          </p:nvPr>
        </p:nvGraphicFramePr>
        <p:xfrm>
          <a:off x="783636" y="3793088"/>
          <a:ext cx="10698673" cy="2340326"/>
        </p:xfrm>
        <a:graphic>
          <a:graphicData uri="http://schemas.openxmlformats.org/drawingml/2006/chart">
            <c:chart xmlns:c="http://schemas.openxmlformats.org/drawingml/2006/chart" xmlns:r="http://schemas.openxmlformats.org/officeDocument/2006/relationships" r:id="rId3"/>
          </a:graphicData>
        </a:graphic>
      </p:graphicFrame>
      <p:sp>
        <p:nvSpPr>
          <p:cNvPr id="684" name="Google Shape;684;p32"/>
          <p:cNvSpPr txBox="1">
            <a:spLocks noGrp="1"/>
          </p:cNvSpPr>
          <p:nvPr>
            <p:ph type="title"/>
          </p:nvPr>
        </p:nvSpPr>
        <p:spPr>
          <a:xfrm>
            <a:off x="2068154" y="147389"/>
            <a:ext cx="9953993" cy="45982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B68"/>
              </a:buClr>
              <a:buSzPts val="2400"/>
              <a:buFont typeface="Arial"/>
              <a:buNone/>
            </a:pPr>
            <a:r>
              <a:rPr lang="en-US" dirty="0">
                <a:latin typeface="SVN-Product Sans" panose="020B0403030502040203" pitchFamily="34" charset="0"/>
                <a:sym typeface="Arial"/>
              </a:rPr>
              <a:t>PHÂN BỐ </a:t>
            </a:r>
            <a:r>
              <a:rPr lang="en-US" dirty="0"/>
              <a:t>ĐỀ CẬP </a:t>
            </a:r>
            <a:r>
              <a:rPr lang="en-US" dirty="0">
                <a:latin typeface="SVN-Product Sans" panose="020B0403030502040203" pitchFamily="34" charset="0"/>
                <a:sym typeface="Arial"/>
              </a:rPr>
              <a:t>TRÊN CÁC KÊNH TRUYỀN THÔNG</a:t>
            </a:r>
            <a:endParaRPr dirty="0">
              <a:latin typeface="SVN-Product Sans" panose="020B0403030502040203" pitchFamily="34" charset="0"/>
            </a:endParaRPr>
          </a:p>
        </p:txBody>
      </p:sp>
      <p:sp>
        <p:nvSpPr>
          <p:cNvPr id="686" name="Google Shape;686;p32"/>
          <p:cNvSpPr txBox="1"/>
          <p:nvPr/>
        </p:nvSpPr>
        <p:spPr>
          <a:xfrm>
            <a:off x="877533" y="3340816"/>
            <a:ext cx="911010" cy="446236"/>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546A"/>
              </a:buClr>
              <a:buSzPts val="1200"/>
              <a:buFont typeface="Arial"/>
              <a:buNone/>
              <a:tabLst/>
              <a:defRPr/>
            </a:pPr>
            <a:r>
              <a:rPr lang="en-US" sz="1100" kern="0" dirty="0">
                <a:solidFill>
                  <a:srgbClr val="44546A"/>
                </a:solidFill>
                <a:latin typeface="SVN-Product Sans" panose="020B0403030502040203" pitchFamily="34" charset="0"/>
                <a:cs typeface="Arial"/>
                <a:sym typeface="Calibri"/>
              </a:rPr>
              <a:t>85,804</a:t>
            </a:r>
            <a:endParaRPr kumimoji="0" lang="en-US"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Calibri"/>
            </a:endParaRPr>
          </a:p>
          <a:p>
            <a:pPr marL="0" marR="0" lvl="0" indent="0" algn="ctr" defTabSz="914400" rtl="0" eaLnBrk="1" fontAlgn="auto" latinLnBrk="0" hangingPunct="1">
              <a:lnSpc>
                <a:spcPct val="100000"/>
              </a:lnSpc>
              <a:spcBef>
                <a:spcPts val="0"/>
              </a:spcBef>
              <a:spcAft>
                <a:spcPts val="0"/>
              </a:spcAft>
              <a:buClr>
                <a:srgbClr val="44546A"/>
              </a:buClr>
              <a:buSzPts val="1200"/>
              <a:buFont typeface="Arial"/>
              <a:buNone/>
              <a:tabLst/>
              <a:defRPr/>
            </a:pP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lượt</a:t>
            </a:r>
            <a:r>
              <a:rPr kumimoji="0" lang="en-US"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đề</a:t>
            </a:r>
            <a:r>
              <a:rPr kumimoji="0" lang="en-US"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cập</a:t>
            </a:r>
            <a:endParaRPr kumimoji="0"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endParaRPr>
          </a:p>
        </p:txBody>
      </p:sp>
      <p:sp>
        <p:nvSpPr>
          <p:cNvPr id="687" name="Google Shape;687;p32"/>
          <p:cNvSpPr/>
          <p:nvPr/>
        </p:nvSpPr>
        <p:spPr>
          <a:xfrm>
            <a:off x="262267" y="653464"/>
            <a:ext cx="11368259" cy="2057563"/>
          </a:xfrm>
          <a:prstGeom prst="roundRect">
            <a:avLst>
              <a:gd name="adj" fmla="val 2918"/>
            </a:avLst>
          </a:prstGeom>
          <a:no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1" indent="0" algn="just" defTabSz="914400" rtl="0" eaLnBrk="1" fontAlgn="auto" latinLnBrk="0" hangingPunct="1">
              <a:lnSpc>
                <a:spcPct val="100000"/>
              </a:lnSpc>
              <a:spcBef>
                <a:spcPts val="0"/>
              </a:spcBef>
              <a:spcAft>
                <a:spcPts val="600"/>
              </a:spcAft>
              <a:buClr>
                <a:srgbClr val="7F7F7F"/>
              </a:buClr>
              <a:buSzPts val="1300"/>
              <a:buFont typeface="Arial"/>
              <a:buNone/>
              <a:tabLst/>
              <a:defRPr/>
            </a:pPr>
            <a:r>
              <a:rPr kumimoji="0" lang="en-US" sz="1200" b="1"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KÊNH </a:t>
            </a:r>
            <a:r>
              <a:rPr kumimoji="0" lang="en-US" sz="1200" b="1" i="0" u="none" strike="noStrike" kern="0" cap="none" spc="0" normalizeH="0" baseline="0" noProof="0" dirty="0">
                <a:ln>
                  <a:noFill/>
                </a:ln>
                <a:solidFill>
                  <a:srgbClr val="0070C0"/>
                </a:solidFill>
                <a:effectLst/>
                <a:uLnTx/>
                <a:uFillTx/>
                <a:latin typeface="SVN-Product Sans" panose="020B0403030502040203" pitchFamily="34" charset="0"/>
                <a:cs typeface="Arial"/>
                <a:sym typeface="Arial"/>
              </a:rPr>
              <a:t>FACEBOOK, </a:t>
            </a:r>
            <a:r>
              <a:rPr kumimoji="0" lang="en-US" sz="1200" b="1" i="0" u="none" strike="noStrike" kern="0" cap="none" spc="0" normalizeH="0" baseline="0" noProof="0" dirty="0">
                <a:ln>
                  <a:noFill/>
                </a:ln>
                <a:solidFill>
                  <a:srgbClr val="20B0F1"/>
                </a:solidFill>
                <a:effectLst/>
                <a:uLnTx/>
                <a:uFillTx/>
                <a:latin typeface="SVN-Product Sans" panose="020B0403030502040203" pitchFamily="34" charset="0"/>
                <a:cs typeface="Arial"/>
                <a:sym typeface="Arial"/>
              </a:rPr>
              <a:t>FANPAGE</a:t>
            </a:r>
            <a:r>
              <a:rPr kumimoji="0" lang="en-US" sz="1200" b="1" i="0" u="none" strike="noStrike" kern="0" cap="none" spc="0" normalizeH="0" baseline="0" noProof="0" dirty="0">
                <a:ln>
                  <a:noFill/>
                </a:ln>
                <a:solidFill>
                  <a:srgbClr val="0070C0"/>
                </a:solidFill>
                <a:effectLst/>
                <a:uLnTx/>
                <a:uFillTx/>
                <a:latin typeface="SVN-Product Sans" panose="020B0403030502040203" pitchFamily="34" charset="0"/>
                <a:cs typeface="Arial"/>
                <a:sym typeface="Arial"/>
              </a:rPr>
              <a:t> </a:t>
            </a:r>
            <a:r>
              <a:rPr kumimoji="0" lang="en-US" sz="1200" b="1"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VÀ </a:t>
            </a:r>
            <a:r>
              <a:rPr kumimoji="0" lang="en-US" sz="1200" b="1" i="0" u="none" strike="noStrike" kern="0" cap="none" spc="0" normalizeH="0" baseline="0" noProof="0" dirty="0">
                <a:ln>
                  <a:noFill/>
                </a:ln>
                <a:solidFill>
                  <a:srgbClr val="FFC000"/>
                </a:solidFill>
                <a:effectLst/>
                <a:uLnTx/>
                <a:uFillTx/>
                <a:latin typeface="SVN-Product Sans" panose="020B0403030502040203" pitchFamily="34" charset="0"/>
                <a:cs typeface="Arial"/>
                <a:sym typeface="Arial"/>
              </a:rPr>
              <a:t>BÁO CHÍ TRỰC TUYẾN</a:t>
            </a:r>
            <a:r>
              <a:rPr kumimoji="0" lang="en-US" sz="1200" b="1"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LÀ CÁC KÊNH CHÍNH GHI NHẬN NHIỀU ĐỀ CẬP VỀ THƯƠNG HIỆU VÀ CÁC ĐỐI THỦ</a:t>
            </a:r>
          </a:p>
          <a:p>
            <a:pPr marL="171450" marR="0" lvl="1" indent="-171450" algn="just" defTabSz="914400" rtl="0" eaLnBrk="1" fontAlgn="auto" latinLnBrk="0" hangingPunct="1">
              <a:lnSpc>
                <a:spcPct val="100000"/>
              </a:lnSpc>
              <a:spcBef>
                <a:spcPts val="0"/>
              </a:spcBef>
              <a:spcAft>
                <a:spcPts val="600"/>
              </a:spcAft>
              <a:buClr>
                <a:srgbClr val="7F7F7F"/>
              </a:buClr>
              <a:buSzPts val="1300"/>
              <a:buFont typeface="Arial" panose="020B0604020202020204" pitchFamily="34" charset="0"/>
              <a:buChar char="•"/>
              <a:tabLst/>
              <a:defRPr/>
            </a:pP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Trên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vi-VN" sz="1100" b="1" i="0" u="none" strike="noStrike" kern="0" cap="none" spc="0" normalizeH="0" baseline="0" noProof="0" dirty="0">
                <a:ln>
                  <a:noFill/>
                </a:ln>
                <a:solidFill>
                  <a:srgbClr val="0070C0"/>
                </a:solidFill>
                <a:effectLst/>
                <a:uLnTx/>
                <a:uFillTx/>
                <a:latin typeface="SVN-Product Sans" panose="020B0403030502040203" pitchFamily="34" charset="0"/>
                <a:cs typeface="Arial"/>
                <a:sym typeface="Arial"/>
              </a:rPr>
              <a:t>Facebook</a:t>
            </a:r>
            <a:r>
              <a:rPr kumimoji="0" lang="en-US" sz="1100" b="1"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là</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nguồn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đề</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cập</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nổi</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bật</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là</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các</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sự</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kiện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chương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trình</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mà</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các</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ngân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hàng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đồng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tổ</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chức</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hoặc</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tài</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trợ</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Các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nội</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dung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cập</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nhật</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thông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tin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thị</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trường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thay</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đổi</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chính</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sách</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hay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tuyển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dụng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được</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chia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sẻ</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trên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Facebook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cũng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góp</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phần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tạo</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ra</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nhiều</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luồng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đề</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cập</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Agribank</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MBBank</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và</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Techcombank</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là</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các</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nhân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hàng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có</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lượng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đề</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cập</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từ</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vi-VN" sz="1100" b="1" i="0" u="none" strike="noStrike" kern="0" cap="none" spc="0" normalizeH="0" baseline="0" noProof="0" dirty="0">
                <a:ln>
                  <a:noFill/>
                </a:ln>
                <a:solidFill>
                  <a:srgbClr val="0070C0"/>
                </a:solidFill>
                <a:effectLst/>
                <a:uLnTx/>
                <a:uFillTx/>
                <a:latin typeface="SVN-Product Sans" panose="020B0403030502040203" pitchFamily="34" charset="0"/>
                <a:cs typeface="Arial"/>
                <a:sym typeface="Arial"/>
              </a:rPr>
              <a:t>Facebook</a:t>
            </a:r>
            <a:r>
              <a:rPr kumimoji="0" lang="en-US" sz="1100" b="1" i="0" u="none" strike="noStrike" kern="0" cap="none" spc="0" normalizeH="0" baseline="0" noProof="0" dirty="0">
                <a:ln>
                  <a:noFill/>
                </a:ln>
                <a:solidFill>
                  <a:srgbClr val="0070C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chiếm</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tỷ</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trọng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cao</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trong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tổng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đề</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cập</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thương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hiệu</a:t>
            </a:r>
            <a:endPar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endParaRPr>
          </a:p>
          <a:p>
            <a:pPr marL="171450" marR="0" lvl="1" indent="-171450" algn="just" defTabSz="914400" rtl="0" eaLnBrk="1" fontAlgn="auto" latinLnBrk="0" hangingPunct="1">
              <a:lnSpc>
                <a:spcPct val="100000"/>
              </a:lnSpc>
              <a:spcBef>
                <a:spcPts val="0"/>
              </a:spcBef>
              <a:spcAft>
                <a:spcPts val="600"/>
              </a:spcAft>
              <a:buClr>
                <a:srgbClr val="7F7F7F"/>
              </a:buClr>
              <a:buSzPts val="1300"/>
              <a:buFont typeface="Arial" panose="020B0604020202020204" pitchFamily="34" charset="0"/>
              <a:buChar char="•"/>
              <a:tabLst/>
              <a:defRPr/>
            </a:pP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Trên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kênh</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1" i="0" u="none" strike="noStrike" kern="0" cap="none" spc="0" normalizeH="0" baseline="0" noProof="0" dirty="0">
                <a:ln>
                  <a:noFill/>
                </a:ln>
                <a:solidFill>
                  <a:srgbClr val="FFC000"/>
                </a:solidFill>
                <a:effectLst/>
                <a:uLnTx/>
                <a:uFillTx/>
                <a:latin typeface="SVN-Product Sans" panose="020B0403030502040203" pitchFamily="34" charset="0"/>
                <a:cs typeface="Arial"/>
                <a:sym typeface="Arial"/>
              </a:rPr>
              <a:t>Báo </a:t>
            </a:r>
            <a:r>
              <a:rPr kumimoji="0" lang="en-US" sz="1100" b="1" i="0" u="none" strike="noStrike" kern="0" cap="none" spc="0" normalizeH="0" baseline="0" noProof="0" dirty="0" err="1">
                <a:ln>
                  <a:noFill/>
                </a:ln>
                <a:solidFill>
                  <a:srgbClr val="FFC000"/>
                </a:solidFill>
                <a:effectLst/>
                <a:uLnTx/>
                <a:uFillTx/>
                <a:latin typeface="SVN-Product Sans" panose="020B0403030502040203" pitchFamily="34" charset="0"/>
                <a:cs typeface="Arial"/>
                <a:sym typeface="Arial"/>
              </a:rPr>
              <a:t>chí</a:t>
            </a:r>
            <a:r>
              <a:rPr kumimoji="0" lang="en-US" sz="1100" b="1" i="0" u="none" strike="noStrike" kern="0" cap="none" spc="0" normalizeH="0" baseline="0" noProof="0" dirty="0">
                <a:ln>
                  <a:noFill/>
                </a:ln>
                <a:solidFill>
                  <a:srgbClr val="FFC000"/>
                </a:solidFill>
                <a:effectLst/>
                <a:uLnTx/>
                <a:uFillTx/>
                <a:latin typeface="SVN-Product Sans" panose="020B0403030502040203" pitchFamily="34" charset="0"/>
                <a:cs typeface="Arial"/>
                <a:sym typeface="Arial"/>
              </a:rPr>
              <a:t> </a:t>
            </a:r>
            <a:r>
              <a:rPr kumimoji="0" lang="en-US" sz="1100" b="1" i="0" u="none" strike="noStrike" kern="0" cap="none" spc="0" normalizeH="0" baseline="0" noProof="0" dirty="0" err="1">
                <a:ln>
                  <a:noFill/>
                </a:ln>
                <a:solidFill>
                  <a:srgbClr val="FFC000"/>
                </a:solidFill>
                <a:effectLst/>
                <a:uLnTx/>
                <a:uFillTx/>
                <a:latin typeface="SVN-Product Sans" panose="020B0403030502040203" pitchFamily="34" charset="0"/>
                <a:cs typeface="Arial"/>
                <a:sym typeface="Arial"/>
              </a:rPr>
              <a:t>trực</a:t>
            </a:r>
            <a:r>
              <a:rPr kumimoji="0" lang="en-US" sz="1100" b="1" i="0" u="none" strike="noStrike" kern="0" cap="none" spc="0" normalizeH="0" baseline="0" noProof="0" dirty="0">
                <a:ln>
                  <a:noFill/>
                </a:ln>
                <a:solidFill>
                  <a:srgbClr val="FFC000"/>
                </a:solidFill>
                <a:effectLst/>
                <a:uLnTx/>
                <a:uFillTx/>
                <a:latin typeface="SVN-Product Sans" panose="020B0403030502040203" pitchFamily="34" charset="0"/>
                <a:cs typeface="Arial"/>
                <a:sym typeface="Arial"/>
              </a:rPr>
              <a:t> </a:t>
            </a:r>
            <a:r>
              <a:rPr kumimoji="0" lang="en-US" sz="1100" b="1" i="0" u="none" strike="noStrike" kern="0" cap="none" spc="0" normalizeH="0" baseline="0" noProof="0" dirty="0" err="1">
                <a:ln>
                  <a:noFill/>
                </a:ln>
                <a:solidFill>
                  <a:srgbClr val="FFC000"/>
                </a:solidFill>
                <a:effectLst/>
                <a:uLnTx/>
                <a:uFillTx/>
                <a:latin typeface="SVN-Product Sans" panose="020B0403030502040203" pitchFamily="34" charset="0"/>
                <a:cs typeface="Arial"/>
                <a:sym typeface="Arial"/>
              </a:rPr>
              <a:t>tuyến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các</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chủ</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đề</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như</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diễn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biến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thị</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trường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chung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tình</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hình</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lãi</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suất</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các</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chính</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sách</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mới</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được</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thi</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hành</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báo</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cáo</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tình</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hình</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hoạt</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động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kinh</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doanh</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dự</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báo</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lợi</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nhuận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kỳ</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tới</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được</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cập</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nhật</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liên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tục</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hằng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ngày</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Một</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số</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thương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hiệu</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ngân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hàng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có</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tỷ</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trọng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đề</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cập</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từ</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Báo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chí</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trực</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tuyến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đáng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chú</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ý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là</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lang="en-US" sz="1100" kern="0" dirty="0" err="1">
                <a:solidFill>
                  <a:srgbClr val="000000"/>
                </a:solidFill>
                <a:latin typeface="SVN-Product Sans" panose="020B0403030502040203" pitchFamily="34" charset="0"/>
                <a:cs typeface="Arial"/>
                <a:sym typeface="Arial"/>
              </a:rPr>
              <a:t>Agribank</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BIDV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và</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Viettinbank</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a:t>
            </a:r>
          </a:p>
          <a:p>
            <a:pPr marL="171450" marR="0" lvl="1" indent="-171450" algn="just" defTabSz="914400" rtl="0" eaLnBrk="1" fontAlgn="auto" latinLnBrk="0" hangingPunct="1">
              <a:lnSpc>
                <a:spcPct val="100000"/>
              </a:lnSpc>
              <a:spcBef>
                <a:spcPts val="0"/>
              </a:spcBef>
              <a:spcAft>
                <a:spcPts val="600"/>
              </a:spcAft>
              <a:buClr>
                <a:srgbClr val="7F7F7F"/>
              </a:buClr>
              <a:buSzPts val="1300"/>
              <a:buFont typeface="Arial" panose="020B0604020202020204" pitchFamily="34" charset="0"/>
              <a:buChar char="•"/>
              <a:tabLst/>
              <a:defRPr/>
            </a:pPr>
            <a:r>
              <a:rPr kumimoji="0" lang="en-US" sz="1100" b="1" i="0" u="none" strike="noStrike" kern="0" cap="none" spc="0" normalizeH="0" baseline="0" noProof="0" dirty="0" err="1">
                <a:ln>
                  <a:noFill/>
                </a:ln>
                <a:solidFill>
                  <a:srgbClr val="00B0F0"/>
                </a:solidFill>
                <a:effectLst/>
                <a:uLnTx/>
                <a:uFillTx/>
                <a:latin typeface="SVN-Product Sans" panose="020B0403030502040203" pitchFamily="34" charset="0"/>
                <a:cs typeface="Arial"/>
                <a:sym typeface="Arial"/>
              </a:rPr>
              <a:t>Fanpage</a:t>
            </a:r>
            <a:r>
              <a:rPr kumimoji="0" lang="en-US" sz="1100" b="1" i="0" u="none" strike="noStrike" kern="0" cap="none" spc="0" normalizeH="0" baseline="0" noProof="0" dirty="0">
                <a:ln>
                  <a:noFill/>
                </a:ln>
                <a:solidFill>
                  <a:srgbClr val="00B0F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thu</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hút</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lượt</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đề</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cập</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chủ</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yếu</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từ</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các</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minigame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và</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livestream </a:t>
            </a:r>
            <a:r>
              <a:rPr lang="en-US" sz="1100" kern="0" dirty="0" err="1">
                <a:solidFill>
                  <a:srgbClr val="000000"/>
                </a:solidFill>
                <a:latin typeface="SVN-Product Sans" panose="020B0403030502040203" pitchFamily="34" charset="0"/>
                <a:cs typeface="Arial"/>
                <a:sym typeface="Arial"/>
              </a:rPr>
              <a:t>của</a:t>
            </a:r>
            <a:r>
              <a:rPr lang="en-US" sz="1100" kern="0" dirty="0">
                <a:solidFill>
                  <a:srgbClr val="000000"/>
                </a:solidFill>
                <a:latin typeface="SVN-Product Sans" panose="020B0403030502040203" pitchFamily="34" charset="0"/>
                <a:cs typeface="Arial"/>
                <a:sym typeface="Arial"/>
              </a:rPr>
              <a:t> </a:t>
            </a:r>
            <a:r>
              <a:rPr lang="en-US" sz="1100" kern="0" dirty="0" err="1">
                <a:solidFill>
                  <a:srgbClr val="000000"/>
                </a:solidFill>
                <a:latin typeface="SVN-Product Sans" panose="020B0403030502040203" pitchFamily="34" charset="0"/>
                <a:cs typeface="Arial"/>
                <a:sym typeface="Arial"/>
              </a:rPr>
              <a:t>thương</a:t>
            </a:r>
            <a:r>
              <a:rPr lang="en-US" sz="1100" kern="0" dirty="0">
                <a:solidFill>
                  <a:srgbClr val="000000"/>
                </a:solidFill>
                <a:latin typeface="SVN-Product Sans" panose="020B0403030502040203" pitchFamily="34" charset="0"/>
                <a:cs typeface="Arial"/>
                <a:sym typeface="Arial"/>
              </a:rPr>
              <a:t> </a:t>
            </a:r>
            <a:r>
              <a:rPr lang="en-US" sz="1100" kern="0" dirty="0" err="1">
                <a:solidFill>
                  <a:srgbClr val="000000"/>
                </a:solidFill>
                <a:latin typeface="SVN-Product Sans" panose="020B0403030502040203" pitchFamily="34" charset="0"/>
                <a:cs typeface="Arial"/>
                <a:sym typeface="Arial"/>
              </a:rPr>
              <a:t>hiệu</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các</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hoạt</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động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tài</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trợ</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chương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trình</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giải</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trí</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tổ</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chức</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chương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trình</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liên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quan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đến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người</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nổi</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tiếng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là</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những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hoạt</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động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thu</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hút</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lượng</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thảo</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luận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lớn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trên</a:t>
            </a: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000000"/>
                </a:solidFill>
                <a:effectLst/>
                <a:uLnTx/>
                <a:uFillTx/>
                <a:latin typeface="SVN-Product Sans" panose="020B0403030502040203" pitchFamily="34" charset="0"/>
                <a:cs typeface="Arial"/>
                <a:sym typeface="Arial"/>
              </a:rPr>
              <a:t>fanpage</a:t>
            </a:r>
            <a:endPar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endParaRPr>
          </a:p>
        </p:txBody>
      </p:sp>
      <p:pic>
        <p:nvPicPr>
          <p:cNvPr id="688" name="Google Shape;688;p32"/>
          <p:cNvPicPr preferRelativeResize="0"/>
          <p:nvPr/>
        </p:nvPicPr>
        <p:blipFill rotWithShape="1">
          <a:blip r:embed="rId4">
            <a:alphaModFix/>
          </a:blip>
          <a:srcRect/>
          <a:stretch/>
        </p:blipFill>
        <p:spPr>
          <a:xfrm>
            <a:off x="9433311" y="6017185"/>
            <a:ext cx="736419" cy="156655"/>
          </a:xfrm>
          <a:prstGeom prst="rect">
            <a:avLst/>
          </a:prstGeom>
          <a:noFill/>
          <a:ln>
            <a:noFill/>
          </a:ln>
        </p:spPr>
      </p:pic>
      <p:pic>
        <p:nvPicPr>
          <p:cNvPr id="689" name="Google Shape;689;p32"/>
          <p:cNvPicPr preferRelativeResize="0"/>
          <p:nvPr/>
        </p:nvPicPr>
        <p:blipFill rotWithShape="1">
          <a:blip r:embed="rId5">
            <a:alphaModFix/>
          </a:blip>
          <a:srcRect l="16489" t="37966" r="15703" b="37225"/>
          <a:stretch/>
        </p:blipFill>
        <p:spPr>
          <a:xfrm>
            <a:off x="7088466" y="5960131"/>
            <a:ext cx="740120" cy="270762"/>
          </a:xfrm>
          <a:prstGeom prst="rect">
            <a:avLst/>
          </a:prstGeom>
          <a:noFill/>
          <a:ln>
            <a:noFill/>
          </a:ln>
        </p:spPr>
      </p:pic>
      <p:pic>
        <p:nvPicPr>
          <p:cNvPr id="690" name="Google Shape;690;p32"/>
          <p:cNvPicPr preferRelativeResize="0"/>
          <p:nvPr/>
        </p:nvPicPr>
        <p:blipFill rotWithShape="1">
          <a:blip r:embed="rId6">
            <a:alphaModFix/>
          </a:blip>
          <a:srcRect/>
          <a:stretch/>
        </p:blipFill>
        <p:spPr>
          <a:xfrm>
            <a:off x="4672436" y="5960131"/>
            <a:ext cx="604007" cy="270762"/>
          </a:xfrm>
          <a:prstGeom prst="rect">
            <a:avLst/>
          </a:prstGeom>
          <a:noFill/>
          <a:ln>
            <a:noFill/>
          </a:ln>
        </p:spPr>
      </p:pic>
      <p:pic>
        <p:nvPicPr>
          <p:cNvPr id="691" name="Google Shape;691;p32"/>
          <p:cNvPicPr preferRelativeResize="0"/>
          <p:nvPr/>
        </p:nvPicPr>
        <p:blipFill rotWithShape="1">
          <a:blip r:embed="rId7">
            <a:alphaModFix/>
          </a:blip>
          <a:srcRect/>
          <a:stretch/>
        </p:blipFill>
        <p:spPr>
          <a:xfrm>
            <a:off x="5880451" y="5958604"/>
            <a:ext cx="604007" cy="273816"/>
          </a:xfrm>
          <a:prstGeom prst="rect">
            <a:avLst/>
          </a:prstGeom>
          <a:noFill/>
          <a:ln>
            <a:noFill/>
          </a:ln>
        </p:spPr>
      </p:pic>
      <p:pic>
        <p:nvPicPr>
          <p:cNvPr id="692" name="Google Shape;692;p32"/>
          <p:cNvPicPr preferRelativeResize="0"/>
          <p:nvPr/>
        </p:nvPicPr>
        <p:blipFill rotWithShape="1">
          <a:blip r:embed="rId8">
            <a:alphaModFix/>
          </a:blip>
          <a:srcRect/>
          <a:stretch/>
        </p:blipFill>
        <p:spPr>
          <a:xfrm>
            <a:off x="1043633" y="5932911"/>
            <a:ext cx="701974" cy="325202"/>
          </a:xfrm>
          <a:prstGeom prst="rect">
            <a:avLst/>
          </a:prstGeom>
          <a:noFill/>
          <a:ln>
            <a:noFill/>
          </a:ln>
        </p:spPr>
      </p:pic>
      <p:pic>
        <p:nvPicPr>
          <p:cNvPr id="693" name="Google Shape;693;p32"/>
          <p:cNvPicPr preferRelativeResize="0"/>
          <p:nvPr/>
        </p:nvPicPr>
        <p:blipFill rotWithShape="1">
          <a:blip r:embed="rId9">
            <a:alphaModFix/>
          </a:blip>
          <a:srcRect t="39624" b="41312"/>
          <a:stretch/>
        </p:blipFill>
        <p:spPr>
          <a:xfrm>
            <a:off x="3316069" y="6000592"/>
            <a:ext cx="861454" cy="189840"/>
          </a:xfrm>
          <a:prstGeom prst="rect">
            <a:avLst/>
          </a:prstGeom>
          <a:noFill/>
          <a:ln>
            <a:noFill/>
          </a:ln>
        </p:spPr>
      </p:pic>
      <p:pic>
        <p:nvPicPr>
          <p:cNvPr id="694" name="Google Shape;694;p32"/>
          <p:cNvPicPr preferRelativeResize="0"/>
          <p:nvPr/>
        </p:nvPicPr>
        <p:blipFill rotWithShape="1">
          <a:blip r:embed="rId10">
            <a:alphaModFix/>
          </a:blip>
          <a:srcRect/>
          <a:stretch/>
        </p:blipFill>
        <p:spPr>
          <a:xfrm>
            <a:off x="2364722" y="6017185"/>
            <a:ext cx="394928" cy="156655"/>
          </a:xfrm>
          <a:prstGeom prst="rect">
            <a:avLst/>
          </a:prstGeom>
          <a:noFill/>
          <a:ln>
            <a:noFill/>
          </a:ln>
        </p:spPr>
      </p:pic>
      <p:pic>
        <p:nvPicPr>
          <p:cNvPr id="695" name="Google Shape;695;p32"/>
          <p:cNvPicPr preferRelativeResize="0"/>
          <p:nvPr/>
        </p:nvPicPr>
        <p:blipFill rotWithShape="1">
          <a:blip r:embed="rId11">
            <a:alphaModFix/>
          </a:blip>
          <a:srcRect/>
          <a:stretch/>
        </p:blipFill>
        <p:spPr>
          <a:xfrm>
            <a:off x="8159679" y="5944930"/>
            <a:ext cx="823704" cy="301165"/>
          </a:xfrm>
          <a:prstGeom prst="rect">
            <a:avLst/>
          </a:prstGeom>
          <a:noFill/>
          <a:ln>
            <a:noFill/>
          </a:ln>
        </p:spPr>
      </p:pic>
      <p:sp>
        <p:nvSpPr>
          <p:cNvPr id="696" name="Google Shape;696;p32"/>
          <p:cNvSpPr txBox="1"/>
          <p:nvPr/>
        </p:nvSpPr>
        <p:spPr>
          <a:xfrm>
            <a:off x="2084412" y="3340816"/>
            <a:ext cx="911010" cy="430847"/>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546A"/>
              </a:buClr>
              <a:buSzPts val="1200"/>
              <a:buFont typeface="Arial"/>
              <a:buNone/>
              <a:tabLst/>
              <a:defRPr/>
            </a:pPr>
            <a:r>
              <a:rPr lang="en-US" sz="1100" kern="0" dirty="0">
                <a:solidFill>
                  <a:srgbClr val="44546A"/>
                </a:solidFill>
                <a:latin typeface="SVN-Product Sans" panose="020B0403030502040203" pitchFamily="34" charset="0"/>
                <a:cs typeface="Arial"/>
                <a:sym typeface="Arial"/>
              </a:rPr>
              <a:t>14,711</a:t>
            </a:r>
            <a:endParaRPr kumimoji="0"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endParaRPr>
          </a:p>
          <a:p>
            <a:pPr marL="0" marR="0" lvl="0" indent="0" algn="ctr" defTabSz="914400" rtl="0" eaLnBrk="1" fontAlgn="auto" latinLnBrk="0" hangingPunct="1">
              <a:lnSpc>
                <a:spcPct val="100000"/>
              </a:lnSpc>
              <a:spcBef>
                <a:spcPts val="0"/>
              </a:spcBef>
              <a:spcAft>
                <a:spcPts val="0"/>
              </a:spcAft>
              <a:buClr>
                <a:srgbClr val="44546A"/>
              </a:buClr>
              <a:buSzPts val="1100"/>
              <a:buFont typeface="Arial"/>
              <a:buNone/>
              <a:tabLst/>
              <a:defRPr/>
            </a:pP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lượt</a:t>
            </a:r>
            <a:r>
              <a:rPr kumimoji="0" lang="en-US"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đề</a:t>
            </a:r>
            <a:r>
              <a:rPr kumimoji="0" lang="en-US"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cập</a:t>
            </a:r>
            <a:endParaRPr kumimoji="0"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endParaRPr>
          </a:p>
        </p:txBody>
      </p:sp>
      <p:sp>
        <p:nvSpPr>
          <p:cNvPr id="697" name="Google Shape;697;p32"/>
          <p:cNvSpPr txBox="1"/>
          <p:nvPr/>
        </p:nvSpPr>
        <p:spPr>
          <a:xfrm>
            <a:off x="3291291" y="3348511"/>
            <a:ext cx="911010" cy="430847"/>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546A"/>
              </a:buClr>
              <a:buSzPts val="1200"/>
              <a:buFont typeface="Arial"/>
              <a:buNone/>
              <a:tabLst/>
              <a:defRPr/>
            </a:pPr>
            <a:r>
              <a:rPr lang="en-US" sz="1100" kern="0" dirty="0">
                <a:solidFill>
                  <a:srgbClr val="44546A"/>
                </a:solidFill>
                <a:latin typeface="SVN-Product Sans" panose="020B0403030502040203" pitchFamily="34" charset="0"/>
                <a:cs typeface="Arial"/>
                <a:sym typeface="Arial"/>
              </a:rPr>
              <a:t>37,006</a:t>
            </a:r>
            <a:endParaRPr kumimoji="0" lang="en-US"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endParaRPr>
          </a:p>
          <a:p>
            <a:pPr marL="0" marR="0" lvl="0" indent="0" algn="ctr" defTabSz="914400" rtl="0" eaLnBrk="1" fontAlgn="auto" latinLnBrk="0" hangingPunct="1">
              <a:lnSpc>
                <a:spcPct val="100000"/>
              </a:lnSpc>
              <a:spcBef>
                <a:spcPts val="0"/>
              </a:spcBef>
              <a:spcAft>
                <a:spcPts val="0"/>
              </a:spcAft>
              <a:buClr>
                <a:srgbClr val="44546A"/>
              </a:buClr>
              <a:buSzPts val="1200"/>
              <a:buFont typeface="Arial"/>
              <a:buNone/>
              <a:tabLst/>
              <a:defRPr/>
            </a:pP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lượt</a:t>
            </a:r>
            <a:r>
              <a:rPr kumimoji="0" lang="en-US"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đề</a:t>
            </a:r>
            <a:r>
              <a:rPr kumimoji="0" lang="en-US"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cập</a:t>
            </a:r>
            <a:endParaRPr kumimoji="0"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endParaRPr>
          </a:p>
        </p:txBody>
      </p:sp>
      <p:sp>
        <p:nvSpPr>
          <p:cNvPr id="698" name="Google Shape;698;p32"/>
          <p:cNvSpPr txBox="1"/>
          <p:nvPr/>
        </p:nvSpPr>
        <p:spPr>
          <a:xfrm>
            <a:off x="4522005" y="3348511"/>
            <a:ext cx="911010" cy="430847"/>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546A"/>
              </a:buClr>
              <a:buSzPts val="1200"/>
              <a:buFont typeface="Arial"/>
              <a:buNone/>
              <a:tabLst/>
              <a:defRPr/>
            </a:pPr>
            <a:r>
              <a:rPr lang="en-US" sz="1100" kern="0" dirty="0">
                <a:solidFill>
                  <a:srgbClr val="44546A"/>
                </a:solidFill>
                <a:latin typeface="SVN-Product Sans" panose="020B0403030502040203" pitchFamily="34" charset="0"/>
                <a:cs typeface="Arial"/>
                <a:sym typeface="Arial"/>
              </a:rPr>
              <a:t>118,155</a:t>
            </a:r>
            <a:endParaRPr kumimoji="0" sz="11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endParaRPr>
          </a:p>
          <a:p>
            <a:pPr marL="0" marR="0" lvl="0" indent="0" algn="ctr" defTabSz="914400" rtl="0" eaLnBrk="1" fontAlgn="auto" latinLnBrk="0" hangingPunct="1">
              <a:lnSpc>
                <a:spcPct val="100000"/>
              </a:lnSpc>
              <a:spcBef>
                <a:spcPts val="0"/>
              </a:spcBef>
              <a:spcAft>
                <a:spcPts val="0"/>
              </a:spcAft>
              <a:buClr>
                <a:srgbClr val="44546A"/>
              </a:buClr>
              <a:buSzPts val="1200"/>
              <a:buFont typeface="Arial"/>
              <a:buNone/>
              <a:tabLst/>
              <a:defRPr/>
            </a:pP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lượt</a:t>
            </a:r>
            <a:r>
              <a:rPr kumimoji="0" lang="en-US"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đề</a:t>
            </a:r>
            <a:r>
              <a:rPr kumimoji="0" lang="en-US"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cập</a:t>
            </a:r>
            <a:endParaRPr kumimoji="0"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endParaRPr>
          </a:p>
        </p:txBody>
      </p:sp>
      <p:sp>
        <p:nvSpPr>
          <p:cNvPr id="699" name="Google Shape;699;p32"/>
          <p:cNvSpPr txBox="1"/>
          <p:nvPr/>
        </p:nvSpPr>
        <p:spPr>
          <a:xfrm>
            <a:off x="5725632" y="3348511"/>
            <a:ext cx="911010" cy="430847"/>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100" kern="0" dirty="0">
                <a:solidFill>
                  <a:srgbClr val="44546A"/>
                </a:solidFill>
                <a:latin typeface="SVN-Product Sans" panose="020B0403030502040203" pitchFamily="34" charset="0"/>
                <a:cs typeface="Arial"/>
                <a:sym typeface="Arial"/>
              </a:rPr>
              <a:t>234,314</a:t>
            </a:r>
            <a:endParaRPr kumimoji="0"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lượt</a:t>
            </a:r>
            <a:r>
              <a:rPr kumimoji="0" lang="en-US"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đề</a:t>
            </a:r>
            <a:r>
              <a:rPr kumimoji="0" lang="en-US"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cập</a:t>
            </a:r>
            <a:endParaRPr kumimoji="0"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endParaRPr>
          </a:p>
        </p:txBody>
      </p:sp>
      <p:sp>
        <p:nvSpPr>
          <p:cNvPr id="700" name="Google Shape;700;p32"/>
          <p:cNvSpPr txBox="1"/>
          <p:nvPr/>
        </p:nvSpPr>
        <p:spPr>
          <a:xfrm>
            <a:off x="6935718" y="3348511"/>
            <a:ext cx="911010" cy="430847"/>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ea typeface="Calibri"/>
                <a:cs typeface="Calibri"/>
                <a:sym typeface="Calibri"/>
              </a:rPr>
              <a:t>126,519 </a:t>
            </a:r>
            <a:endParaRPr kumimoji="0" lang="en-US"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lượt</a:t>
            </a:r>
            <a:r>
              <a:rPr kumimoji="0" lang="en-US"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đề</a:t>
            </a:r>
            <a:r>
              <a:rPr kumimoji="0" lang="en-US"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cập</a:t>
            </a:r>
            <a:endParaRPr kumimoji="0"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endParaRPr>
          </a:p>
        </p:txBody>
      </p:sp>
      <p:sp>
        <p:nvSpPr>
          <p:cNvPr id="701" name="Google Shape;701;p32"/>
          <p:cNvSpPr txBox="1"/>
          <p:nvPr/>
        </p:nvSpPr>
        <p:spPr>
          <a:xfrm>
            <a:off x="8119295" y="3348511"/>
            <a:ext cx="911010" cy="430847"/>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100" kern="0" dirty="0">
                <a:solidFill>
                  <a:srgbClr val="44546A"/>
                </a:solidFill>
                <a:latin typeface="SVN-Product Sans" panose="020B0403030502040203" pitchFamily="34" charset="0"/>
                <a:ea typeface="Calibri"/>
                <a:cs typeface="Calibri"/>
                <a:sym typeface="Calibri"/>
              </a:rPr>
              <a:t>49,545</a:t>
            </a:r>
            <a:endParaRPr kumimoji="0" lang="en-US" sz="1100" b="0" i="0" u="none" strike="noStrike" kern="0" cap="none" spc="0" normalizeH="0" baseline="0" noProof="0" dirty="0">
              <a:ln>
                <a:noFill/>
              </a:ln>
              <a:solidFill>
                <a:srgbClr val="44546A"/>
              </a:solidFill>
              <a:effectLst/>
              <a:uLnTx/>
              <a:uFillTx/>
              <a:latin typeface="SVN-Product Sans" panose="020B0403030502040203" pitchFamily="34" charset="0"/>
              <a:ea typeface="Calibri"/>
              <a:cs typeface="Calibri"/>
              <a:sym typeface="Calibri"/>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lượt</a:t>
            </a:r>
            <a:r>
              <a:rPr kumimoji="0" lang="en-US"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đề</a:t>
            </a:r>
            <a:r>
              <a:rPr kumimoji="0" lang="en-US"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cập</a:t>
            </a:r>
            <a:endParaRPr kumimoji="0"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endParaRPr>
          </a:p>
        </p:txBody>
      </p:sp>
      <p:sp>
        <p:nvSpPr>
          <p:cNvPr id="702" name="Google Shape;702;p32"/>
          <p:cNvSpPr txBox="1"/>
          <p:nvPr/>
        </p:nvSpPr>
        <p:spPr>
          <a:xfrm>
            <a:off x="9322922" y="3348511"/>
            <a:ext cx="911010" cy="430847"/>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ea typeface="Calibri"/>
                <a:cs typeface="Calibri"/>
                <a:sym typeface="Calibri"/>
              </a:rPr>
              <a:t> </a:t>
            </a:r>
            <a:r>
              <a:rPr lang="en-US" sz="1100" kern="0" dirty="0">
                <a:solidFill>
                  <a:srgbClr val="44546A"/>
                </a:solidFill>
                <a:latin typeface="SVN-Product Sans" panose="020B0403030502040203" pitchFamily="34" charset="0"/>
                <a:ea typeface="Calibri"/>
                <a:cs typeface="Calibri"/>
                <a:sym typeface="Calibri"/>
              </a:rPr>
              <a:t>148,571</a:t>
            </a:r>
            <a:endParaRPr kumimoji="0" lang="en-US"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lượt</a:t>
            </a:r>
            <a:r>
              <a:rPr kumimoji="0" lang="en-US"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đề</a:t>
            </a:r>
            <a:r>
              <a:rPr kumimoji="0" lang="en-US"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rPr>
              <a:t> </a:t>
            </a:r>
            <a:r>
              <a:rPr kumimoji="0" lang="en-US" sz="1100" b="0" i="0" u="none" strike="noStrike" kern="0" cap="none" spc="0" normalizeH="0" baseline="0" noProof="0" dirty="0" err="1">
                <a:ln>
                  <a:noFill/>
                </a:ln>
                <a:solidFill>
                  <a:srgbClr val="44546A"/>
                </a:solidFill>
                <a:effectLst/>
                <a:uLnTx/>
                <a:uFillTx/>
                <a:latin typeface="SVN-Product Sans" panose="020B0403030502040203" pitchFamily="34" charset="0"/>
                <a:cs typeface="Arial"/>
                <a:sym typeface="Arial"/>
              </a:rPr>
              <a:t>cập</a:t>
            </a:r>
            <a:endParaRPr kumimoji="0" sz="11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endParaRPr>
          </a:p>
        </p:txBody>
      </p:sp>
      <p:sp>
        <p:nvSpPr>
          <p:cNvPr id="704" name="Google Shape;704;p32"/>
          <p:cNvSpPr txBox="1"/>
          <p:nvPr/>
        </p:nvSpPr>
        <p:spPr>
          <a:xfrm>
            <a:off x="3238822" y="2864258"/>
            <a:ext cx="5714355" cy="289396"/>
          </a:xfrm>
          <a:prstGeom prst="roundRect">
            <a:avLst/>
          </a:prstGeom>
          <a:noFill/>
          <a:ln>
            <a:solidFill>
              <a:srgbClr val="006C69"/>
            </a:solid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err="1">
                <a:ln>
                  <a:noFill/>
                </a:ln>
                <a:solidFill>
                  <a:srgbClr val="006C69"/>
                </a:solidFill>
                <a:effectLst/>
                <a:uLnTx/>
                <a:uFillTx/>
                <a:latin typeface="SVN-Product Sans" panose="020B0403030502040203" pitchFamily="34" charset="0"/>
                <a:cs typeface="Arial"/>
                <a:sym typeface="Arial"/>
              </a:rPr>
              <a:t>Phân</a:t>
            </a:r>
            <a:r>
              <a:rPr kumimoji="0" lang="en-US" sz="1100" b="1" i="0" u="none" strike="noStrike" kern="0" cap="none" spc="0" normalizeH="0" baseline="0" noProof="0" dirty="0">
                <a:ln>
                  <a:noFill/>
                </a:ln>
                <a:solidFill>
                  <a:srgbClr val="006C69"/>
                </a:solidFill>
                <a:effectLst/>
                <a:uLnTx/>
                <a:uFillTx/>
                <a:latin typeface="SVN-Product Sans" panose="020B0403030502040203" pitchFamily="34" charset="0"/>
                <a:cs typeface="Arial"/>
                <a:sym typeface="Arial"/>
              </a:rPr>
              <a:t> </a:t>
            </a:r>
            <a:r>
              <a:rPr kumimoji="0" lang="en-US" sz="1100" b="1" i="0" u="none" strike="noStrike" kern="0" cap="none" spc="0" normalizeH="0" baseline="0" noProof="0" dirty="0" err="1">
                <a:ln>
                  <a:noFill/>
                </a:ln>
                <a:solidFill>
                  <a:srgbClr val="006C69"/>
                </a:solidFill>
                <a:effectLst/>
                <a:uLnTx/>
                <a:uFillTx/>
                <a:latin typeface="SVN-Product Sans" panose="020B0403030502040203" pitchFamily="34" charset="0"/>
                <a:cs typeface="Arial"/>
                <a:sym typeface="Arial"/>
              </a:rPr>
              <a:t>bổ</a:t>
            </a:r>
            <a:r>
              <a:rPr kumimoji="0" lang="en-US" sz="1100" b="1" i="0" u="none" strike="noStrike" kern="0" cap="none" spc="0" normalizeH="0" baseline="0" noProof="0" dirty="0">
                <a:ln>
                  <a:noFill/>
                </a:ln>
                <a:solidFill>
                  <a:srgbClr val="006C69"/>
                </a:solidFill>
                <a:effectLst/>
                <a:uLnTx/>
                <a:uFillTx/>
                <a:latin typeface="SVN-Product Sans" panose="020B0403030502040203" pitchFamily="34" charset="0"/>
                <a:cs typeface="Arial"/>
                <a:sym typeface="Arial"/>
              </a:rPr>
              <a:t> </a:t>
            </a:r>
            <a:r>
              <a:rPr kumimoji="0" lang="en-US" sz="1100" b="1" i="0" u="none" strike="noStrike" kern="0" cap="none" spc="0" normalizeH="0" baseline="0" noProof="0" dirty="0" err="1">
                <a:ln>
                  <a:noFill/>
                </a:ln>
                <a:solidFill>
                  <a:srgbClr val="006C69"/>
                </a:solidFill>
                <a:effectLst/>
                <a:uLnTx/>
                <a:uFillTx/>
                <a:latin typeface="SVN-Product Sans" panose="020B0403030502040203" pitchFamily="34" charset="0"/>
                <a:cs typeface="Arial"/>
                <a:sym typeface="Arial"/>
              </a:rPr>
              <a:t>đề</a:t>
            </a:r>
            <a:r>
              <a:rPr kumimoji="0" lang="en-US" sz="1100" b="1" i="0" u="none" strike="noStrike" kern="0" cap="none" spc="0" normalizeH="0" baseline="0" noProof="0" dirty="0">
                <a:ln>
                  <a:noFill/>
                </a:ln>
                <a:solidFill>
                  <a:srgbClr val="006C69"/>
                </a:solidFill>
                <a:effectLst/>
                <a:uLnTx/>
                <a:uFillTx/>
                <a:latin typeface="SVN-Product Sans" panose="020B0403030502040203" pitchFamily="34" charset="0"/>
                <a:cs typeface="Arial"/>
                <a:sym typeface="Arial"/>
              </a:rPr>
              <a:t> </a:t>
            </a:r>
            <a:r>
              <a:rPr kumimoji="0" lang="en-US" sz="1100" b="1" i="0" u="none" strike="noStrike" kern="0" cap="none" spc="0" normalizeH="0" baseline="0" noProof="0" dirty="0" err="1">
                <a:ln>
                  <a:noFill/>
                </a:ln>
                <a:solidFill>
                  <a:srgbClr val="006C69"/>
                </a:solidFill>
                <a:effectLst/>
                <a:uLnTx/>
                <a:uFillTx/>
                <a:latin typeface="SVN-Product Sans" panose="020B0403030502040203" pitchFamily="34" charset="0"/>
                <a:cs typeface="Arial"/>
                <a:sym typeface="Arial"/>
              </a:rPr>
              <a:t>cập</a:t>
            </a:r>
            <a:r>
              <a:rPr kumimoji="0" lang="en-US" sz="1100" b="1" i="0" u="none" strike="noStrike" kern="0" cap="none" spc="0" normalizeH="0" baseline="0" noProof="0" dirty="0">
                <a:ln>
                  <a:noFill/>
                </a:ln>
                <a:solidFill>
                  <a:srgbClr val="006C69"/>
                </a:solidFill>
                <a:effectLst/>
                <a:uLnTx/>
                <a:uFillTx/>
                <a:latin typeface="SVN-Product Sans" panose="020B0403030502040203" pitchFamily="34" charset="0"/>
                <a:cs typeface="Arial"/>
                <a:sym typeface="Arial"/>
              </a:rPr>
              <a:t> </a:t>
            </a:r>
            <a:r>
              <a:rPr kumimoji="0" lang="en-US" sz="1100" b="1" i="0" u="none" strike="noStrike" kern="0" cap="none" spc="0" normalizeH="0" baseline="0" noProof="0" dirty="0" err="1">
                <a:ln>
                  <a:noFill/>
                </a:ln>
                <a:solidFill>
                  <a:srgbClr val="006C69"/>
                </a:solidFill>
                <a:effectLst/>
                <a:uLnTx/>
                <a:uFillTx/>
                <a:latin typeface="SVN-Product Sans" panose="020B0403030502040203" pitchFamily="34" charset="0"/>
                <a:cs typeface="Arial"/>
                <a:sym typeface="Arial"/>
              </a:rPr>
              <a:t>của</a:t>
            </a:r>
            <a:r>
              <a:rPr kumimoji="0" lang="en-US" sz="1100" b="1" i="0" u="none" strike="noStrike" kern="0" cap="none" spc="0" normalizeH="0" baseline="0" noProof="0" dirty="0">
                <a:ln>
                  <a:noFill/>
                </a:ln>
                <a:solidFill>
                  <a:srgbClr val="006C69"/>
                </a:solidFill>
                <a:effectLst/>
                <a:uLnTx/>
                <a:uFillTx/>
                <a:latin typeface="SVN-Product Sans" panose="020B0403030502040203" pitchFamily="34" charset="0"/>
                <a:cs typeface="Arial"/>
                <a:sym typeface="Arial"/>
              </a:rPr>
              <a:t> BIDV </a:t>
            </a:r>
            <a:r>
              <a:rPr kumimoji="0" lang="en-US" sz="1100" b="1" i="0" u="none" strike="noStrike" kern="0" cap="none" spc="0" normalizeH="0" baseline="0" noProof="0" dirty="0" err="1">
                <a:ln>
                  <a:noFill/>
                </a:ln>
                <a:solidFill>
                  <a:srgbClr val="006C69"/>
                </a:solidFill>
                <a:effectLst/>
                <a:uLnTx/>
                <a:uFillTx/>
                <a:latin typeface="SVN-Product Sans" panose="020B0403030502040203" pitchFamily="34" charset="0"/>
                <a:cs typeface="Arial"/>
                <a:sym typeface="Arial"/>
              </a:rPr>
              <a:t>và</a:t>
            </a:r>
            <a:r>
              <a:rPr kumimoji="0" lang="en-US" sz="1100" b="1" i="0" u="none" strike="noStrike" kern="0" cap="none" spc="0" normalizeH="0" baseline="0" noProof="0" dirty="0">
                <a:ln>
                  <a:noFill/>
                </a:ln>
                <a:solidFill>
                  <a:srgbClr val="006C69"/>
                </a:solidFill>
                <a:effectLst/>
                <a:uLnTx/>
                <a:uFillTx/>
                <a:latin typeface="SVN-Product Sans" panose="020B0403030502040203" pitchFamily="34" charset="0"/>
                <a:cs typeface="Arial"/>
                <a:sym typeface="Arial"/>
              </a:rPr>
              <a:t> </a:t>
            </a:r>
            <a:r>
              <a:rPr kumimoji="0" lang="en-US" sz="1100" b="1" i="0" u="none" strike="noStrike" kern="0" cap="none" spc="0" normalizeH="0" baseline="0" noProof="0" dirty="0" err="1">
                <a:ln>
                  <a:noFill/>
                </a:ln>
                <a:solidFill>
                  <a:srgbClr val="006C69"/>
                </a:solidFill>
                <a:effectLst/>
                <a:uLnTx/>
                <a:uFillTx/>
                <a:latin typeface="SVN-Product Sans" panose="020B0403030502040203" pitchFamily="34" charset="0"/>
                <a:cs typeface="Arial"/>
                <a:sym typeface="Arial"/>
              </a:rPr>
              <a:t>các</a:t>
            </a:r>
            <a:r>
              <a:rPr kumimoji="0" lang="en-US" sz="1100" b="1" i="0" u="none" strike="noStrike" kern="0" cap="none" spc="0" normalizeH="0" baseline="0" noProof="0" dirty="0">
                <a:ln>
                  <a:noFill/>
                </a:ln>
                <a:solidFill>
                  <a:srgbClr val="006C69"/>
                </a:solidFill>
                <a:effectLst/>
                <a:uLnTx/>
                <a:uFillTx/>
                <a:latin typeface="SVN-Product Sans" panose="020B0403030502040203" pitchFamily="34" charset="0"/>
                <a:cs typeface="Arial"/>
                <a:sym typeface="Arial"/>
              </a:rPr>
              <a:t> </a:t>
            </a:r>
            <a:r>
              <a:rPr kumimoji="0" lang="en-US" sz="1100" b="1" i="0" u="none" strike="noStrike" kern="0" cap="none" spc="0" normalizeH="0" baseline="0" noProof="0" dirty="0" err="1">
                <a:ln>
                  <a:noFill/>
                </a:ln>
                <a:solidFill>
                  <a:srgbClr val="006C69"/>
                </a:solidFill>
                <a:effectLst/>
                <a:uLnTx/>
                <a:uFillTx/>
                <a:latin typeface="SVN-Product Sans" panose="020B0403030502040203" pitchFamily="34" charset="0"/>
                <a:cs typeface="Arial"/>
                <a:sym typeface="Arial"/>
              </a:rPr>
              <a:t>ngân</a:t>
            </a:r>
            <a:r>
              <a:rPr kumimoji="0" lang="en-US" sz="1100" b="1" i="0" u="none" strike="noStrike" kern="0" cap="none" spc="0" normalizeH="0" baseline="0" noProof="0" dirty="0">
                <a:ln>
                  <a:noFill/>
                </a:ln>
                <a:solidFill>
                  <a:srgbClr val="006C69"/>
                </a:solidFill>
                <a:effectLst/>
                <a:uLnTx/>
                <a:uFillTx/>
                <a:latin typeface="SVN-Product Sans" panose="020B0403030502040203" pitchFamily="34" charset="0"/>
                <a:cs typeface="Arial"/>
                <a:sym typeface="Arial"/>
              </a:rPr>
              <a:t> </a:t>
            </a:r>
            <a:r>
              <a:rPr kumimoji="0" lang="vi-VN" sz="1100" b="1" i="0" u="none" strike="noStrike" kern="0" cap="none" spc="0" normalizeH="0" baseline="0" noProof="0" dirty="0">
                <a:ln>
                  <a:noFill/>
                </a:ln>
                <a:solidFill>
                  <a:srgbClr val="006C69"/>
                </a:solidFill>
                <a:effectLst/>
                <a:uLnTx/>
                <a:uFillTx/>
                <a:latin typeface="SVN-Product Sans" panose="020B0403030502040203" pitchFamily="34" charset="0"/>
                <a:cs typeface="Arial"/>
                <a:sym typeface="Arial"/>
              </a:rPr>
              <a:t>hàng</a:t>
            </a:r>
            <a:r>
              <a:rPr kumimoji="0" lang="en-US" sz="1100" b="1" i="0" u="none" strike="noStrike" kern="0" cap="none" spc="0" normalizeH="0" baseline="0" noProof="0" dirty="0">
                <a:ln>
                  <a:noFill/>
                </a:ln>
                <a:solidFill>
                  <a:srgbClr val="006C69"/>
                </a:solidFill>
                <a:effectLst/>
                <a:uLnTx/>
                <a:uFillTx/>
                <a:latin typeface="SVN-Product Sans" panose="020B0403030502040203" pitchFamily="34" charset="0"/>
                <a:cs typeface="Arial"/>
                <a:sym typeface="Arial"/>
              </a:rPr>
              <a:t> </a:t>
            </a:r>
            <a:r>
              <a:rPr kumimoji="0" lang="en-US" sz="1100" b="1" i="0" u="none" strike="noStrike" kern="0" cap="none" spc="0" normalizeH="0" baseline="0" noProof="0" dirty="0" err="1">
                <a:ln>
                  <a:noFill/>
                </a:ln>
                <a:solidFill>
                  <a:srgbClr val="006C69"/>
                </a:solidFill>
                <a:effectLst/>
                <a:uLnTx/>
                <a:uFillTx/>
                <a:latin typeface="SVN-Product Sans" panose="020B0403030502040203" pitchFamily="34" charset="0"/>
                <a:cs typeface="Arial"/>
                <a:sym typeface="Arial"/>
              </a:rPr>
              <a:t>khác</a:t>
            </a:r>
            <a:r>
              <a:rPr kumimoji="0" lang="en-US" sz="1100" b="1" i="0" u="none" strike="noStrike" kern="0" cap="none" spc="0" normalizeH="0" baseline="0" noProof="0" dirty="0">
                <a:ln>
                  <a:noFill/>
                </a:ln>
                <a:solidFill>
                  <a:srgbClr val="006C69"/>
                </a:solidFill>
                <a:effectLst/>
                <a:uLnTx/>
                <a:uFillTx/>
                <a:latin typeface="SVN-Product Sans" panose="020B0403030502040203" pitchFamily="34" charset="0"/>
                <a:cs typeface="Arial"/>
                <a:sym typeface="Arial"/>
              </a:rPr>
              <a:t> </a:t>
            </a:r>
            <a:r>
              <a:rPr kumimoji="0" lang="en-US" sz="1100" b="1" i="0" u="none" strike="noStrike" kern="0" cap="none" spc="0" normalizeH="0" baseline="0" noProof="0" dirty="0" err="1">
                <a:ln>
                  <a:noFill/>
                </a:ln>
                <a:solidFill>
                  <a:srgbClr val="006C69"/>
                </a:solidFill>
                <a:effectLst/>
                <a:uLnTx/>
                <a:uFillTx/>
                <a:latin typeface="SVN-Product Sans" panose="020B0403030502040203" pitchFamily="34" charset="0"/>
                <a:cs typeface="Arial"/>
                <a:sym typeface="Arial"/>
              </a:rPr>
              <a:t>trên</a:t>
            </a:r>
            <a:r>
              <a:rPr kumimoji="0" lang="en-US" sz="1100" b="1" i="0" u="none" strike="noStrike" kern="0" cap="none" spc="0" normalizeH="0" baseline="0" noProof="0" dirty="0">
                <a:ln>
                  <a:noFill/>
                </a:ln>
                <a:solidFill>
                  <a:srgbClr val="006C69"/>
                </a:solidFill>
                <a:effectLst/>
                <a:uLnTx/>
                <a:uFillTx/>
                <a:latin typeface="SVN-Product Sans" panose="020B0403030502040203" pitchFamily="34" charset="0"/>
                <a:cs typeface="Arial"/>
                <a:sym typeface="Arial"/>
              </a:rPr>
              <a:t> </a:t>
            </a:r>
            <a:r>
              <a:rPr kumimoji="0" lang="en-US" sz="1100" b="1" i="0" u="none" strike="noStrike" kern="0" cap="none" spc="0" normalizeH="0" baseline="0" noProof="0" dirty="0" err="1">
                <a:ln>
                  <a:noFill/>
                </a:ln>
                <a:solidFill>
                  <a:srgbClr val="006C69"/>
                </a:solidFill>
                <a:effectLst/>
                <a:uLnTx/>
                <a:uFillTx/>
                <a:latin typeface="SVN-Product Sans" panose="020B0403030502040203" pitchFamily="34" charset="0"/>
                <a:cs typeface="Arial"/>
                <a:sym typeface="Arial"/>
              </a:rPr>
              <a:t>các</a:t>
            </a:r>
            <a:r>
              <a:rPr kumimoji="0" lang="en-US" sz="1100" b="1" i="0" u="none" strike="noStrike" kern="0" cap="none" spc="0" normalizeH="0" baseline="0" noProof="0" dirty="0">
                <a:ln>
                  <a:noFill/>
                </a:ln>
                <a:solidFill>
                  <a:srgbClr val="006C69"/>
                </a:solidFill>
                <a:effectLst/>
                <a:uLnTx/>
                <a:uFillTx/>
                <a:latin typeface="SVN-Product Sans" panose="020B0403030502040203" pitchFamily="34" charset="0"/>
                <a:cs typeface="Arial"/>
                <a:sym typeface="Arial"/>
              </a:rPr>
              <a:t> </a:t>
            </a:r>
            <a:r>
              <a:rPr kumimoji="0" lang="en-US" sz="1100" b="1" i="0" u="none" strike="noStrike" kern="0" cap="none" spc="0" normalizeH="0" baseline="0" noProof="0" dirty="0" err="1">
                <a:ln>
                  <a:noFill/>
                </a:ln>
                <a:solidFill>
                  <a:srgbClr val="006C69"/>
                </a:solidFill>
                <a:effectLst/>
                <a:uLnTx/>
                <a:uFillTx/>
                <a:latin typeface="SVN-Product Sans" panose="020B0403030502040203" pitchFamily="34" charset="0"/>
                <a:cs typeface="Arial"/>
                <a:sym typeface="Arial"/>
              </a:rPr>
              <a:t>kênh</a:t>
            </a:r>
            <a:r>
              <a:rPr kumimoji="0" lang="en-US" sz="1100" b="1" i="0" u="none" strike="noStrike" kern="0" cap="none" spc="0" normalizeH="0" baseline="0" noProof="0" dirty="0">
                <a:ln>
                  <a:noFill/>
                </a:ln>
                <a:solidFill>
                  <a:srgbClr val="006C69"/>
                </a:solidFill>
                <a:effectLst/>
                <a:uLnTx/>
                <a:uFillTx/>
                <a:latin typeface="SVN-Product Sans" panose="020B0403030502040203" pitchFamily="34" charset="0"/>
                <a:cs typeface="Arial"/>
                <a:sym typeface="Arial"/>
              </a:rPr>
              <a:t> </a:t>
            </a:r>
            <a:r>
              <a:rPr kumimoji="0" lang="en-US" sz="1100" b="1" i="0" u="none" strike="noStrike" kern="0" cap="none" spc="0" normalizeH="0" baseline="0" noProof="0" dirty="0" err="1">
                <a:ln>
                  <a:noFill/>
                </a:ln>
                <a:solidFill>
                  <a:srgbClr val="006C69"/>
                </a:solidFill>
                <a:effectLst/>
                <a:uLnTx/>
                <a:uFillTx/>
                <a:latin typeface="SVN-Product Sans" panose="020B0403030502040203" pitchFamily="34" charset="0"/>
                <a:cs typeface="Arial"/>
                <a:sym typeface="Arial"/>
              </a:rPr>
              <a:t>truyền</a:t>
            </a:r>
            <a:r>
              <a:rPr kumimoji="0" lang="en-US" sz="1100" b="1" i="0" u="none" strike="noStrike" kern="0" cap="none" spc="0" normalizeH="0" baseline="0" noProof="0" dirty="0">
                <a:ln>
                  <a:noFill/>
                </a:ln>
                <a:solidFill>
                  <a:srgbClr val="006C69"/>
                </a:solidFill>
                <a:effectLst/>
                <a:uLnTx/>
                <a:uFillTx/>
                <a:latin typeface="SVN-Product Sans" panose="020B0403030502040203" pitchFamily="34" charset="0"/>
                <a:cs typeface="Arial"/>
                <a:sym typeface="Arial"/>
              </a:rPr>
              <a:t> </a:t>
            </a:r>
            <a:r>
              <a:rPr kumimoji="0" lang="en-US" sz="1100" b="1" i="0" u="none" strike="noStrike" kern="0" cap="none" spc="0" normalizeH="0" baseline="0" noProof="0" dirty="0" err="1">
                <a:ln>
                  <a:noFill/>
                </a:ln>
                <a:solidFill>
                  <a:srgbClr val="006C69"/>
                </a:solidFill>
                <a:effectLst/>
                <a:uLnTx/>
                <a:uFillTx/>
                <a:latin typeface="SVN-Product Sans" panose="020B0403030502040203" pitchFamily="34" charset="0"/>
                <a:cs typeface="Arial"/>
                <a:sym typeface="Arial"/>
              </a:rPr>
              <a:t>thông</a:t>
            </a:r>
            <a:endParaRPr kumimoji="0" sz="1400" b="0" i="0" u="none" strike="noStrike" kern="0" cap="none" spc="0" normalizeH="0" baseline="0" noProof="0" dirty="0">
              <a:ln>
                <a:noFill/>
              </a:ln>
              <a:solidFill>
                <a:srgbClr val="006C69"/>
              </a:solidFill>
              <a:effectLst/>
              <a:uLnTx/>
              <a:uFillTx/>
              <a:latin typeface="SVN-Product Sans" panose="020B0403030502040203" pitchFamily="34" charset="0"/>
              <a:cs typeface="Arial"/>
              <a:sym typeface="Arial"/>
            </a:endParaRPr>
          </a:p>
        </p:txBody>
      </p:sp>
    </p:spTree>
    <p:extLst>
      <p:ext uri="{BB962C8B-B14F-4D97-AF65-F5344CB8AC3E}">
        <p14:creationId xmlns:p14="http://schemas.microsoft.com/office/powerpoint/2010/main" val="2066747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6F9B3-2159-4780-152B-DDD5E505B85C}"/>
              </a:ext>
            </a:extLst>
          </p:cNvPr>
          <p:cNvSpPr>
            <a:spLocks noGrp="1"/>
          </p:cNvSpPr>
          <p:nvPr>
            <p:ph type="title"/>
          </p:nvPr>
        </p:nvSpPr>
        <p:spPr/>
        <p:txBody>
          <a:bodyPr/>
          <a:lstStyle/>
          <a:p>
            <a:r>
              <a:rPr lang="en-US"/>
              <a:t>TOP NGUỒN CÓ LƯỢNG THẢO LUẬN CAO NHẤT</a:t>
            </a:r>
            <a:endParaRPr lang="en-US" dirty="0">
              <a:solidFill>
                <a:srgbClr val="D71A20"/>
              </a:solidFill>
            </a:endParaRPr>
          </a:p>
        </p:txBody>
      </p:sp>
      <p:graphicFrame>
        <p:nvGraphicFramePr>
          <p:cNvPr id="9" name="Table 8">
            <a:extLst>
              <a:ext uri="{FF2B5EF4-FFF2-40B4-BE49-F238E27FC236}">
                <a16:creationId xmlns:a16="http://schemas.microsoft.com/office/drawing/2014/main" id="{301A3670-B1CF-FA37-2B2A-1EF75B9FE50C}"/>
              </a:ext>
            </a:extLst>
          </p:cNvPr>
          <p:cNvGraphicFramePr>
            <a:graphicFrameLocks noGrp="1"/>
          </p:cNvGraphicFramePr>
          <p:nvPr>
            <p:extLst>
              <p:ext uri="{D42A27DB-BD31-4B8C-83A1-F6EECF244321}">
                <p14:modId xmlns:p14="http://schemas.microsoft.com/office/powerpoint/2010/main" val="1845581925"/>
              </p:ext>
            </p:extLst>
          </p:nvPr>
        </p:nvGraphicFramePr>
        <p:xfrm>
          <a:off x="558378" y="913273"/>
          <a:ext cx="10990892" cy="5150959"/>
        </p:xfrm>
        <a:graphic>
          <a:graphicData uri="http://schemas.openxmlformats.org/drawingml/2006/table">
            <a:tbl>
              <a:tblPr firstRow="1" bandRow="1">
                <a:tableStyleId>{5C22544A-7EE6-4342-B048-85BDC9FD1C3A}</a:tableStyleId>
              </a:tblPr>
              <a:tblGrid>
                <a:gridCol w="1037922">
                  <a:extLst>
                    <a:ext uri="{9D8B030D-6E8A-4147-A177-3AD203B41FA5}">
                      <a16:colId xmlns:a16="http://schemas.microsoft.com/office/drawing/2014/main" val="3679831698"/>
                    </a:ext>
                  </a:extLst>
                </a:gridCol>
                <a:gridCol w="5413681">
                  <a:extLst>
                    <a:ext uri="{9D8B030D-6E8A-4147-A177-3AD203B41FA5}">
                      <a16:colId xmlns:a16="http://schemas.microsoft.com/office/drawing/2014/main" val="3131488588"/>
                    </a:ext>
                  </a:extLst>
                </a:gridCol>
                <a:gridCol w="2252159">
                  <a:extLst>
                    <a:ext uri="{9D8B030D-6E8A-4147-A177-3AD203B41FA5}">
                      <a16:colId xmlns:a16="http://schemas.microsoft.com/office/drawing/2014/main" val="3294577228"/>
                    </a:ext>
                  </a:extLst>
                </a:gridCol>
                <a:gridCol w="2287130">
                  <a:extLst>
                    <a:ext uri="{9D8B030D-6E8A-4147-A177-3AD203B41FA5}">
                      <a16:colId xmlns:a16="http://schemas.microsoft.com/office/drawing/2014/main" val="750935144"/>
                    </a:ext>
                  </a:extLst>
                </a:gridCol>
              </a:tblGrid>
              <a:tr h="473417">
                <a:tc>
                  <a:txBody>
                    <a:bodyPr/>
                    <a:lstStyle/>
                    <a:p>
                      <a:pPr algn="ctr"/>
                      <a:r>
                        <a:rPr lang="en-US" sz="1200" b="1" i="0" u="none" strike="noStrike" kern="1200" cap="none">
                          <a:solidFill>
                            <a:schemeClr val="bg1"/>
                          </a:solidFill>
                          <a:latin typeface="SVN-Product Sans" panose="020B0403030502040203" pitchFamily="34" charset="0"/>
                          <a:ea typeface="+mn-ea"/>
                          <a:cs typeface="Arial" panose="020B0604020202020204" pitchFamily="34" charset="0"/>
                          <a:sym typeface="Josefin Sans Medium"/>
                        </a:rPr>
                        <a:t>STT</a:t>
                      </a:r>
                      <a:endParaRPr lang="en-US" sz="1200" b="1" i="0" u="none" strike="noStrike" kern="1200" cap="none" dirty="0">
                        <a:solidFill>
                          <a:schemeClr val="bg1"/>
                        </a:solidFill>
                        <a:latin typeface="SVN-Product Sans" panose="020B0403030502040203" pitchFamily="34" charset="0"/>
                        <a:ea typeface="+mn-ea"/>
                        <a:cs typeface="Arial" panose="020B0604020202020204" pitchFamily="34" charset="0"/>
                        <a:sym typeface="Josefin Sans Medium"/>
                      </a:endParaRPr>
                    </a:p>
                  </a:txBody>
                  <a:tcPr anchor="ctr"/>
                </a:tc>
                <a:tc>
                  <a:txBody>
                    <a:bodyPr/>
                    <a:lstStyle/>
                    <a:p>
                      <a:pPr algn="ctr"/>
                      <a:r>
                        <a:rPr lang="en-US" sz="1200" b="1" i="0" u="none" strike="noStrike" kern="1200" cap="none">
                          <a:solidFill>
                            <a:schemeClr val="bg1"/>
                          </a:solidFill>
                          <a:latin typeface="SVN-Product Sans" panose="020B0403030502040203" pitchFamily="34" charset="0"/>
                          <a:ea typeface="+mn-ea"/>
                          <a:cs typeface="Arial" panose="020B0604020202020204" pitchFamily="34" charset="0"/>
                          <a:sym typeface="Josefin Sans Medium"/>
                        </a:rPr>
                        <a:t>Nguồn</a:t>
                      </a:r>
                      <a:endParaRPr lang="en-US" sz="1200" b="1" i="0" u="none" strike="noStrike" kern="1200" cap="none" dirty="0">
                        <a:solidFill>
                          <a:schemeClr val="bg1"/>
                        </a:solidFill>
                        <a:latin typeface="SVN-Product Sans" panose="020B0403030502040203" pitchFamily="34" charset="0"/>
                        <a:ea typeface="+mn-ea"/>
                        <a:cs typeface="Arial" panose="020B0604020202020204" pitchFamily="34" charset="0"/>
                        <a:sym typeface="Josefin Sans Medium"/>
                      </a:endParaRPr>
                    </a:p>
                  </a:txBody>
                  <a:tcPr anchor="ctr"/>
                </a:tc>
                <a:tc>
                  <a:txBody>
                    <a:bodyPr/>
                    <a:lstStyle/>
                    <a:p>
                      <a:pPr algn="ctr"/>
                      <a:r>
                        <a:rPr lang="en-US" sz="1200" b="1" i="0" u="none" strike="noStrike" kern="1200" cap="none">
                          <a:solidFill>
                            <a:schemeClr val="bg1"/>
                          </a:solidFill>
                          <a:latin typeface="SVN-Product Sans" panose="020B0403030502040203" pitchFamily="34" charset="0"/>
                          <a:ea typeface="+mn-ea"/>
                          <a:cs typeface="Arial" panose="020B0604020202020204" pitchFamily="34" charset="0"/>
                          <a:sym typeface="Josefin Sans Medium"/>
                        </a:rPr>
                        <a:t>Kênh truyền thông</a:t>
                      </a:r>
                      <a:endParaRPr lang="en-US" sz="1200" b="1" i="0" u="none" strike="noStrike" kern="1200" cap="none" dirty="0">
                        <a:solidFill>
                          <a:schemeClr val="bg1"/>
                        </a:solidFill>
                        <a:latin typeface="SVN-Product Sans" panose="020B0403030502040203" pitchFamily="34" charset="0"/>
                        <a:ea typeface="+mn-ea"/>
                        <a:cs typeface="Arial" panose="020B0604020202020204" pitchFamily="34" charset="0"/>
                        <a:sym typeface="Josefin Sans Medium"/>
                      </a:endParaRPr>
                    </a:p>
                  </a:txBody>
                  <a:tcPr anchor="ctr"/>
                </a:tc>
                <a:tc>
                  <a:txBody>
                    <a:bodyPr/>
                    <a:lstStyle/>
                    <a:p>
                      <a:pPr algn="ctr"/>
                      <a:r>
                        <a:rPr lang="en-US" sz="1200" b="1" i="0" u="none" strike="noStrike" kern="1200" cap="none">
                          <a:solidFill>
                            <a:schemeClr val="bg1"/>
                          </a:solidFill>
                          <a:latin typeface="SVN-Product Sans" panose="020B0403030502040203" pitchFamily="34" charset="0"/>
                          <a:ea typeface="+mn-ea"/>
                          <a:cs typeface="Arial" panose="020B0604020202020204" pitchFamily="34" charset="0"/>
                          <a:sym typeface="Josefin Sans Medium"/>
                        </a:rPr>
                        <a:t>Tổng</a:t>
                      </a:r>
                      <a:endParaRPr lang="en-US" sz="1200" b="1" i="0" u="none" strike="noStrike" kern="1200" cap="none" dirty="0">
                        <a:solidFill>
                          <a:schemeClr val="bg1"/>
                        </a:solidFill>
                        <a:latin typeface="SVN-Product Sans" panose="020B0403030502040203" pitchFamily="34" charset="0"/>
                        <a:ea typeface="+mn-ea"/>
                        <a:cs typeface="Arial" panose="020B0604020202020204" pitchFamily="34" charset="0"/>
                        <a:sym typeface="Josefin Sans Medium"/>
                      </a:endParaRPr>
                    </a:p>
                  </a:txBody>
                  <a:tcPr anchor="ctr">
                    <a:solidFill>
                      <a:schemeClr val="accent2">
                        <a:lumMod val="75000"/>
                      </a:schemeClr>
                    </a:solidFill>
                  </a:tcPr>
                </a:tc>
                <a:extLst>
                  <a:ext uri="{0D108BD9-81ED-4DB2-BD59-A6C34878D82A}">
                    <a16:rowId xmlns:a16="http://schemas.microsoft.com/office/drawing/2014/main" val="2039937836"/>
                  </a:ext>
                </a:extLst>
              </a:tr>
              <a:tr h="492996">
                <a:tc>
                  <a:txBody>
                    <a:bodyPr/>
                    <a:lstStyle/>
                    <a:p>
                      <a:pPr algn="ctr"/>
                      <a:r>
                        <a:rPr lang="en-US" sz="1200" b="0" i="0" u="none" strike="noStrike" kern="1200" cap="none" dirty="0">
                          <a:solidFill>
                            <a:schemeClr val="tx1">
                              <a:lumMod val="95000"/>
                              <a:lumOff val="5000"/>
                            </a:schemeClr>
                          </a:solidFill>
                          <a:latin typeface="SVN-Product Sans" panose="020B0403030502040203" pitchFamily="34" charset="0"/>
                          <a:ea typeface="+mn-ea"/>
                          <a:cs typeface="Arial" panose="020B0604020202020204" pitchFamily="34" charset="0"/>
                          <a:sym typeface="Josefin Sans Medium"/>
                        </a:rPr>
                        <a:t>1</a:t>
                      </a:r>
                    </a:p>
                  </a:txBody>
                  <a:tcPr anchor="ctr"/>
                </a:tc>
                <a:tc>
                  <a:txBody>
                    <a:bodyPr/>
                    <a:lstStyle/>
                    <a:p>
                      <a:pPr algn="ctr" fontAlgn="b"/>
                      <a:r>
                        <a:rPr lang="vi-VN" sz="1100" b="0" i="0" u="sng" strike="noStrike" cap="none" dirty="0">
                          <a:solidFill>
                            <a:schemeClr val="accent1">
                              <a:lumMod val="75000"/>
                            </a:schemeClr>
                          </a:solidFill>
                          <a:effectLst/>
                          <a:latin typeface="SVN-Product Sans" panose="020B0403030502040203" pitchFamily="34" charset="0"/>
                          <a:ea typeface="+mn-ea"/>
                          <a:cs typeface="+mn-cs"/>
                          <a:sym typeface="Arial"/>
                          <a:hlinkClick r:id="rId2"/>
                        </a:rPr>
                        <a:t>BIDV - Ngân hàng TMCP Đầu Tư &amp; Phát Triển Việt Nam</a:t>
                      </a:r>
                      <a:endParaRPr lang="vi-VN" sz="1100" b="0" i="0" u="sng" strike="noStrike" cap="none" dirty="0">
                        <a:solidFill>
                          <a:schemeClr val="accent1">
                            <a:lumMod val="75000"/>
                          </a:schemeClr>
                        </a:solidFill>
                        <a:effectLst/>
                        <a:latin typeface="SVN-Product Sans" panose="020B0403030502040203" pitchFamily="34" charset="0"/>
                        <a:ea typeface="+mn-ea"/>
                        <a:cs typeface="+mn-cs"/>
                        <a:sym typeface="Arial"/>
                      </a:endParaRPr>
                    </a:p>
                  </a:txBody>
                  <a:tcPr marL="9525" marR="9525" marT="9525" marB="0" anchor="ctr"/>
                </a:tc>
                <a:tc>
                  <a:txBody>
                    <a:bodyPr/>
                    <a:lstStyle/>
                    <a:p>
                      <a:pPr algn="ctr" fontAlgn="b"/>
                      <a:r>
                        <a:rPr lang="en-US" sz="1100" b="0" i="0" u="none" strike="noStrike" cap="none">
                          <a:solidFill>
                            <a:srgbClr val="000000"/>
                          </a:solidFill>
                          <a:effectLst/>
                          <a:latin typeface="SVN-Product Sans" panose="020B0403030502040203" pitchFamily="34" charset="0"/>
                          <a:ea typeface="+mn-ea"/>
                          <a:cs typeface="+mn-cs"/>
                          <a:sym typeface="Arial"/>
                        </a:rPr>
                        <a:t>Facebook</a:t>
                      </a:r>
                    </a:p>
                  </a:txBody>
                  <a:tcPr marL="9525" marR="9525" marT="9525" marB="0" anchor="ctr"/>
                </a:tc>
                <a:tc>
                  <a:txBody>
                    <a:bodyPr/>
                    <a:lstStyle/>
                    <a:p>
                      <a:pPr algn="ctr" fontAlgn="b"/>
                      <a:r>
                        <a:rPr lang="en-US" sz="1100" b="0" i="0" u="none" strike="noStrike" cap="none" dirty="0">
                          <a:solidFill>
                            <a:srgbClr val="000000"/>
                          </a:solidFill>
                          <a:effectLst/>
                          <a:latin typeface="SVN-Product Sans" panose="020B0403030502040203" pitchFamily="34" charset="0"/>
                          <a:ea typeface="+mn-ea"/>
                          <a:cs typeface="+mn-cs"/>
                          <a:sym typeface="Arial"/>
                        </a:rPr>
                        <a:t>294,117</a:t>
                      </a:r>
                    </a:p>
                  </a:txBody>
                  <a:tcPr marL="9525" marR="9525" marT="9525" marB="0" anchor="ctr"/>
                </a:tc>
                <a:extLst>
                  <a:ext uri="{0D108BD9-81ED-4DB2-BD59-A6C34878D82A}">
                    <a16:rowId xmlns:a16="http://schemas.microsoft.com/office/drawing/2014/main" val="224517152"/>
                  </a:ext>
                </a:extLst>
              </a:tr>
              <a:tr h="430631">
                <a:tc>
                  <a:txBody>
                    <a:bodyPr/>
                    <a:lstStyle/>
                    <a:p>
                      <a:pPr algn="ctr"/>
                      <a:r>
                        <a:rPr lang="en-US" sz="1200" b="0" i="0" u="none" strike="noStrike" kern="1200" cap="none" dirty="0">
                          <a:solidFill>
                            <a:schemeClr val="tx1">
                              <a:lumMod val="95000"/>
                              <a:lumOff val="5000"/>
                            </a:schemeClr>
                          </a:solidFill>
                          <a:latin typeface="SVN-Product Sans" panose="020B0403030502040203" pitchFamily="34" charset="0"/>
                          <a:ea typeface="+mn-ea"/>
                          <a:cs typeface="Arial" panose="020B0604020202020204" pitchFamily="34" charset="0"/>
                          <a:sym typeface="Josefin Sans Medium"/>
                        </a:rPr>
                        <a:t>2</a:t>
                      </a:r>
                    </a:p>
                  </a:txBody>
                  <a:tcPr anchor="ctr"/>
                </a:tc>
                <a:tc>
                  <a:txBody>
                    <a:bodyPr/>
                    <a:lstStyle/>
                    <a:p>
                      <a:pPr marR="0" algn="ctr" rtl="0" fontAlgn="b">
                        <a:lnSpc>
                          <a:spcPct val="100000"/>
                        </a:lnSpc>
                        <a:spcBef>
                          <a:spcPts val="0"/>
                        </a:spcBef>
                        <a:spcAft>
                          <a:spcPts val="0"/>
                        </a:spcAft>
                        <a:buClr>
                          <a:srgbClr val="000000"/>
                        </a:buClr>
                        <a:buFont typeface="Arial"/>
                      </a:pPr>
                      <a:r>
                        <a:rPr lang="en-US" sz="1100" b="0" i="0" u="sng" strike="noStrike" cap="none" dirty="0">
                          <a:solidFill>
                            <a:schemeClr val="accent1">
                              <a:lumMod val="75000"/>
                            </a:schemeClr>
                          </a:solidFill>
                          <a:effectLst/>
                          <a:latin typeface="SVN-Product Sans" panose="020B0403030502040203" pitchFamily="34" charset="0"/>
                          <a:ea typeface="+mn-ea"/>
                          <a:cs typeface="+mn-cs"/>
                          <a:sym typeface="Arial"/>
                          <a:hlinkClick r:id="rId3"/>
                        </a:rPr>
                        <a:t>8Wonder</a:t>
                      </a:r>
                      <a:endParaRPr lang="en-US" sz="1100" b="0" i="0" u="sng" strike="noStrike" cap="none" dirty="0">
                        <a:solidFill>
                          <a:schemeClr val="accent1">
                            <a:lumMod val="75000"/>
                          </a:schemeClr>
                        </a:solidFill>
                        <a:effectLst/>
                        <a:latin typeface="SVN-Product Sans" panose="020B0403030502040203" pitchFamily="34" charset="0"/>
                        <a:ea typeface="+mn-ea"/>
                        <a:cs typeface="+mn-cs"/>
                        <a:sym typeface="Arial"/>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SVN-Product Sans" panose="020B0403030502040203" pitchFamily="34" charset="0"/>
                          <a:ea typeface="+mn-ea"/>
                          <a:cs typeface="+mn-cs"/>
                          <a:sym typeface="Arial"/>
                        </a:rPr>
                        <a:t>Facebook</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pPr>
                      <a:r>
                        <a:rPr lang="en-VN" sz="1100" b="0" i="0" u="none" strike="noStrike" cap="none" dirty="0">
                          <a:solidFill>
                            <a:srgbClr val="000000"/>
                          </a:solidFill>
                          <a:effectLst/>
                          <a:latin typeface="SVN-Product Sans" panose="020B0403030502040203" pitchFamily="34" charset="0"/>
                          <a:ea typeface="+mn-ea"/>
                          <a:cs typeface="+mn-cs"/>
                          <a:sym typeface="Arial"/>
                        </a:rPr>
                        <a:t>37,646</a:t>
                      </a:r>
                    </a:p>
                  </a:txBody>
                  <a:tcPr marL="9525" marR="9525" marT="9525" marB="0" anchor="ctr"/>
                </a:tc>
                <a:extLst>
                  <a:ext uri="{0D108BD9-81ED-4DB2-BD59-A6C34878D82A}">
                    <a16:rowId xmlns:a16="http://schemas.microsoft.com/office/drawing/2014/main" val="48222524"/>
                  </a:ext>
                </a:extLst>
              </a:tr>
              <a:tr h="501909">
                <a:tc>
                  <a:txBody>
                    <a:bodyPr/>
                    <a:lstStyle/>
                    <a:p>
                      <a:pPr algn="ctr"/>
                      <a:r>
                        <a:rPr lang="en-US" sz="1200" b="0" i="0" u="none" strike="noStrike" kern="1200" cap="none" dirty="0">
                          <a:solidFill>
                            <a:schemeClr val="tx1">
                              <a:lumMod val="95000"/>
                              <a:lumOff val="5000"/>
                            </a:schemeClr>
                          </a:solidFill>
                          <a:latin typeface="SVN-Product Sans" panose="020B0403030502040203" pitchFamily="34" charset="0"/>
                          <a:ea typeface="+mn-ea"/>
                          <a:cs typeface="Arial" panose="020B0604020202020204" pitchFamily="34" charset="0"/>
                          <a:sym typeface="Josefin Sans Medium"/>
                        </a:rPr>
                        <a:t>3</a:t>
                      </a:r>
                    </a:p>
                  </a:txBody>
                  <a:tcPr anchor="ctr"/>
                </a:tc>
                <a:tc>
                  <a:txBody>
                    <a:bodyPr/>
                    <a:lstStyle/>
                    <a:p>
                      <a:pPr marR="0" algn="ctr" rtl="0" fontAlgn="b">
                        <a:lnSpc>
                          <a:spcPct val="100000"/>
                        </a:lnSpc>
                        <a:spcBef>
                          <a:spcPts val="0"/>
                        </a:spcBef>
                        <a:spcAft>
                          <a:spcPts val="0"/>
                        </a:spcAft>
                        <a:buClr>
                          <a:srgbClr val="000000"/>
                        </a:buClr>
                        <a:buFont typeface="Arial"/>
                      </a:pPr>
                      <a:r>
                        <a:rPr lang="en-US" sz="1100" b="0" i="0" u="sng" strike="noStrike" cap="none" dirty="0" err="1">
                          <a:solidFill>
                            <a:schemeClr val="accent1">
                              <a:lumMod val="75000"/>
                            </a:schemeClr>
                          </a:solidFill>
                          <a:effectLst/>
                          <a:latin typeface="SVN-Product Sans" panose="020B0403030502040203" pitchFamily="34" charset="0"/>
                          <a:ea typeface="+mn-ea"/>
                          <a:cs typeface="+mn-cs"/>
                          <a:sym typeface="Arial"/>
                          <a:hlinkClick r:id="rId4"/>
                        </a:rPr>
                        <a:t>Bản</a:t>
                      </a:r>
                      <a:r>
                        <a:rPr lang="en-US" sz="1100" b="0" i="0" u="sng" strike="noStrike" cap="none" dirty="0">
                          <a:solidFill>
                            <a:schemeClr val="accent1">
                              <a:lumMod val="75000"/>
                            </a:schemeClr>
                          </a:solidFill>
                          <a:effectLst/>
                          <a:latin typeface="SVN-Product Sans" panose="020B0403030502040203" pitchFamily="34" charset="0"/>
                          <a:ea typeface="+mn-ea"/>
                          <a:cs typeface="+mn-cs"/>
                          <a:sym typeface="Arial"/>
                          <a:hlinkClick r:id="rId4"/>
                        </a:rPr>
                        <a:t> tin </a:t>
                      </a:r>
                      <a:r>
                        <a:rPr lang="en-US" sz="1100" b="0" i="0" u="sng" strike="noStrike" cap="none" dirty="0" err="1">
                          <a:solidFill>
                            <a:schemeClr val="accent1">
                              <a:lumMod val="75000"/>
                            </a:schemeClr>
                          </a:solidFill>
                          <a:effectLst/>
                          <a:latin typeface="SVN-Product Sans" panose="020B0403030502040203" pitchFamily="34" charset="0"/>
                          <a:ea typeface="+mn-ea"/>
                          <a:cs typeface="+mn-cs"/>
                          <a:sym typeface="Arial"/>
                          <a:hlinkClick r:id="rId4"/>
                        </a:rPr>
                        <a:t>Tài</a:t>
                      </a:r>
                      <a:r>
                        <a:rPr lang="en-US" sz="1100" b="0" i="0" u="sng" strike="noStrike" cap="none" dirty="0">
                          <a:solidFill>
                            <a:schemeClr val="accent1">
                              <a:lumMod val="75000"/>
                            </a:schemeClr>
                          </a:solidFill>
                          <a:effectLst/>
                          <a:latin typeface="SVN-Product Sans" panose="020B0403030502040203" pitchFamily="34" charset="0"/>
                          <a:ea typeface="+mn-ea"/>
                          <a:cs typeface="+mn-cs"/>
                          <a:sym typeface="Arial"/>
                          <a:hlinkClick r:id="rId4"/>
                        </a:rPr>
                        <a:t> </a:t>
                      </a:r>
                      <a:r>
                        <a:rPr lang="en-US" sz="1100" b="0" i="0" u="sng" strike="noStrike" cap="none" dirty="0" err="1">
                          <a:solidFill>
                            <a:schemeClr val="accent1">
                              <a:lumMod val="75000"/>
                            </a:schemeClr>
                          </a:solidFill>
                          <a:effectLst/>
                          <a:latin typeface="SVN-Product Sans" panose="020B0403030502040203" pitchFamily="34" charset="0"/>
                          <a:ea typeface="+mn-ea"/>
                          <a:cs typeface="+mn-cs"/>
                          <a:sym typeface="Arial"/>
                          <a:hlinkClick r:id="rId4"/>
                        </a:rPr>
                        <a:t>chính</a:t>
                      </a:r>
                      <a:endParaRPr lang="en-US" sz="1100" b="0" i="0" u="sng" strike="noStrike" cap="none" dirty="0">
                        <a:solidFill>
                          <a:schemeClr val="accent1">
                            <a:lumMod val="75000"/>
                          </a:schemeClr>
                        </a:solidFill>
                        <a:effectLst/>
                        <a:latin typeface="SVN-Product Sans" panose="020B0403030502040203" pitchFamily="34" charset="0"/>
                        <a:ea typeface="+mn-ea"/>
                        <a:cs typeface="+mn-cs"/>
                        <a:sym typeface="Arial"/>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SVN-Product Sans" panose="020B0403030502040203" pitchFamily="34" charset="0"/>
                          <a:ea typeface="+mn-ea"/>
                          <a:cs typeface="+mn-cs"/>
                          <a:sym typeface="Arial"/>
                        </a:rPr>
                        <a:t>Facebook</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pPr>
                      <a:r>
                        <a:rPr lang="en-VN" sz="1100" b="0" i="0" u="none" strike="noStrike" cap="none" dirty="0">
                          <a:solidFill>
                            <a:srgbClr val="000000"/>
                          </a:solidFill>
                          <a:effectLst/>
                          <a:latin typeface="SVN-Product Sans" panose="020B0403030502040203" pitchFamily="34" charset="0"/>
                          <a:ea typeface="+mn-ea"/>
                          <a:cs typeface="+mn-cs"/>
                          <a:sym typeface="Arial"/>
                        </a:rPr>
                        <a:t>28,199</a:t>
                      </a:r>
                    </a:p>
                  </a:txBody>
                  <a:tcPr marL="9525" marR="9525" marT="9525" marB="0" anchor="ctr"/>
                </a:tc>
                <a:extLst>
                  <a:ext uri="{0D108BD9-81ED-4DB2-BD59-A6C34878D82A}">
                    <a16:rowId xmlns:a16="http://schemas.microsoft.com/office/drawing/2014/main" val="3678380097"/>
                  </a:ext>
                </a:extLst>
              </a:tr>
              <a:tr h="430630">
                <a:tc>
                  <a:txBody>
                    <a:bodyPr/>
                    <a:lstStyle/>
                    <a:p>
                      <a:pPr algn="ctr"/>
                      <a:r>
                        <a:rPr lang="en-US" sz="1200" b="0" i="0" u="none" strike="noStrike" kern="1200" cap="none" dirty="0">
                          <a:solidFill>
                            <a:schemeClr val="tx1">
                              <a:lumMod val="95000"/>
                              <a:lumOff val="5000"/>
                            </a:schemeClr>
                          </a:solidFill>
                          <a:latin typeface="SVN-Product Sans" panose="020B0403030502040203" pitchFamily="34" charset="0"/>
                          <a:ea typeface="+mn-ea"/>
                          <a:cs typeface="Arial" panose="020B0604020202020204" pitchFamily="34" charset="0"/>
                          <a:sym typeface="Josefin Sans Medium"/>
                        </a:rPr>
                        <a:t>4</a:t>
                      </a:r>
                    </a:p>
                  </a:txBody>
                  <a:tcPr anchor="ctr"/>
                </a:tc>
                <a:tc>
                  <a:txBody>
                    <a:bodyPr/>
                    <a:lstStyle/>
                    <a:p>
                      <a:pPr marR="0" algn="ctr" rtl="0" fontAlgn="b">
                        <a:lnSpc>
                          <a:spcPct val="100000"/>
                        </a:lnSpc>
                        <a:spcBef>
                          <a:spcPts val="0"/>
                        </a:spcBef>
                        <a:spcAft>
                          <a:spcPts val="0"/>
                        </a:spcAft>
                        <a:buClr>
                          <a:srgbClr val="000000"/>
                        </a:buClr>
                        <a:buFont typeface="Arial"/>
                      </a:pPr>
                      <a:r>
                        <a:rPr lang="en-US" sz="1100" b="0" i="0" u="sng" strike="noStrike" cap="none" dirty="0" err="1">
                          <a:solidFill>
                            <a:schemeClr val="accent1">
                              <a:lumMod val="75000"/>
                            </a:schemeClr>
                          </a:solidFill>
                          <a:effectLst/>
                          <a:latin typeface="SVN-Product Sans" panose="020B0403030502040203" pitchFamily="34" charset="0"/>
                          <a:ea typeface="+mn-ea"/>
                          <a:cs typeface="+mn-cs"/>
                          <a:sym typeface="Arial"/>
                          <a:hlinkClick r:id="rId5"/>
                        </a:rPr>
                        <a:t>Hà</a:t>
                      </a:r>
                      <a:r>
                        <a:rPr lang="en-US" sz="1100" b="0" i="0" u="sng" strike="noStrike" cap="none" dirty="0">
                          <a:solidFill>
                            <a:schemeClr val="accent1">
                              <a:lumMod val="75000"/>
                            </a:schemeClr>
                          </a:solidFill>
                          <a:effectLst/>
                          <a:latin typeface="SVN-Product Sans" panose="020B0403030502040203" pitchFamily="34" charset="0"/>
                          <a:ea typeface="+mn-ea"/>
                          <a:cs typeface="+mn-cs"/>
                          <a:sym typeface="Arial"/>
                          <a:hlinkClick r:id="rId5"/>
                        </a:rPr>
                        <a:t> </a:t>
                      </a:r>
                      <a:r>
                        <a:rPr lang="en-US" sz="1100" b="0" i="0" u="sng" strike="noStrike" cap="none" dirty="0" err="1">
                          <a:solidFill>
                            <a:schemeClr val="accent1">
                              <a:lumMod val="75000"/>
                            </a:schemeClr>
                          </a:solidFill>
                          <a:effectLst/>
                          <a:latin typeface="SVN-Product Sans" panose="020B0403030502040203" pitchFamily="34" charset="0"/>
                          <a:ea typeface="+mn-ea"/>
                          <a:cs typeface="+mn-cs"/>
                          <a:sym typeface="Arial"/>
                          <a:hlinkClick r:id="rId5"/>
                        </a:rPr>
                        <a:t>Nội</a:t>
                      </a:r>
                      <a:r>
                        <a:rPr lang="en-US" sz="1100" b="0" i="0" u="sng" strike="noStrike" cap="none" dirty="0">
                          <a:solidFill>
                            <a:schemeClr val="accent1">
                              <a:lumMod val="75000"/>
                            </a:schemeClr>
                          </a:solidFill>
                          <a:effectLst/>
                          <a:latin typeface="SVN-Product Sans" panose="020B0403030502040203" pitchFamily="34" charset="0"/>
                          <a:ea typeface="+mn-ea"/>
                          <a:cs typeface="+mn-cs"/>
                          <a:sym typeface="Arial"/>
                          <a:hlinkClick r:id="rId5"/>
                        </a:rPr>
                        <a:t> Deus</a:t>
                      </a:r>
                      <a:endParaRPr lang="en-US" sz="1100" b="0" i="0" u="sng" strike="noStrike" cap="none" dirty="0">
                        <a:solidFill>
                          <a:schemeClr val="accent1">
                            <a:lumMod val="75000"/>
                          </a:schemeClr>
                        </a:solidFill>
                        <a:effectLst/>
                        <a:latin typeface="SVN-Product Sans" panose="020B0403030502040203" pitchFamily="34" charset="0"/>
                        <a:ea typeface="+mn-ea"/>
                        <a:cs typeface="+mn-cs"/>
                        <a:sym typeface="Arial"/>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SVN-Product Sans" panose="020B0403030502040203" pitchFamily="34" charset="0"/>
                          <a:ea typeface="+mn-ea"/>
                          <a:cs typeface="+mn-cs"/>
                          <a:sym typeface="Arial"/>
                        </a:rPr>
                        <a:t>Facebook</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pPr>
                      <a:r>
                        <a:rPr lang="en-VN" sz="1100" b="0" i="0" u="none" strike="noStrike" cap="none" dirty="0">
                          <a:solidFill>
                            <a:srgbClr val="000000"/>
                          </a:solidFill>
                          <a:effectLst/>
                          <a:latin typeface="SVN-Product Sans" panose="020B0403030502040203" pitchFamily="34" charset="0"/>
                          <a:ea typeface="+mn-ea"/>
                          <a:cs typeface="+mn-cs"/>
                          <a:sym typeface="Arial"/>
                        </a:rPr>
                        <a:t>19,510</a:t>
                      </a:r>
                    </a:p>
                  </a:txBody>
                  <a:tcPr marL="9525" marR="9525" marT="9525" marB="0" anchor="ctr"/>
                </a:tc>
                <a:extLst>
                  <a:ext uri="{0D108BD9-81ED-4DB2-BD59-A6C34878D82A}">
                    <a16:rowId xmlns:a16="http://schemas.microsoft.com/office/drawing/2014/main" val="3309361045"/>
                  </a:ext>
                </a:extLst>
              </a:tr>
              <a:tr h="460329">
                <a:tc>
                  <a:txBody>
                    <a:bodyPr/>
                    <a:lstStyle/>
                    <a:p>
                      <a:pPr algn="ctr"/>
                      <a:r>
                        <a:rPr lang="en-US" sz="1200" b="0" i="0" u="none" strike="noStrike" kern="1200" cap="none" dirty="0">
                          <a:solidFill>
                            <a:schemeClr val="tx1">
                              <a:lumMod val="95000"/>
                              <a:lumOff val="5000"/>
                            </a:schemeClr>
                          </a:solidFill>
                          <a:latin typeface="SVN-Product Sans" panose="020B0403030502040203" pitchFamily="34" charset="0"/>
                          <a:ea typeface="+mn-ea"/>
                          <a:cs typeface="Arial" panose="020B0604020202020204" pitchFamily="34" charset="0"/>
                          <a:sym typeface="Josefin Sans Medium"/>
                        </a:rPr>
                        <a:t>5</a:t>
                      </a:r>
                    </a:p>
                  </a:txBody>
                  <a:tcPr anchor="ctr"/>
                </a:tc>
                <a:tc>
                  <a:txBody>
                    <a:bodyPr/>
                    <a:lstStyle/>
                    <a:p>
                      <a:pPr marR="0" algn="ctr" rtl="0" fontAlgn="b">
                        <a:lnSpc>
                          <a:spcPct val="100000"/>
                        </a:lnSpc>
                        <a:spcBef>
                          <a:spcPts val="0"/>
                        </a:spcBef>
                        <a:spcAft>
                          <a:spcPts val="0"/>
                        </a:spcAft>
                        <a:buClr>
                          <a:srgbClr val="000000"/>
                        </a:buClr>
                        <a:buFont typeface="Arial"/>
                      </a:pPr>
                      <a:r>
                        <a:rPr lang="en-US" sz="1100" b="0" i="0" u="sng" strike="noStrike" cap="none" dirty="0">
                          <a:solidFill>
                            <a:schemeClr val="accent1">
                              <a:lumMod val="75000"/>
                            </a:schemeClr>
                          </a:solidFill>
                          <a:effectLst/>
                          <a:latin typeface="SVN-Product Sans" panose="020B0403030502040203" pitchFamily="34" charset="0"/>
                          <a:ea typeface="+mn-ea"/>
                          <a:cs typeface="+mn-cs"/>
                          <a:sym typeface="Arial"/>
                          <a:hlinkClick r:id="rId6"/>
                        </a:rPr>
                        <a:t>VTV24</a:t>
                      </a:r>
                      <a:endParaRPr lang="en-US" sz="1100" b="0" i="0" u="sng" strike="noStrike" cap="none" dirty="0">
                        <a:solidFill>
                          <a:schemeClr val="accent1">
                            <a:lumMod val="75000"/>
                          </a:schemeClr>
                        </a:solidFill>
                        <a:effectLst/>
                        <a:latin typeface="SVN-Product Sans" panose="020B0403030502040203" pitchFamily="34" charset="0"/>
                        <a:ea typeface="+mn-ea"/>
                        <a:cs typeface="+mn-cs"/>
                        <a:sym typeface="Arial"/>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SVN-Product Sans" panose="020B0403030502040203" pitchFamily="34" charset="0"/>
                          <a:ea typeface="+mn-ea"/>
                          <a:cs typeface="+mn-cs"/>
                          <a:sym typeface="Arial"/>
                        </a:rPr>
                        <a:t>Facebook</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pPr>
                      <a:r>
                        <a:rPr lang="en-VN" sz="1100" b="0" i="0" u="none" strike="noStrike" cap="none" dirty="0">
                          <a:solidFill>
                            <a:srgbClr val="000000"/>
                          </a:solidFill>
                          <a:effectLst/>
                          <a:latin typeface="SVN-Product Sans" panose="020B0403030502040203" pitchFamily="34" charset="0"/>
                          <a:ea typeface="+mn-ea"/>
                          <a:cs typeface="+mn-cs"/>
                          <a:sym typeface="Arial"/>
                        </a:rPr>
                        <a:t>11,848</a:t>
                      </a:r>
                    </a:p>
                  </a:txBody>
                  <a:tcPr marL="9525" marR="9525" marT="9525" marB="0" anchor="ctr"/>
                </a:tc>
                <a:extLst>
                  <a:ext uri="{0D108BD9-81ED-4DB2-BD59-A6C34878D82A}">
                    <a16:rowId xmlns:a16="http://schemas.microsoft.com/office/drawing/2014/main" val="3472373572"/>
                  </a:ext>
                </a:extLst>
              </a:tr>
              <a:tr h="445481">
                <a:tc>
                  <a:txBody>
                    <a:bodyPr/>
                    <a:lstStyle/>
                    <a:p>
                      <a:pPr algn="ctr"/>
                      <a:r>
                        <a:rPr lang="en-US" sz="1200" b="0" i="0" u="none" strike="noStrike" kern="1200" cap="none" dirty="0">
                          <a:solidFill>
                            <a:schemeClr val="tx1">
                              <a:lumMod val="95000"/>
                              <a:lumOff val="5000"/>
                            </a:schemeClr>
                          </a:solidFill>
                          <a:latin typeface="SVN-Product Sans" panose="020B0403030502040203" pitchFamily="34" charset="0"/>
                          <a:ea typeface="+mn-ea"/>
                          <a:cs typeface="Arial" panose="020B0604020202020204" pitchFamily="34" charset="0"/>
                          <a:sym typeface="Josefin Sans Medium"/>
                        </a:rPr>
                        <a:t>6</a:t>
                      </a:r>
                    </a:p>
                  </a:txBody>
                  <a:tcPr anchor="ctr"/>
                </a:tc>
                <a:tc>
                  <a:txBody>
                    <a:bodyPr/>
                    <a:lstStyle/>
                    <a:p>
                      <a:pPr marR="0" algn="ctr" rtl="0" fontAlgn="b">
                        <a:lnSpc>
                          <a:spcPct val="100000"/>
                        </a:lnSpc>
                        <a:spcBef>
                          <a:spcPts val="0"/>
                        </a:spcBef>
                        <a:spcAft>
                          <a:spcPts val="0"/>
                        </a:spcAft>
                        <a:buClr>
                          <a:srgbClr val="000000"/>
                        </a:buClr>
                        <a:buFont typeface="Arial"/>
                      </a:pPr>
                      <a:r>
                        <a:rPr lang="en-US" sz="1100" b="0" i="0" u="sng" strike="noStrike" cap="none" dirty="0" err="1">
                          <a:solidFill>
                            <a:schemeClr val="accent1">
                              <a:lumMod val="75000"/>
                            </a:schemeClr>
                          </a:solidFill>
                          <a:effectLst/>
                          <a:latin typeface="SVN-Product Sans" panose="020B0403030502040203" pitchFamily="34" charset="0"/>
                          <a:ea typeface="+mn-ea"/>
                          <a:cs typeface="+mn-cs"/>
                          <a:sym typeface="Arial"/>
                          <a:hlinkClick r:id="rId7"/>
                        </a:rPr>
                        <a:t>Ngọc</a:t>
                      </a:r>
                      <a:r>
                        <a:rPr lang="en-US" sz="1100" b="0" i="0" u="sng" strike="noStrike" cap="none" dirty="0">
                          <a:solidFill>
                            <a:schemeClr val="accent1">
                              <a:lumMod val="75000"/>
                            </a:schemeClr>
                          </a:solidFill>
                          <a:effectLst/>
                          <a:latin typeface="SVN-Product Sans" panose="020B0403030502040203" pitchFamily="34" charset="0"/>
                          <a:ea typeface="+mn-ea"/>
                          <a:cs typeface="+mn-cs"/>
                          <a:sym typeface="Arial"/>
                          <a:hlinkClick r:id="rId7"/>
                        </a:rPr>
                        <a:t> </a:t>
                      </a:r>
                      <a:r>
                        <a:rPr lang="en-US" sz="1100" b="0" i="0" u="sng" strike="noStrike" cap="none" dirty="0" err="1">
                          <a:solidFill>
                            <a:schemeClr val="accent1">
                              <a:lumMod val="75000"/>
                            </a:schemeClr>
                          </a:solidFill>
                          <a:effectLst/>
                          <a:latin typeface="SVN-Product Sans" panose="020B0403030502040203" pitchFamily="34" charset="0"/>
                          <a:ea typeface="+mn-ea"/>
                          <a:cs typeface="+mn-cs"/>
                          <a:sym typeface="Arial"/>
                          <a:hlinkClick r:id="rId7"/>
                        </a:rPr>
                        <a:t>Quế</a:t>
                      </a:r>
                      <a:endParaRPr lang="en-US" sz="1100" b="0" i="0" u="sng" strike="noStrike" cap="none" dirty="0">
                        <a:solidFill>
                          <a:schemeClr val="accent1">
                            <a:lumMod val="75000"/>
                          </a:schemeClr>
                        </a:solidFill>
                        <a:effectLst/>
                        <a:latin typeface="SVN-Product Sans" panose="020B0403030502040203" pitchFamily="34" charset="0"/>
                        <a:ea typeface="+mn-ea"/>
                        <a:cs typeface="+mn-cs"/>
                        <a:sym typeface="Arial"/>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SVN-Product Sans" panose="020B0403030502040203" pitchFamily="34" charset="0"/>
                          <a:ea typeface="+mn-ea"/>
                          <a:cs typeface="+mn-cs"/>
                          <a:sym typeface="Arial"/>
                        </a:rPr>
                        <a:t>Facebook</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pPr>
                      <a:r>
                        <a:rPr lang="en-VN" sz="1100" b="0" i="0" u="none" strike="noStrike" cap="none" dirty="0">
                          <a:solidFill>
                            <a:srgbClr val="000000"/>
                          </a:solidFill>
                          <a:effectLst/>
                          <a:latin typeface="SVN-Product Sans" panose="020B0403030502040203" pitchFamily="34" charset="0"/>
                          <a:ea typeface="+mn-ea"/>
                          <a:cs typeface="+mn-cs"/>
                          <a:sym typeface="Arial"/>
                        </a:rPr>
                        <a:t>11,752</a:t>
                      </a:r>
                    </a:p>
                  </a:txBody>
                  <a:tcPr marL="9525" marR="9525" marT="9525" marB="0" anchor="ctr"/>
                </a:tc>
                <a:extLst>
                  <a:ext uri="{0D108BD9-81ED-4DB2-BD59-A6C34878D82A}">
                    <a16:rowId xmlns:a16="http://schemas.microsoft.com/office/drawing/2014/main" val="3616125211"/>
                  </a:ext>
                </a:extLst>
              </a:tr>
              <a:tr h="504877">
                <a:tc>
                  <a:txBody>
                    <a:bodyPr/>
                    <a:lstStyle/>
                    <a:p>
                      <a:pPr algn="ctr"/>
                      <a:r>
                        <a:rPr lang="en-US" sz="1200" b="0" i="0" u="none" strike="noStrike" kern="1200" cap="none" dirty="0">
                          <a:solidFill>
                            <a:schemeClr val="tx1">
                              <a:lumMod val="95000"/>
                              <a:lumOff val="5000"/>
                            </a:schemeClr>
                          </a:solidFill>
                          <a:latin typeface="SVN-Product Sans" panose="020B0403030502040203" pitchFamily="34" charset="0"/>
                          <a:ea typeface="+mn-ea"/>
                          <a:cs typeface="Arial" panose="020B0604020202020204" pitchFamily="34" charset="0"/>
                          <a:sym typeface="Josefin Sans Medium"/>
                        </a:rPr>
                        <a:t>7</a:t>
                      </a:r>
                    </a:p>
                  </a:txBody>
                  <a:tcPr anchor="ctr"/>
                </a:tc>
                <a:tc>
                  <a:txBody>
                    <a:bodyPr/>
                    <a:lstStyle/>
                    <a:p>
                      <a:pPr marR="0" algn="ctr" rtl="0" fontAlgn="b">
                        <a:lnSpc>
                          <a:spcPct val="100000"/>
                        </a:lnSpc>
                        <a:spcBef>
                          <a:spcPts val="0"/>
                        </a:spcBef>
                        <a:spcAft>
                          <a:spcPts val="0"/>
                        </a:spcAft>
                        <a:buClr>
                          <a:srgbClr val="000000"/>
                        </a:buClr>
                        <a:buFont typeface="Arial"/>
                      </a:pPr>
                      <a:r>
                        <a:rPr lang="en-US" sz="1100" b="0" i="0" u="sng" strike="noStrike" cap="none" dirty="0" err="1">
                          <a:solidFill>
                            <a:schemeClr val="accent1">
                              <a:lumMod val="75000"/>
                            </a:schemeClr>
                          </a:solidFill>
                          <a:effectLst/>
                          <a:latin typeface="SVN-Product Sans" panose="020B0403030502040203" pitchFamily="34" charset="0"/>
                          <a:ea typeface="+mn-ea"/>
                          <a:cs typeface="+mn-cs"/>
                          <a:sym typeface="Arial"/>
                          <a:hlinkClick r:id="rId8"/>
                        </a:rPr>
                        <a:t>Thời</a:t>
                      </a:r>
                      <a:r>
                        <a:rPr lang="en-US" sz="1100" b="0" i="0" u="sng" strike="noStrike" cap="none" dirty="0">
                          <a:solidFill>
                            <a:schemeClr val="accent1">
                              <a:lumMod val="75000"/>
                            </a:schemeClr>
                          </a:solidFill>
                          <a:effectLst/>
                          <a:latin typeface="SVN-Product Sans" panose="020B0403030502040203" pitchFamily="34" charset="0"/>
                          <a:ea typeface="+mn-ea"/>
                          <a:cs typeface="+mn-cs"/>
                          <a:sym typeface="Arial"/>
                          <a:hlinkClick r:id="rId8"/>
                        </a:rPr>
                        <a:t> </a:t>
                      </a:r>
                      <a:r>
                        <a:rPr lang="en-US" sz="1100" b="0" i="0" u="sng" strike="noStrike" cap="none" dirty="0" err="1">
                          <a:solidFill>
                            <a:schemeClr val="accent1">
                              <a:lumMod val="75000"/>
                            </a:schemeClr>
                          </a:solidFill>
                          <a:effectLst/>
                          <a:latin typeface="SVN-Product Sans" panose="020B0403030502040203" pitchFamily="34" charset="0"/>
                          <a:ea typeface="+mn-ea"/>
                          <a:cs typeface="+mn-cs"/>
                          <a:sym typeface="Arial"/>
                          <a:hlinkClick r:id="rId8"/>
                        </a:rPr>
                        <a:t>báo</a:t>
                      </a:r>
                      <a:r>
                        <a:rPr lang="en-US" sz="1100" b="0" i="0" u="sng" strike="noStrike" cap="none" dirty="0">
                          <a:solidFill>
                            <a:schemeClr val="accent1">
                              <a:lumMod val="75000"/>
                            </a:schemeClr>
                          </a:solidFill>
                          <a:effectLst/>
                          <a:latin typeface="SVN-Product Sans" panose="020B0403030502040203" pitchFamily="34" charset="0"/>
                          <a:ea typeface="+mn-ea"/>
                          <a:cs typeface="+mn-cs"/>
                          <a:sym typeface="Arial"/>
                          <a:hlinkClick r:id="rId8"/>
                        </a:rPr>
                        <a:t> </a:t>
                      </a:r>
                      <a:r>
                        <a:rPr lang="en-US" sz="1100" b="0" i="0" u="sng" strike="noStrike" cap="none" dirty="0" err="1">
                          <a:solidFill>
                            <a:schemeClr val="accent1">
                              <a:lumMod val="75000"/>
                            </a:schemeClr>
                          </a:solidFill>
                          <a:effectLst/>
                          <a:latin typeface="SVN-Product Sans" panose="020B0403030502040203" pitchFamily="34" charset="0"/>
                          <a:ea typeface="+mn-ea"/>
                          <a:cs typeface="+mn-cs"/>
                          <a:sym typeface="Arial"/>
                          <a:hlinkClick r:id="rId8"/>
                        </a:rPr>
                        <a:t>Ngân</a:t>
                      </a:r>
                      <a:r>
                        <a:rPr lang="en-US" sz="1100" b="0" i="0" u="sng" strike="noStrike" cap="none" dirty="0">
                          <a:solidFill>
                            <a:schemeClr val="accent1">
                              <a:lumMod val="75000"/>
                            </a:schemeClr>
                          </a:solidFill>
                          <a:effectLst/>
                          <a:latin typeface="SVN-Product Sans" panose="020B0403030502040203" pitchFamily="34" charset="0"/>
                          <a:ea typeface="+mn-ea"/>
                          <a:cs typeface="+mn-cs"/>
                          <a:sym typeface="Arial"/>
                          <a:hlinkClick r:id="rId8"/>
                        </a:rPr>
                        <a:t> </a:t>
                      </a:r>
                      <a:r>
                        <a:rPr lang="en-US" sz="1100" b="0" i="0" u="sng" strike="noStrike" cap="none" dirty="0" err="1">
                          <a:solidFill>
                            <a:schemeClr val="accent1">
                              <a:lumMod val="75000"/>
                            </a:schemeClr>
                          </a:solidFill>
                          <a:effectLst/>
                          <a:latin typeface="SVN-Product Sans" panose="020B0403030502040203" pitchFamily="34" charset="0"/>
                          <a:ea typeface="+mn-ea"/>
                          <a:cs typeface="+mn-cs"/>
                          <a:sym typeface="Arial"/>
                          <a:hlinkClick r:id="rId8"/>
                        </a:rPr>
                        <a:t>hàng</a:t>
                      </a:r>
                      <a:endParaRPr lang="en-US" sz="1100" b="0" i="0" u="sng" strike="noStrike" cap="none" dirty="0">
                        <a:solidFill>
                          <a:schemeClr val="accent1">
                            <a:lumMod val="75000"/>
                          </a:schemeClr>
                        </a:solidFill>
                        <a:effectLst/>
                        <a:latin typeface="SVN-Product Sans" panose="020B0403030502040203" pitchFamily="34" charset="0"/>
                        <a:ea typeface="+mn-ea"/>
                        <a:cs typeface="+mn-cs"/>
                        <a:sym typeface="Arial"/>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SVN-Product Sans" panose="020B0403030502040203" pitchFamily="34" charset="0"/>
                          <a:ea typeface="+mn-ea"/>
                          <a:cs typeface="+mn-cs"/>
                          <a:sym typeface="Arial"/>
                        </a:rPr>
                        <a:t>Facebook</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pPr>
                      <a:r>
                        <a:rPr lang="en-VN" sz="1100" b="0" i="0" u="none" strike="noStrike" cap="none" dirty="0">
                          <a:solidFill>
                            <a:srgbClr val="000000"/>
                          </a:solidFill>
                          <a:effectLst/>
                          <a:latin typeface="SVN-Product Sans" panose="020B0403030502040203" pitchFamily="34" charset="0"/>
                          <a:ea typeface="+mn-ea"/>
                          <a:cs typeface="+mn-cs"/>
                          <a:sym typeface="Arial"/>
                        </a:rPr>
                        <a:t>11,555</a:t>
                      </a:r>
                    </a:p>
                  </a:txBody>
                  <a:tcPr marL="9525" marR="9525" marT="9525" marB="0" anchor="ctr"/>
                </a:tc>
                <a:extLst>
                  <a:ext uri="{0D108BD9-81ED-4DB2-BD59-A6C34878D82A}">
                    <a16:rowId xmlns:a16="http://schemas.microsoft.com/office/drawing/2014/main" val="3229811523"/>
                  </a:ext>
                </a:extLst>
              </a:tr>
              <a:tr h="430631">
                <a:tc>
                  <a:txBody>
                    <a:bodyPr/>
                    <a:lstStyle/>
                    <a:p>
                      <a:pPr algn="ctr"/>
                      <a:r>
                        <a:rPr lang="en-US" sz="1200" b="0" i="0" u="none" strike="noStrike" kern="1200" cap="none" dirty="0">
                          <a:solidFill>
                            <a:schemeClr val="tx1">
                              <a:lumMod val="95000"/>
                              <a:lumOff val="5000"/>
                            </a:schemeClr>
                          </a:solidFill>
                          <a:latin typeface="SVN-Product Sans" panose="020B0403030502040203" pitchFamily="34" charset="0"/>
                          <a:ea typeface="+mn-ea"/>
                          <a:cs typeface="Arial" panose="020B0604020202020204" pitchFamily="34" charset="0"/>
                          <a:sym typeface="Josefin Sans Medium"/>
                        </a:rPr>
                        <a:t>8</a:t>
                      </a:r>
                    </a:p>
                  </a:txBody>
                  <a:tcPr anchor="ctr"/>
                </a:tc>
                <a:tc>
                  <a:txBody>
                    <a:bodyPr/>
                    <a:lstStyle/>
                    <a:p>
                      <a:pPr marR="0" algn="ctr" rtl="0" fontAlgn="b">
                        <a:lnSpc>
                          <a:spcPct val="100000"/>
                        </a:lnSpc>
                        <a:spcBef>
                          <a:spcPts val="0"/>
                        </a:spcBef>
                        <a:spcAft>
                          <a:spcPts val="0"/>
                        </a:spcAft>
                        <a:buClr>
                          <a:srgbClr val="000000"/>
                        </a:buClr>
                        <a:buFont typeface="Arial"/>
                      </a:pPr>
                      <a:r>
                        <a:rPr lang="en-US" sz="1100" b="0" i="0" u="sng" strike="noStrike" cap="none" dirty="0">
                          <a:solidFill>
                            <a:schemeClr val="accent1">
                              <a:lumMod val="75000"/>
                            </a:schemeClr>
                          </a:solidFill>
                          <a:effectLst/>
                          <a:latin typeface="SVN-Product Sans" panose="020B0403030502040203" pitchFamily="34" charset="0"/>
                          <a:ea typeface="+mn-ea"/>
                          <a:cs typeface="+mn-cs"/>
                          <a:sym typeface="Arial"/>
                          <a:hlinkClick r:id="rId9"/>
                        </a:rPr>
                        <a:t>kenh14official</a:t>
                      </a:r>
                      <a:endParaRPr lang="en-US" sz="1100" b="0" i="0" u="sng" strike="noStrike" cap="none" dirty="0">
                        <a:solidFill>
                          <a:schemeClr val="accent1">
                            <a:lumMod val="75000"/>
                          </a:schemeClr>
                        </a:solidFill>
                        <a:effectLst/>
                        <a:latin typeface="SVN-Product Sans" panose="020B0403030502040203" pitchFamily="34" charset="0"/>
                        <a:ea typeface="+mn-ea"/>
                        <a:cs typeface="+mn-cs"/>
                        <a:sym typeface="Arial"/>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SVN-Product Sans" panose="020B0403030502040203" pitchFamily="34" charset="0"/>
                          <a:ea typeface="+mn-ea"/>
                          <a:cs typeface="+mn-cs"/>
                          <a:sym typeface="Arial"/>
                        </a:rPr>
                        <a:t>Facebook</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pPr>
                      <a:r>
                        <a:rPr lang="en-VN" sz="1100" b="0" i="0" u="none" strike="noStrike" cap="none" dirty="0">
                          <a:solidFill>
                            <a:srgbClr val="000000"/>
                          </a:solidFill>
                          <a:effectLst/>
                          <a:latin typeface="SVN-Product Sans" panose="020B0403030502040203" pitchFamily="34" charset="0"/>
                          <a:ea typeface="+mn-ea"/>
                          <a:cs typeface="+mn-cs"/>
                          <a:sym typeface="Arial"/>
                        </a:rPr>
                        <a:t>11,380</a:t>
                      </a:r>
                    </a:p>
                  </a:txBody>
                  <a:tcPr marL="9525" marR="9525" marT="9525" marB="0" anchor="ctr"/>
                </a:tc>
                <a:extLst>
                  <a:ext uri="{0D108BD9-81ED-4DB2-BD59-A6C34878D82A}">
                    <a16:rowId xmlns:a16="http://schemas.microsoft.com/office/drawing/2014/main" val="1801580665"/>
                  </a:ext>
                </a:extLst>
              </a:tr>
              <a:tr h="504878">
                <a:tc>
                  <a:txBody>
                    <a:bodyPr/>
                    <a:lstStyle/>
                    <a:p>
                      <a:pPr algn="ctr"/>
                      <a:r>
                        <a:rPr lang="en-US" sz="1200" b="0" i="0" u="none" strike="noStrike" kern="1200" cap="none" dirty="0">
                          <a:solidFill>
                            <a:schemeClr val="tx1">
                              <a:lumMod val="95000"/>
                              <a:lumOff val="5000"/>
                            </a:schemeClr>
                          </a:solidFill>
                          <a:latin typeface="SVN-Product Sans" panose="020B0403030502040203" pitchFamily="34" charset="0"/>
                          <a:ea typeface="+mn-ea"/>
                          <a:cs typeface="Arial" panose="020B0604020202020204" pitchFamily="34" charset="0"/>
                          <a:sym typeface="Josefin Sans Medium"/>
                        </a:rPr>
                        <a:t>9</a:t>
                      </a:r>
                    </a:p>
                  </a:txBody>
                  <a:tcPr anchor="ctr"/>
                </a:tc>
                <a:tc>
                  <a:txBody>
                    <a:bodyPr/>
                    <a:lstStyle/>
                    <a:p>
                      <a:pPr marR="0" algn="ctr" rtl="0" fontAlgn="b">
                        <a:lnSpc>
                          <a:spcPct val="100000"/>
                        </a:lnSpc>
                        <a:spcBef>
                          <a:spcPts val="0"/>
                        </a:spcBef>
                        <a:spcAft>
                          <a:spcPts val="0"/>
                        </a:spcAft>
                        <a:buClr>
                          <a:srgbClr val="000000"/>
                        </a:buClr>
                        <a:buFont typeface="Arial"/>
                      </a:pPr>
                      <a:r>
                        <a:rPr lang="en-US" sz="1100" b="0" i="0" u="sng" strike="noStrike" cap="none" dirty="0" err="1">
                          <a:solidFill>
                            <a:schemeClr val="accent1">
                              <a:lumMod val="75000"/>
                            </a:schemeClr>
                          </a:solidFill>
                          <a:effectLst/>
                          <a:latin typeface="SVN-Product Sans" panose="020B0403030502040203" pitchFamily="34" charset="0"/>
                          <a:ea typeface="+mn-ea"/>
                          <a:cs typeface="+mn-cs"/>
                          <a:sym typeface="Arial"/>
                          <a:hlinkClick r:id="rId10"/>
                        </a:rPr>
                        <a:t>PewPew</a:t>
                      </a:r>
                      <a:endParaRPr lang="en-US" sz="1100" b="0" i="0" u="sng" strike="noStrike" cap="none" dirty="0">
                        <a:solidFill>
                          <a:schemeClr val="accent1">
                            <a:lumMod val="75000"/>
                          </a:schemeClr>
                        </a:solidFill>
                        <a:effectLst/>
                        <a:latin typeface="SVN-Product Sans" panose="020B0403030502040203" pitchFamily="34" charset="0"/>
                        <a:ea typeface="+mn-ea"/>
                        <a:cs typeface="+mn-cs"/>
                        <a:sym typeface="Arial"/>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SVN-Product Sans" panose="020B0403030502040203" pitchFamily="34" charset="0"/>
                          <a:ea typeface="+mn-ea"/>
                          <a:cs typeface="+mn-cs"/>
                          <a:sym typeface="Arial"/>
                        </a:rPr>
                        <a:t>Facebook</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pPr>
                      <a:r>
                        <a:rPr lang="en-VN" sz="1100" b="0" i="0" u="none" strike="noStrike" cap="none" dirty="0">
                          <a:solidFill>
                            <a:srgbClr val="000000"/>
                          </a:solidFill>
                          <a:effectLst/>
                          <a:latin typeface="SVN-Product Sans" panose="020B0403030502040203" pitchFamily="34" charset="0"/>
                          <a:ea typeface="+mn-ea"/>
                          <a:cs typeface="+mn-cs"/>
                          <a:sym typeface="Arial"/>
                        </a:rPr>
                        <a:t>10,858</a:t>
                      </a:r>
                    </a:p>
                  </a:txBody>
                  <a:tcPr marL="9525" marR="9525" marT="9525" marB="0" anchor="ctr"/>
                </a:tc>
                <a:extLst>
                  <a:ext uri="{0D108BD9-81ED-4DB2-BD59-A6C34878D82A}">
                    <a16:rowId xmlns:a16="http://schemas.microsoft.com/office/drawing/2014/main" val="1167825626"/>
                  </a:ext>
                </a:extLst>
              </a:tr>
              <a:tr h="475180">
                <a:tc>
                  <a:txBody>
                    <a:bodyPr/>
                    <a:lstStyle/>
                    <a:p>
                      <a:pPr algn="ctr"/>
                      <a:r>
                        <a:rPr lang="en-US" sz="1200" b="0" i="0" u="none" strike="noStrike" kern="1200" cap="none" dirty="0">
                          <a:solidFill>
                            <a:schemeClr val="tx1">
                              <a:lumMod val="95000"/>
                              <a:lumOff val="5000"/>
                            </a:schemeClr>
                          </a:solidFill>
                          <a:latin typeface="SVN-Product Sans" panose="020B0403030502040203" pitchFamily="34" charset="0"/>
                          <a:ea typeface="+mn-ea"/>
                          <a:cs typeface="Arial" panose="020B0604020202020204" pitchFamily="34" charset="0"/>
                          <a:sym typeface="Josefin Sans Medium"/>
                        </a:rPr>
                        <a:t>10</a:t>
                      </a:r>
                    </a:p>
                  </a:txBody>
                  <a:tcPr anchor="ctr"/>
                </a:tc>
                <a:tc>
                  <a:txBody>
                    <a:bodyPr/>
                    <a:lstStyle/>
                    <a:p>
                      <a:pPr marR="0" algn="ctr" rtl="0" fontAlgn="b">
                        <a:lnSpc>
                          <a:spcPct val="100000"/>
                        </a:lnSpc>
                        <a:spcBef>
                          <a:spcPts val="0"/>
                        </a:spcBef>
                        <a:spcAft>
                          <a:spcPts val="0"/>
                        </a:spcAft>
                        <a:buClr>
                          <a:srgbClr val="000000"/>
                        </a:buClr>
                        <a:buFont typeface="Arial"/>
                      </a:pPr>
                      <a:r>
                        <a:rPr lang="en-US" sz="1100" b="0" i="0" u="sng" strike="noStrike" cap="none" dirty="0">
                          <a:solidFill>
                            <a:schemeClr val="accent1">
                              <a:lumMod val="75000"/>
                            </a:schemeClr>
                          </a:solidFill>
                          <a:effectLst/>
                          <a:latin typeface="SVN-Product Sans" panose="020B0403030502040203" pitchFamily="34" charset="0"/>
                          <a:ea typeface="+mn-ea"/>
                          <a:cs typeface="+mn-cs"/>
                          <a:sym typeface="Arial"/>
                          <a:hlinkClick r:id="rId11"/>
                        </a:rPr>
                        <a:t>Gia Lai News</a:t>
                      </a:r>
                      <a:endParaRPr lang="en-US" sz="1100" b="0" i="0" u="sng" strike="noStrike" cap="none" dirty="0">
                        <a:solidFill>
                          <a:schemeClr val="accent1">
                            <a:lumMod val="75000"/>
                          </a:schemeClr>
                        </a:solidFill>
                        <a:effectLst/>
                        <a:latin typeface="SVN-Product Sans" panose="020B0403030502040203" pitchFamily="34" charset="0"/>
                        <a:ea typeface="+mn-ea"/>
                        <a:cs typeface="+mn-cs"/>
                        <a:sym typeface="Arial"/>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SVN-Product Sans" panose="020B0403030502040203" pitchFamily="34" charset="0"/>
                          <a:ea typeface="+mn-ea"/>
                          <a:cs typeface="+mn-cs"/>
                          <a:sym typeface="Arial"/>
                        </a:rPr>
                        <a:t>Facebook</a:t>
                      </a:r>
                    </a:p>
                  </a:txBody>
                  <a:tcPr marL="9525" marR="9525" marT="9525" marB="0" anchor="ctr"/>
                </a:tc>
                <a:tc>
                  <a:txBody>
                    <a:bodyPr/>
                    <a:lstStyle/>
                    <a:p>
                      <a:pPr marR="0" algn="ctr" rtl="0" fontAlgn="b">
                        <a:lnSpc>
                          <a:spcPct val="100000"/>
                        </a:lnSpc>
                        <a:spcBef>
                          <a:spcPts val="0"/>
                        </a:spcBef>
                        <a:spcAft>
                          <a:spcPts val="0"/>
                        </a:spcAft>
                        <a:buClr>
                          <a:srgbClr val="000000"/>
                        </a:buClr>
                        <a:buFont typeface="Arial"/>
                      </a:pPr>
                      <a:r>
                        <a:rPr lang="en-VN" sz="1100" b="0" i="0" u="none" strike="noStrike" cap="none" dirty="0">
                          <a:solidFill>
                            <a:srgbClr val="000000"/>
                          </a:solidFill>
                          <a:effectLst/>
                          <a:latin typeface="SVN-Product Sans" panose="020B0403030502040203" pitchFamily="34" charset="0"/>
                          <a:ea typeface="+mn-ea"/>
                          <a:cs typeface="+mn-cs"/>
                          <a:sym typeface="Arial"/>
                        </a:rPr>
                        <a:t>10,299</a:t>
                      </a:r>
                    </a:p>
                  </a:txBody>
                  <a:tcPr marL="9525" marR="9525" marT="9525" marB="0" anchor="ctr"/>
                </a:tc>
                <a:extLst>
                  <a:ext uri="{0D108BD9-81ED-4DB2-BD59-A6C34878D82A}">
                    <a16:rowId xmlns:a16="http://schemas.microsoft.com/office/drawing/2014/main" val="566348141"/>
                  </a:ext>
                </a:extLst>
              </a:tr>
            </a:tbl>
          </a:graphicData>
        </a:graphic>
      </p:graphicFrame>
    </p:spTree>
    <p:extLst>
      <p:ext uri="{BB962C8B-B14F-4D97-AF65-F5344CB8AC3E}">
        <p14:creationId xmlns:p14="http://schemas.microsoft.com/office/powerpoint/2010/main" val="1076001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20"/>
        <p:cNvGrpSpPr/>
        <p:nvPr/>
      </p:nvGrpSpPr>
      <p:grpSpPr>
        <a:xfrm>
          <a:off x="0" y="0"/>
          <a:ext cx="0" cy="0"/>
          <a:chOff x="0" y="0"/>
          <a:chExt cx="0" cy="0"/>
        </a:xfrm>
      </p:grpSpPr>
      <p:sp>
        <p:nvSpPr>
          <p:cNvPr id="2739" name="Google Shape;2739;p62"/>
          <p:cNvSpPr txBox="1"/>
          <p:nvPr/>
        </p:nvSpPr>
        <p:spPr>
          <a:xfrm>
            <a:off x="560802" y="444629"/>
            <a:ext cx="11070396" cy="323125"/>
          </a:xfrm>
          <a:prstGeom prst="rect">
            <a:avLst/>
          </a:prstGeom>
          <a:noFill/>
          <a:ln>
            <a:noFill/>
          </a:ln>
        </p:spPr>
        <p:txBody>
          <a:bodyPr spcFirstLastPara="1" wrap="square" lIns="91425" tIns="45700" rIns="91425" bIns="4570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500" b="1" kern="0" dirty="0">
                <a:solidFill>
                  <a:srgbClr val="158D4A"/>
                </a:solidFill>
                <a:latin typeface="SVN-Product Sans" panose="020B0403030502040203" pitchFamily="34" charset="0"/>
                <a:cs typeface="Arial"/>
                <a:sym typeface="Montserrat SemiBold"/>
              </a:rPr>
              <a:t>VP Bank</a:t>
            </a:r>
            <a:r>
              <a:rPr lang="en-US" sz="1500" b="1" kern="0" dirty="0">
                <a:solidFill>
                  <a:srgbClr val="131DD2"/>
                </a:solidFill>
                <a:latin typeface="SVN-Product Sans" panose="020B0403030502040203" pitchFamily="34" charset="0"/>
                <a:cs typeface="Arial"/>
                <a:sym typeface="Montserrat SemiBold"/>
              </a:rPr>
              <a:t>, MB Bank</a:t>
            </a:r>
            <a:r>
              <a:rPr kumimoji="0" lang="en-US" sz="1500" b="1" i="0" u="none" strike="noStrike" kern="0" cap="none" spc="0" normalizeH="0" baseline="0" noProof="0" dirty="0">
                <a:ln>
                  <a:noFill/>
                </a:ln>
                <a:solidFill>
                  <a:srgbClr val="3F3F3F"/>
                </a:solidFill>
                <a:effectLst/>
                <a:uLnTx/>
                <a:uFillTx/>
                <a:latin typeface="SVN-Product Sans" panose="020B0403030502040203" pitchFamily="34" charset="0"/>
                <a:cs typeface="Arial"/>
                <a:sym typeface="Montserrat SemiBold"/>
              </a:rPr>
              <a:t>, </a:t>
            </a:r>
            <a:r>
              <a:rPr kumimoji="0" lang="en-US" sz="1500" b="1" i="0" u="none" strike="noStrike" kern="0" cap="none" spc="0" normalizeH="0" baseline="0" noProof="0" dirty="0" err="1">
                <a:ln>
                  <a:noFill/>
                </a:ln>
                <a:solidFill>
                  <a:srgbClr val="F63840"/>
                </a:solidFill>
                <a:effectLst/>
                <a:uLnTx/>
                <a:uFillTx/>
                <a:latin typeface="SVN-Product Sans" panose="020B0403030502040203" pitchFamily="34" charset="0"/>
                <a:cs typeface="Arial"/>
                <a:sym typeface="Montserrat SemiBold"/>
              </a:rPr>
              <a:t>Techcombank</a:t>
            </a:r>
            <a:r>
              <a:rPr lang="en-US" sz="1500" b="1" kern="0" dirty="0">
                <a:solidFill>
                  <a:srgbClr val="3F3F3F"/>
                </a:solidFill>
                <a:latin typeface="SVN-Product Sans" panose="020B0403030502040203" pitchFamily="34" charset="0"/>
                <a:cs typeface="Arial"/>
                <a:sym typeface="Montserrat SemiBold"/>
              </a:rPr>
              <a:t> </a:t>
            </a:r>
            <a:r>
              <a:rPr kumimoji="0" lang="en-US" sz="1500" b="1" i="0" u="none" strike="noStrike" kern="0" cap="none" spc="0" normalizeH="0" baseline="0" noProof="0" dirty="0" err="1">
                <a:ln>
                  <a:noFill/>
                </a:ln>
                <a:solidFill>
                  <a:srgbClr val="3F3F3F"/>
                </a:solidFill>
                <a:effectLst/>
                <a:uLnTx/>
                <a:uFillTx/>
                <a:latin typeface="SVN-Product Sans" panose="020B0403030502040203" pitchFamily="34" charset="0"/>
                <a:ea typeface="Montserrat SemiBold"/>
                <a:cs typeface="Montserrat SemiBold"/>
                <a:sym typeface="Montserrat SemiBold"/>
              </a:rPr>
              <a:t>là</a:t>
            </a:r>
            <a:r>
              <a:rPr kumimoji="0" lang="en-US" sz="1500" b="1" i="0" u="none" strike="noStrike" kern="0" cap="none" spc="0" normalizeH="0" baseline="0" noProof="0" dirty="0">
                <a:ln>
                  <a:noFill/>
                </a:ln>
                <a:solidFill>
                  <a:srgbClr val="3F3F3F"/>
                </a:solidFill>
                <a:effectLst/>
                <a:uLnTx/>
                <a:uFillTx/>
                <a:latin typeface="SVN-Product Sans" panose="020B0403030502040203" pitchFamily="34" charset="0"/>
                <a:ea typeface="Montserrat SemiBold"/>
                <a:cs typeface="Montserrat SemiBold"/>
                <a:sym typeface="Montserrat SemiBold"/>
              </a:rPr>
              <a:t> </a:t>
            </a:r>
            <a:r>
              <a:rPr kumimoji="0" lang="en-US" sz="1500" b="1" i="0" u="none" strike="noStrike" kern="0" cap="none" spc="0" normalizeH="0" baseline="0" noProof="0" dirty="0" err="1">
                <a:ln>
                  <a:noFill/>
                </a:ln>
                <a:solidFill>
                  <a:srgbClr val="3F3F3F"/>
                </a:solidFill>
                <a:effectLst/>
                <a:uLnTx/>
                <a:uFillTx/>
                <a:latin typeface="SVN-Product Sans" panose="020B0403030502040203" pitchFamily="34" charset="0"/>
                <a:ea typeface="Montserrat SemiBold"/>
                <a:cs typeface="Montserrat SemiBold"/>
                <a:sym typeface="Montserrat SemiBold"/>
              </a:rPr>
              <a:t>những</a:t>
            </a:r>
            <a:r>
              <a:rPr kumimoji="0" lang="en-US" sz="1500" b="1" i="0" u="none" strike="noStrike" kern="0" cap="none" spc="0" normalizeH="0" baseline="0" noProof="0" dirty="0">
                <a:ln>
                  <a:noFill/>
                </a:ln>
                <a:solidFill>
                  <a:srgbClr val="3F3F3F"/>
                </a:solidFill>
                <a:effectLst/>
                <a:uLnTx/>
                <a:uFillTx/>
                <a:latin typeface="SVN-Product Sans" panose="020B0403030502040203" pitchFamily="34" charset="0"/>
                <a:ea typeface="Montserrat SemiBold"/>
                <a:cs typeface="Montserrat SemiBold"/>
                <a:sym typeface="Montserrat SemiBold"/>
              </a:rPr>
              <a:t> </a:t>
            </a:r>
            <a:r>
              <a:rPr kumimoji="0" lang="en-US" sz="1500" b="1" i="0" u="none" strike="noStrike" kern="0" cap="none" spc="0" normalizeH="0" baseline="0" noProof="0" dirty="0" err="1">
                <a:ln>
                  <a:noFill/>
                </a:ln>
                <a:solidFill>
                  <a:srgbClr val="3F3F3F"/>
                </a:solidFill>
                <a:effectLst/>
                <a:uLnTx/>
                <a:uFillTx/>
                <a:latin typeface="SVN-Product Sans" panose="020B0403030502040203" pitchFamily="34" charset="0"/>
                <a:ea typeface="Montserrat SemiBold"/>
                <a:cs typeface="Montserrat SemiBold"/>
                <a:sym typeface="Montserrat SemiBold"/>
              </a:rPr>
              <a:t>thương</a:t>
            </a:r>
            <a:r>
              <a:rPr kumimoji="0" lang="en-US" sz="1500" b="1" i="0" u="none" strike="noStrike" kern="0" cap="none" spc="0" normalizeH="0" baseline="0" noProof="0" dirty="0">
                <a:ln>
                  <a:noFill/>
                </a:ln>
                <a:solidFill>
                  <a:srgbClr val="3F3F3F"/>
                </a:solidFill>
                <a:effectLst/>
                <a:uLnTx/>
                <a:uFillTx/>
                <a:latin typeface="SVN-Product Sans" panose="020B0403030502040203" pitchFamily="34" charset="0"/>
                <a:ea typeface="Montserrat SemiBold"/>
                <a:cs typeface="Montserrat SemiBold"/>
                <a:sym typeface="Montserrat SemiBold"/>
              </a:rPr>
              <a:t> </a:t>
            </a:r>
            <a:r>
              <a:rPr kumimoji="0" lang="en-US" sz="1500" b="1" i="0" u="none" strike="noStrike" kern="0" cap="none" spc="0" normalizeH="0" baseline="0" noProof="0" dirty="0" err="1">
                <a:ln>
                  <a:noFill/>
                </a:ln>
                <a:solidFill>
                  <a:srgbClr val="3F3F3F"/>
                </a:solidFill>
                <a:effectLst/>
                <a:uLnTx/>
                <a:uFillTx/>
                <a:latin typeface="SVN-Product Sans" panose="020B0403030502040203" pitchFamily="34" charset="0"/>
                <a:ea typeface="Montserrat SemiBold"/>
                <a:cs typeface="Montserrat SemiBold"/>
                <a:sym typeface="Montserrat SemiBold"/>
              </a:rPr>
              <a:t>hiệu</a:t>
            </a:r>
            <a:r>
              <a:rPr kumimoji="0" lang="en-US" sz="1500" b="1" i="0" u="none" strike="noStrike" kern="0" cap="none" spc="0" normalizeH="0" baseline="0" noProof="0" dirty="0">
                <a:ln>
                  <a:noFill/>
                </a:ln>
                <a:solidFill>
                  <a:srgbClr val="3F3F3F"/>
                </a:solidFill>
                <a:effectLst/>
                <a:uLnTx/>
                <a:uFillTx/>
                <a:latin typeface="SVN-Product Sans" panose="020B0403030502040203" pitchFamily="34" charset="0"/>
                <a:ea typeface="Montserrat SemiBold"/>
                <a:cs typeface="Montserrat SemiBold"/>
                <a:sym typeface="Montserrat SemiBold"/>
              </a:rPr>
              <a:t> </a:t>
            </a:r>
            <a:r>
              <a:rPr kumimoji="0" lang="en-US" sz="1500" b="1" i="0" u="none" strike="noStrike" kern="0" cap="none" spc="0" normalizeH="0" baseline="0" noProof="0" dirty="0" err="1">
                <a:ln>
                  <a:noFill/>
                </a:ln>
                <a:solidFill>
                  <a:srgbClr val="3F3F3F"/>
                </a:solidFill>
                <a:effectLst/>
                <a:uLnTx/>
                <a:uFillTx/>
                <a:latin typeface="SVN-Product Sans" panose="020B0403030502040203" pitchFamily="34" charset="0"/>
                <a:ea typeface="Montserrat SemiBold"/>
                <a:cs typeface="Montserrat SemiBold"/>
                <a:sym typeface="Montserrat SemiBold"/>
              </a:rPr>
              <a:t>có</a:t>
            </a:r>
            <a:r>
              <a:rPr kumimoji="0" lang="en-US" sz="1500" b="1" i="0" u="none" strike="noStrike" kern="0" cap="none" spc="0" normalizeH="0" baseline="0" noProof="0" dirty="0">
                <a:ln>
                  <a:noFill/>
                </a:ln>
                <a:solidFill>
                  <a:srgbClr val="3F3F3F"/>
                </a:solidFill>
                <a:effectLst/>
                <a:uLnTx/>
                <a:uFillTx/>
                <a:latin typeface="SVN-Product Sans" panose="020B0403030502040203" pitchFamily="34" charset="0"/>
                <a:ea typeface="Montserrat SemiBold"/>
                <a:cs typeface="Montserrat SemiBold"/>
                <a:sym typeface="Montserrat SemiBold"/>
              </a:rPr>
              <a:t> </a:t>
            </a:r>
            <a:r>
              <a:rPr kumimoji="0" lang="en-US" sz="1500" b="1" i="0" u="none" strike="noStrike" kern="0" cap="none" spc="0" normalizeH="0" baseline="0" noProof="0" dirty="0" err="1">
                <a:ln>
                  <a:noFill/>
                </a:ln>
                <a:solidFill>
                  <a:srgbClr val="3F3F3F"/>
                </a:solidFill>
                <a:effectLst/>
                <a:uLnTx/>
                <a:uFillTx/>
                <a:latin typeface="SVN-Product Sans" panose="020B0403030502040203" pitchFamily="34" charset="0"/>
                <a:ea typeface="Montserrat SemiBold"/>
                <a:cs typeface="Montserrat SemiBold"/>
                <a:sym typeface="Montserrat SemiBold"/>
              </a:rPr>
              <a:t>chỉ</a:t>
            </a:r>
            <a:r>
              <a:rPr kumimoji="0" lang="en-US" sz="1500" b="1" i="0" u="none" strike="noStrike" kern="0" cap="none" spc="0" normalizeH="0" baseline="0" noProof="0" dirty="0">
                <a:ln>
                  <a:noFill/>
                </a:ln>
                <a:solidFill>
                  <a:srgbClr val="3F3F3F"/>
                </a:solidFill>
                <a:effectLst/>
                <a:uLnTx/>
                <a:uFillTx/>
                <a:latin typeface="SVN-Product Sans" panose="020B0403030502040203" pitchFamily="34" charset="0"/>
                <a:ea typeface="Montserrat SemiBold"/>
                <a:cs typeface="Montserrat SemiBold"/>
                <a:sym typeface="Montserrat SemiBold"/>
              </a:rPr>
              <a:t> </a:t>
            </a:r>
            <a:r>
              <a:rPr kumimoji="0" lang="en-US" sz="1500" b="1" i="0" u="none" strike="noStrike" kern="0" cap="none" spc="0" normalizeH="0" baseline="0" noProof="0" dirty="0" err="1">
                <a:ln>
                  <a:noFill/>
                </a:ln>
                <a:solidFill>
                  <a:srgbClr val="3F3F3F"/>
                </a:solidFill>
                <a:effectLst/>
                <a:uLnTx/>
                <a:uFillTx/>
                <a:latin typeface="SVN-Product Sans" panose="020B0403030502040203" pitchFamily="34" charset="0"/>
                <a:ea typeface="Montserrat SemiBold"/>
                <a:cs typeface="Montserrat SemiBold"/>
                <a:sym typeface="Montserrat SemiBold"/>
              </a:rPr>
              <a:t>số</a:t>
            </a:r>
            <a:r>
              <a:rPr kumimoji="0" lang="en-US" sz="1500" b="1" i="0" u="none" strike="noStrike" kern="0" cap="none" spc="0" normalizeH="0" baseline="0" noProof="0" dirty="0">
                <a:ln>
                  <a:noFill/>
                </a:ln>
                <a:solidFill>
                  <a:srgbClr val="3F3F3F"/>
                </a:solidFill>
                <a:effectLst/>
                <a:uLnTx/>
                <a:uFillTx/>
                <a:latin typeface="SVN-Product Sans" panose="020B0403030502040203" pitchFamily="34" charset="0"/>
                <a:ea typeface="Montserrat SemiBold"/>
                <a:cs typeface="Montserrat SemiBold"/>
                <a:sym typeface="Montserrat SemiBold"/>
              </a:rPr>
              <a:t> </a:t>
            </a:r>
            <a:r>
              <a:rPr kumimoji="0" lang="en-US" sz="1500" b="1" i="0" u="none" strike="noStrike" kern="0" cap="none" spc="0" normalizeH="0" baseline="0" noProof="0" dirty="0" err="1">
                <a:ln>
                  <a:noFill/>
                </a:ln>
                <a:solidFill>
                  <a:srgbClr val="3F3F3F"/>
                </a:solidFill>
                <a:effectLst/>
                <a:uLnTx/>
                <a:uFillTx/>
                <a:latin typeface="SVN-Product Sans" panose="020B0403030502040203" pitchFamily="34" charset="0"/>
                <a:ea typeface="Montserrat SemiBold"/>
                <a:cs typeface="Montserrat SemiBold"/>
                <a:sym typeface="Montserrat SemiBold"/>
              </a:rPr>
              <a:t>sức</a:t>
            </a:r>
            <a:r>
              <a:rPr kumimoji="0" lang="en-US" sz="1500" b="1" i="0" u="none" strike="noStrike" kern="0" cap="none" spc="0" normalizeH="0" baseline="0" noProof="0" dirty="0">
                <a:ln>
                  <a:noFill/>
                </a:ln>
                <a:solidFill>
                  <a:srgbClr val="3F3F3F"/>
                </a:solidFill>
                <a:effectLst/>
                <a:uLnTx/>
                <a:uFillTx/>
                <a:latin typeface="SVN-Product Sans" panose="020B0403030502040203" pitchFamily="34" charset="0"/>
                <a:ea typeface="Montserrat SemiBold"/>
                <a:cs typeface="Montserrat SemiBold"/>
                <a:sym typeface="Montserrat SemiBold"/>
              </a:rPr>
              <a:t> </a:t>
            </a:r>
            <a:r>
              <a:rPr kumimoji="0" lang="en-US" sz="1500" b="1" i="0" u="none" strike="noStrike" kern="0" cap="none" spc="0" normalizeH="0" baseline="0" noProof="0" dirty="0" err="1">
                <a:ln>
                  <a:noFill/>
                </a:ln>
                <a:solidFill>
                  <a:srgbClr val="3F3F3F"/>
                </a:solidFill>
                <a:effectLst/>
                <a:uLnTx/>
                <a:uFillTx/>
                <a:latin typeface="SVN-Product Sans" panose="020B0403030502040203" pitchFamily="34" charset="0"/>
                <a:ea typeface="Montserrat SemiBold"/>
                <a:cs typeface="Montserrat SemiBold"/>
                <a:sym typeface="Montserrat SemiBold"/>
              </a:rPr>
              <a:t>khỏe</a:t>
            </a:r>
            <a:r>
              <a:rPr kumimoji="0" lang="en-US" sz="1500" b="1" i="0" u="none" strike="noStrike" kern="0" cap="none" spc="0" normalizeH="0" baseline="0" noProof="0" dirty="0">
                <a:ln>
                  <a:noFill/>
                </a:ln>
                <a:solidFill>
                  <a:srgbClr val="3F3F3F"/>
                </a:solidFill>
                <a:effectLst/>
                <a:uLnTx/>
                <a:uFillTx/>
                <a:latin typeface="SVN-Product Sans" panose="020B0403030502040203" pitchFamily="34" charset="0"/>
                <a:ea typeface="Montserrat SemiBold"/>
                <a:cs typeface="Montserrat SemiBold"/>
                <a:sym typeface="Montserrat SemiBold"/>
              </a:rPr>
              <a:t> </a:t>
            </a:r>
            <a:r>
              <a:rPr kumimoji="0" lang="en-US" sz="1500" b="1" i="0" u="none" strike="noStrike" kern="0" cap="none" spc="0" normalizeH="0" baseline="0" noProof="0" dirty="0" err="1">
                <a:ln>
                  <a:noFill/>
                </a:ln>
                <a:solidFill>
                  <a:srgbClr val="3F3F3F"/>
                </a:solidFill>
                <a:effectLst/>
                <a:uLnTx/>
                <a:uFillTx/>
                <a:latin typeface="SVN-Product Sans" panose="020B0403030502040203" pitchFamily="34" charset="0"/>
                <a:ea typeface="Montserrat SemiBold"/>
                <a:cs typeface="Montserrat SemiBold"/>
                <a:sym typeface="Montserrat SemiBold"/>
              </a:rPr>
              <a:t>tốt</a:t>
            </a:r>
            <a:r>
              <a:rPr kumimoji="0" lang="en-US" sz="1500" b="1" i="0" u="none" strike="noStrike" kern="0" cap="none" spc="0" normalizeH="0" baseline="0" noProof="0" dirty="0">
                <a:ln>
                  <a:noFill/>
                </a:ln>
                <a:solidFill>
                  <a:srgbClr val="3F3F3F"/>
                </a:solidFill>
                <a:effectLst/>
                <a:uLnTx/>
                <a:uFillTx/>
                <a:latin typeface="SVN-Product Sans" panose="020B0403030502040203" pitchFamily="34" charset="0"/>
                <a:ea typeface="Montserrat SemiBold"/>
                <a:cs typeface="Montserrat SemiBold"/>
                <a:sym typeface="Montserrat SemiBold"/>
              </a:rPr>
              <a:t> </a:t>
            </a:r>
            <a:r>
              <a:rPr kumimoji="0" lang="en-US" sz="1500" b="1" i="0" u="none" strike="noStrike" kern="0" cap="none" spc="0" normalizeH="0" baseline="0" noProof="0" dirty="0" err="1">
                <a:ln>
                  <a:noFill/>
                </a:ln>
                <a:solidFill>
                  <a:srgbClr val="3F3F3F"/>
                </a:solidFill>
                <a:effectLst/>
                <a:uLnTx/>
                <a:uFillTx/>
                <a:latin typeface="SVN-Product Sans" panose="020B0403030502040203" pitchFamily="34" charset="0"/>
                <a:ea typeface="Montserrat SemiBold"/>
                <a:cs typeface="Montserrat SemiBold"/>
                <a:sym typeface="Montserrat SemiBold"/>
              </a:rPr>
              <a:t>nhất</a:t>
            </a:r>
            <a:r>
              <a:rPr kumimoji="0" lang="en-US" sz="1500" b="1" i="0" u="none" strike="noStrike" kern="0" cap="none" spc="0" normalizeH="0" baseline="0" noProof="0" dirty="0">
                <a:ln>
                  <a:noFill/>
                </a:ln>
                <a:solidFill>
                  <a:srgbClr val="3F3F3F"/>
                </a:solidFill>
                <a:effectLst/>
                <a:uLnTx/>
                <a:uFillTx/>
                <a:latin typeface="SVN-Product Sans" panose="020B0403030502040203" pitchFamily="34" charset="0"/>
                <a:ea typeface="Montserrat SemiBold"/>
                <a:cs typeface="Montserrat SemiBold"/>
                <a:sym typeface="Montserrat SemiBold"/>
              </a:rPr>
              <a:t> </a:t>
            </a:r>
            <a:r>
              <a:rPr kumimoji="0" lang="en-US" sz="1500" b="1" i="0" u="none" strike="noStrike" kern="0" cap="none" spc="0" normalizeH="0" baseline="0" noProof="0" dirty="0" err="1">
                <a:ln>
                  <a:noFill/>
                </a:ln>
                <a:solidFill>
                  <a:srgbClr val="3F3F3F"/>
                </a:solidFill>
                <a:effectLst/>
                <a:uLnTx/>
                <a:uFillTx/>
                <a:latin typeface="SVN-Product Sans" panose="020B0403030502040203" pitchFamily="34" charset="0"/>
                <a:ea typeface="Montserrat SemiBold"/>
                <a:cs typeface="Montserrat SemiBold"/>
                <a:sym typeface="Montserrat SemiBold"/>
              </a:rPr>
              <a:t>trong</a:t>
            </a:r>
            <a:r>
              <a:rPr kumimoji="0" lang="en-US" sz="1500" b="1" i="0" u="none" strike="noStrike" kern="0" cap="none" spc="0" normalizeH="0" baseline="0" noProof="0" dirty="0">
                <a:ln>
                  <a:noFill/>
                </a:ln>
                <a:solidFill>
                  <a:srgbClr val="3F3F3F"/>
                </a:solidFill>
                <a:effectLst/>
                <a:uLnTx/>
                <a:uFillTx/>
                <a:latin typeface="SVN-Product Sans" panose="020B0403030502040203" pitchFamily="34" charset="0"/>
                <a:ea typeface="Montserrat SemiBold"/>
                <a:cs typeface="Montserrat SemiBold"/>
                <a:sym typeface="Montserrat SemiBold"/>
              </a:rPr>
              <a:t> </a:t>
            </a:r>
            <a:r>
              <a:rPr kumimoji="0" lang="en-US" sz="1500" b="1" i="0" u="none" strike="noStrike" kern="0" cap="none" spc="0" normalizeH="0" baseline="0" noProof="0" dirty="0" err="1">
                <a:ln>
                  <a:noFill/>
                </a:ln>
                <a:solidFill>
                  <a:srgbClr val="3F3F3F"/>
                </a:solidFill>
                <a:effectLst/>
                <a:uLnTx/>
                <a:uFillTx/>
                <a:latin typeface="SVN-Product Sans" panose="020B0403030502040203" pitchFamily="34" charset="0"/>
                <a:ea typeface="Montserrat SemiBold"/>
                <a:cs typeface="Montserrat SemiBold"/>
                <a:sym typeface="Montserrat SemiBold"/>
              </a:rPr>
              <a:t>quý</a:t>
            </a:r>
            <a:r>
              <a:rPr kumimoji="0" lang="en-US" sz="1500" b="1" i="0" u="none" strike="noStrike" kern="0" cap="none" spc="0" normalizeH="0" baseline="0" noProof="0" dirty="0">
                <a:ln>
                  <a:noFill/>
                </a:ln>
                <a:solidFill>
                  <a:srgbClr val="3F3F3F"/>
                </a:solidFill>
                <a:effectLst/>
                <a:uLnTx/>
                <a:uFillTx/>
                <a:latin typeface="SVN-Product Sans" panose="020B0403030502040203" pitchFamily="34" charset="0"/>
                <a:ea typeface="Montserrat SemiBold"/>
                <a:cs typeface="Montserrat SemiBold"/>
                <a:sym typeface="Montserrat SemiBold"/>
              </a:rPr>
              <a:t> </a:t>
            </a:r>
            <a:r>
              <a:rPr kumimoji="0" lang="en-US" sz="1500" b="1" i="0" u="none" strike="noStrike" kern="0" cap="none" spc="0" normalizeH="0" baseline="0" noProof="0" dirty="0" err="1">
                <a:ln>
                  <a:noFill/>
                </a:ln>
                <a:solidFill>
                  <a:srgbClr val="3F3F3F"/>
                </a:solidFill>
                <a:effectLst/>
                <a:uLnTx/>
                <a:uFillTx/>
                <a:latin typeface="SVN-Product Sans" panose="020B0403030502040203" pitchFamily="34" charset="0"/>
                <a:ea typeface="Montserrat SemiBold"/>
                <a:cs typeface="Montserrat SemiBold"/>
                <a:sym typeface="Montserrat SemiBold"/>
              </a:rPr>
              <a:t>này</a:t>
            </a:r>
            <a:r>
              <a:rPr kumimoji="0" lang="en-US" sz="1500" b="1" i="0" u="none" strike="noStrike" kern="0" cap="none" spc="0" normalizeH="0" baseline="0" noProof="0" dirty="0">
                <a:ln>
                  <a:noFill/>
                </a:ln>
                <a:solidFill>
                  <a:srgbClr val="3F3F3F"/>
                </a:solidFill>
                <a:effectLst/>
                <a:uLnTx/>
                <a:uFillTx/>
                <a:latin typeface="SVN-Product Sans" panose="020B0403030502040203" pitchFamily="34" charset="0"/>
                <a:ea typeface="Montserrat SemiBold"/>
                <a:cs typeface="Montserrat SemiBold"/>
                <a:sym typeface="Montserrat SemiBold"/>
              </a:rPr>
              <a:t>.</a:t>
            </a:r>
            <a:endParaRPr kumimoji="0" lang="en-US" sz="1500" b="1" i="0" u="none" strike="noStrike" kern="0" cap="none" spc="0" normalizeH="0" baseline="0" noProof="0" dirty="0">
              <a:ln>
                <a:noFill/>
              </a:ln>
              <a:solidFill>
                <a:srgbClr val="3F3F3F"/>
              </a:solidFill>
              <a:effectLst/>
              <a:uLnTx/>
              <a:uFillTx/>
              <a:latin typeface="SVN-Product Sans" panose="020B0403030502040203" pitchFamily="34" charset="0"/>
              <a:cs typeface="Arial"/>
              <a:sym typeface="Arial"/>
            </a:endParaRPr>
          </a:p>
        </p:txBody>
      </p:sp>
      <p:sp>
        <p:nvSpPr>
          <p:cNvPr id="3" name="Title 2">
            <a:extLst>
              <a:ext uri="{FF2B5EF4-FFF2-40B4-BE49-F238E27FC236}">
                <a16:creationId xmlns:a16="http://schemas.microsoft.com/office/drawing/2014/main" id="{1C51F8E4-7DB7-4320-A914-F75A8ACAE393}"/>
              </a:ext>
            </a:extLst>
          </p:cNvPr>
          <p:cNvSpPr>
            <a:spLocks noGrp="1"/>
          </p:cNvSpPr>
          <p:nvPr>
            <p:ph type="title"/>
          </p:nvPr>
        </p:nvSpPr>
        <p:spPr>
          <a:xfrm>
            <a:off x="2112544" y="157706"/>
            <a:ext cx="7031458" cy="323126"/>
          </a:xfrm>
        </p:spPr>
        <p:txBody>
          <a:bodyPr lIns="0" tIns="0" rIns="0" bIns="0">
            <a:normAutofit/>
          </a:bodyPr>
          <a:lstStyle/>
          <a:p>
            <a:r>
              <a:rPr lang="en-US" sz="2000" dirty="0">
                <a:latin typeface="SVN-Product Sans" panose="020B0403030502040203" pitchFamily="34" charset="0"/>
              </a:rPr>
              <a:t>SẮC THÁI ĐỀ CẬP</a:t>
            </a:r>
          </a:p>
        </p:txBody>
      </p:sp>
      <p:sp>
        <p:nvSpPr>
          <p:cNvPr id="26" name="TextBox 25">
            <a:extLst>
              <a:ext uri="{FF2B5EF4-FFF2-40B4-BE49-F238E27FC236}">
                <a16:creationId xmlns:a16="http://schemas.microsoft.com/office/drawing/2014/main" id="{F4B6E70B-58CF-4D9E-8857-0909064F4637}"/>
              </a:ext>
            </a:extLst>
          </p:cNvPr>
          <p:cNvSpPr txBox="1"/>
          <p:nvPr/>
        </p:nvSpPr>
        <p:spPr>
          <a:xfrm>
            <a:off x="7251032" y="6603654"/>
            <a:ext cx="4076851" cy="21544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rPr>
              <a:t>(*) NSR (Net Sentiment Rate) = (% Positive - % Negative) / (% Positive + % Negative)</a:t>
            </a:r>
          </a:p>
        </p:txBody>
      </p:sp>
      <p:graphicFrame>
        <p:nvGraphicFramePr>
          <p:cNvPr id="2721" name="Google Shape;2721;p62"/>
          <p:cNvGraphicFramePr/>
          <p:nvPr>
            <p:extLst>
              <p:ext uri="{D42A27DB-BD31-4B8C-83A1-F6EECF244321}">
                <p14:modId xmlns:p14="http://schemas.microsoft.com/office/powerpoint/2010/main" val="1135194366"/>
              </p:ext>
            </p:extLst>
          </p:nvPr>
        </p:nvGraphicFramePr>
        <p:xfrm>
          <a:off x="139186" y="2358179"/>
          <a:ext cx="11976615" cy="1322207"/>
        </p:xfrm>
        <a:graphic>
          <a:graphicData uri="http://schemas.openxmlformats.org/drawingml/2006/chart">
            <c:chart xmlns:c="http://schemas.openxmlformats.org/drawingml/2006/chart" xmlns:r="http://schemas.openxmlformats.org/officeDocument/2006/relationships" r:id="rId3"/>
          </a:graphicData>
        </a:graphic>
      </p:graphicFrame>
      <p:sp>
        <p:nvSpPr>
          <p:cNvPr id="2738" name="Google Shape;2738;p62"/>
          <p:cNvSpPr txBox="1"/>
          <p:nvPr/>
        </p:nvSpPr>
        <p:spPr>
          <a:xfrm>
            <a:off x="449471" y="747807"/>
            <a:ext cx="11666329" cy="1595309"/>
          </a:xfrm>
          <a:prstGeom prst="rect">
            <a:avLst/>
          </a:prstGeom>
          <a:noFill/>
          <a:ln>
            <a:noFill/>
          </a:ln>
        </p:spPr>
        <p:txBody>
          <a:bodyPr spcFirstLastPara="1" wrap="square" lIns="0" tIns="12700" rIns="0" bIns="0" anchor="t" anchorCtr="0">
            <a:spAutoFit/>
          </a:bodyPr>
          <a:lstStyle/>
          <a:p>
            <a:pPr marL="184150" marR="0" lvl="0" indent="-171450" algn="just" defTabSz="914400" rtl="0" eaLnBrk="1" fontAlgn="auto" latinLnBrk="0" hangingPunct="1">
              <a:lnSpc>
                <a:spcPct val="100000"/>
              </a:lnSpc>
              <a:spcBef>
                <a:spcPts val="0"/>
              </a:spcBef>
              <a:spcAft>
                <a:spcPts val="200"/>
              </a:spcAft>
              <a:buClr>
                <a:srgbClr val="808080"/>
              </a:buClr>
              <a:buSzPts val="1100"/>
              <a:buFont typeface="Arial"/>
              <a:buChar char="•"/>
              <a:tabLst/>
              <a:defRPr/>
            </a:pPr>
            <a:r>
              <a:rPr lang="en-US" sz="1050" b="1" i="1" kern="0" dirty="0">
                <a:solidFill>
                  <a:srgbClr val="ED7D31"/>
                </a:solidFill>
                <a:latin typeface="SVN-Product Sans" panose="020B0403030502040203" pitchFamily="34" charset="0"/>
                <a:ea typeface="Montserrat SemiBold"/>
                <a:cs typeface="Montserrat SemiBold"/>
                <a:sym typeface="Montserrat SemiBold"/>
              </a:rPr>
              <a:t>Minigame</a:t>
            </a:r>
            <a:r>
              <a:rPr kumimoji="0" lang="en-US" sz="1050" b="1" i="1" u="none" strike="noStrike" kern="0" cap="none" spc="0" normalizeH="0" baseline="0" noProof="0" dirty="0">
                <a:ln>
                  <a:noFill/>
                </a:ln>
                <a:solidFill>
                  <a:srgbClr val="ED7D31"/>
                </a:solidFill>
                <a:effectLst/>
                <a:uLnTx/>
                <a:uFillTx/>
                <a:latin typeface="SVN-Product Sans" panose="020B0403030502040203" pitchFamily="34" charset="0"/>
                <a:ea typeface="Montserrat SemiBold"/>
                <a:cs typeface="Montserrat SemiBold"/>
                <a:sym typeface="Montserrat SemiBold"/>
              </a:rPr>
              <a:t> </a:t>
            </a:r>
            <a:r>
              <a:rPr kumimoji="0" lang="en-US" sz="1050" b="1" i="1" u="none" strike="noStrike" kern="0" cap="none" spc="0" normalizeH="0" baseline="0" noProof="0" dirty="0" err="1">
                <a:ln>
                  <a:noFill/>
                </a:ln>
                <a:solidFill>
                  <a:srgbClr val="ED7D31"/>
                </a:solidFill>
                <a:effectLst/>
                <a:uLnTx/>
                <a:uFillTx/>
                <a:latin typeface="SVN-Product Sans" panose="020B0403030502040203" pitchFamily="34" charset="0"/>
                <a:ea typeface="Montserrat SemiBold"/>
                <a:cs typeface="Montserrat SemiBold"/>
                <a:sym typeface="Montserrat SemiBold"/>
              </a:rPr>
              <a:t>và</a:t>
            </a:r>
            <a:r>
              <a:rPr kumimoji="0" lang="en-US" sz="1050" b="1" i="1" u="none" strike="noStrike" kern="0" cap="none" spc="0" normalizeH="0" baseline="0" noProof="0" dirty="0">
                <a:ln>
                  <a:noFill/>
                </a:ln>
                <a:solidFill>
                  <a:srgbClr val="ED7D31"/>
                </a:solidFill>
                <a:effectLst/>
                <a:uLnTx/>
                <a:uFillTx/>
                <a:latin typeface="SVN-Product Sans" panose="020B0403030502040203" pitchFamily="34" charset="0"/>
                <a:ea typeface="Montserrat SemiBold"/>
                <a:cs typeface="Montserrat SemiBold"/>
                <a:sym typeface="Montserrat SemiBold"/>
              </a:rPr>
              <a:t> </a:t>
            </a:r>
            <a:r>
              <a:rPr kumimoji="0" lang="en-US" sz="1050" b="1" i="1" u="none" strike="noStrike" kern="0" cap="none" spc="0" normalizeH="0" baseline="0" noProof="0" dirty="0" err="1">
                <a:ln>
                  <a:noFill/>
                </a:ln>
                <a:solidFill>
                  <a:srgbClr val="ED7D31"/>
                </a:solidFill>
                <a:effectLst/>
                <a:uLnTx/>
                <a:uFillTx/>
                <a:latin typeface="SVN-Product Sans" panose="020B0403030502040203" pitchFamily="34" charset="0"/>
                <a:ea typeface="Montserrat SemiBold"/>
                <a:cs typeface="Montserrat SemiBold"/>
                <a:sym typeface="Montserrat SemiBold"/>
              </a:rPr>
              <a:t>các</a:t>
            </a:r>
            <a:r>
              <a:rPr kumimoji="0" lang="en-US" sz="1050" b="1" i="1" u="none" strike="noStrike" kern="0" cap="none" spc="0" normalizeH="0" baseline="0" noProof="0" dirty="0">
                <a:ln>
                  <a:noFill/>
                </a:ln>
                <a:solidFill>
                  <a:srgbClr val="ED7D31"/>
                </a:solidFill>
                <a:effectLst/>
                <a:uLnTx/>
                <a:uFillTx/>
                <a:latin typeface="SVN-Product Sans" panose="020B0403030502040203" pitchFamily="34" charset="0"/>
                <a:ea typeface="Montserrat SemiBold"/>
                <a:cs typeface="Montserrat SemiBold"/>
                <a:sym typeface="Montserrat SemiBold"/>
              </a:rPr>
              <a:t> </a:t>
            </a:r>
            <a:r>
              <a:rPr kumimoji="0" lang="en-US" sz="1050" b="1" i="1" u="none" strike="noStrike" kern="0" cap="none" spc="0" normalizeH="0" baseline="0" noProof="0" dirty="0" err="1">
                <a:ln>
                  <a:noFill/>
                </a:ln>
                <a:solidFill>
                  <a:srgbClr val="ED7D31"/>
                </a:solidFill>
                <a:effectLst/>
                <a:uLnTx/>
                <a:uFillTx/>
                <a:latin typeface="SVN-Product Sans" panose="020B0403030502040203" pitchFamily="34" charset="0"/>
                <a:ea typeface="Montserrat SemiBold"/>
                <a:cs typeface="Montserrat SemiBold"/>
                <a:sym typeface="Montserrat SemiBold"/>
              </a:rPr>
              <a:t>hoạt</a:t>
            </a:r>
            <a:r>
              <a:rPr kumimoji="0" lang="en-US" sz="1050" b="1" i="1" u="none" strike="noStrike" kern="0" cap="none" spc="0" normalizeH="0" baseline="0" noProof="0" dirty="0">
                <a:ln>
                  <a:noFill/>
                </a:ln>
                <a:solidFill>
                  <a:srgbClr val="ED7D31"/>
                </a:solidFill>
                <a:effectLst/>
                <a:uLnTx/>
                <a:uFillTx/>
                <a:latin typeface="SVN-Product Sans" panose="020B0403030502040203" pitchFamily="34" charset="0"/>
                <a:ea typeface="Montserrat SemiBold"/>
                <a:cs typeface="Montserrat SemiBold"/>
                <a:sym typeface="Montserrat SemiBold"/>
              </a:rPr>
              <a:t> </a:t>
            </a:r>
            <a:r>
              <a:rPr kumimoji="0" lang="en-US" sz="1050" b="1" i="1" u="none" strike="noStrike" kern="0" cap="none" spc="0" normalizeH="0" baseline="0" noProof="0" dirty="0" err="1">
                <a:ln>
                  <a:noFill/>
                </a:ln>
                <a:solidFill>
                  <a:srgbClr val="ED7D31"/>
                </a:solidFill>
                <a:effectLst/>
                <a:uLnTx/>
                <a:uFillTx/>
                <a:latin typeface="SVN-Product Sans" panose="020B0403030502040203" pitchFamily="34" charset="0"/>
                <a:ea typeface="Montserrat SemiBold"/>
                <a:cs typeface="Montserrat SemiBold"/>
                <a:sym typeface="Montserrat SemiBold"/>
              </a:rPr>
              <a:t>động</a:t>
            </a:r>
            <a:r>
              <a:rPr kumimoji="0" lang="en-US" sz="1050" b="1" i="1" u="none" strike="noStrike" kern="0" cap="none" spc="0" normalizeH="0" baseline="0" noProof="0" dirty="0">
                <a:ln>
                  <a:noFill/>
                </a:ln>
                <a:solidFill>
                  <a:srgbClr val="ED7D31"/>
                </a:solidFill>
                <a:effectLst/>
                <a:uLnTx/>
                <a:uFillTx/>
                <a:latin typeface="SVN-Product Sans" panose="020B0403030502040203" pitchFamily="34" charset="0"/>
                <a:ea typeface="Montserrat SemiBold"/>
                <a:cs typeface="Montserrat SemiBold"/>
                <a:sym typeface="Montserrat SemiBold"/>
              </a:rPr>
              <a:t> </a:t>
            </a:r>
            <a:r>
              <a:rPr kumimoji="0" lang="en-US" sz="1050" b="1" i="1" u="none" strike="noStrike" kern="0" cap="none" spc="0" normalizeH="0" baseline="0" noProof="0" dirty="0" err="1">
                <a:ln>
                  <a:noFill/>
                </a:ln>
                <a:solidFill>
                  <a:srgbClr val="ED7D31"/>
                </a:solidFill>
                <a:effectLst/>
                <a:uLnTx/>
                <a:uFillTx/>
                <a:latin typeface="SVN-Product Sans" panose="020B0403030502040203" pitchFamily="34" charset="0"/>
                <a:ea typeface="Montserrat SemiBold"/>
                <a:cs typeface="Montserrat SemiBold"/>
                <a:sym typeface="Montserrat SemiBold"/>
              </a:rPr>
              <a:t>tài</a:t>
            </a:r>
            <a:r>
              <a:rPr kumimoji="0" lang="en-US" sz="1050" b="1" i="1" u="none" strike="noStrike" kern="0" cap="none" spc="0" normalizeH="0" baseline="0" noProof="0" dirty="0">
                <a:ln>
                  <a:noFill/>
                </a:ln>
                <a:solidFill>
                  <a:srgbClr val="ED7D31"/>
                </a:solidFill>
                <a:effectLst/>
                <a:uLnTx/>
                <a:uFillTx/>
                <a:latin typeface="SVN-Product Sans" panose="020B0403030502040203" pitchFamily="34" charset="0"/>
                <a:ea typeface="Montserrat SemiBold"/>
                <a:cs typeface="Montserrat SemiBold"/>
                <a:sym typeface="Montserrat SemiBold"/>
              </a:rPr>
              <a:t> </a:t>
            </a:r>
            <a:r>
              <a:rPr kumimoji="0" lang="en-US" sz="1050" b="1" i="1" u="none" strike="noStrike" kern="0" cap="none" spc="0" normalizeH="0" baseline="0" noProof="0" dirty="0" err="1">
                <a:ln>
                  <a:noFill/>
                </a:ln>
                <a:solidFill>
                  <a:srgbClr val="ED7D31"/>
                </a:solidFill>
                <a:effectLst/>
                <a:uLnTx/>
                <a:uFillTx/>
                <a:latin typeface="SVN-Product Sans" panose="020B0403030502040203" pitchFamily="34" charset="0"/>
                <a:ea typeface="Montserrat SemiBold"/>
                <a:cs typeface="Montserrat SemiBold"/>
                <a:sym typeface="Montserrat SemiBold"/>
              </a:rPr>
              <a:t>trợ</a:t>
            </a:r>
            <a:r>
              <a:rPr kumimoji="0" lang="en-US" sz="1050" b="1" i="1" u="none" strike="noStrike" kern="0" cap="none" spc="0" normalizeH="0" baseline="0" noProof="0" dirty="0">
                <a:ln>
                  <a:noFill/>
                </a:ln>
                <a:solidFill>
                  <a:srgbClr val="ED7D31"/>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là</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hoạt</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động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tương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tác</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đang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được</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nhiều</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khách</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hàng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ưa</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chuộng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và</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hầu</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hết</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các</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ngân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hàng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cũng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nhanh</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chóng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nắm</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bắt</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và</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triển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khai</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trên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Fanpage</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thu</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hút</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phản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hồi</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tích</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cực</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từ</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khách</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hàng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Cùng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với</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đó</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lang="en-US" sz="1050" kern="0" dirty="0">
                <a:solidFill>
                  <a:srgbClr val="000000"/>
                </a:solidFill>
                <a:latin typeface="SVN-Product Sans" panose="020B0403030502040203" pitchFamily="34" charset="0"/>
                <a:ea typeface="Montserrat SemiBold"/>
                <a:cs typeface="Montserrat SemiBold"/>
                <a:sym typeface="Montserrat SemiBold"/>
              </a:rPr>
              <a:t>livestream</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và</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các</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chương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trình</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ưu</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đãi</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vẫn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là</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những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tactic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mang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lại</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hiệu</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quả</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tương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tác</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tốt</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cho</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thương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hiệu</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a:t>
            </a:r>
          </a:p>
          <a:p>
            <a:pPr marL="184150" lvl="0" indent="-171450" algn="just">
              <a:spcAft>
                <a:spcPts val="200"/>
              </a:spcAft>
              <a:buClr>
                <a:srgbClr val="808080"/>
              </a:buClr>
              <a:buSzPts val="1100"/>
              <a:buFont typeface="Arial"/>
              <a:buChar char="•"/>
              <a:defRPr/>
            </a:pPr>
            <a:r>
              <a:rPr lang="vi-VN" sz="1050" kern="0" dirty="0">
                <a:solidFill>
                  <a:srgbClr val="000000"/>
                </a:solidFill>
                <a:latin typeface="SVN-Product Sans" panose="020B0403030502040203" pitchFamily="34" charset="0"/>
                <a:ea typeface="Montserrat SemiBold"/>
                <a:cs typeface="Montserrat SemiBold"/>
                <a:sym typeface="Montserrat SemiBold"/>
              </a:rPr>
              <a:t>Trong quý vừa qua, nhiều ngân hàng ghi dấu ấn tích cực khi liên tiếp được vinh danh với các giải thưởng lớn và uy tín trong ngành, góp phần củng cố hình ảnh và niềm tin từ khách hàng cũng như giới chuyên môn.</a:t>
            </a:r>
            <a:endPar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endParaRPr>
          </a:p>
          <a:p>
            <a:pPr marL="184150" marR="0" lvl="0" indent="-171450" algn="just" defTabSz="914400" rtl="0" eaLnBrk="1" fontAlgn="auto" latinLnBrk="0" hangingPunct="1">
              <a:lnSpc>
                <a:spcPct val="100000"/>
              </a:lnSpc>
              <a:spcBef>
                <a:spcPts val="0"/>
              </a:spcBef>
              <a:spcAft>
                <a:spcPts val="200"/>
              </a:spcAft>
              <a:buClr>
                <a:srgbClr val="808080"/>
              </a:buClr>
              <a:buSzPts val="1100"/>
              <a:buFont typeface="Arial"/>
              <a:buChar char="•"/>
              <a:tabLst/>
              <a:defRPr/>
            </a:pP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Bên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cạnh</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đó</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các</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ngân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hàng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cũng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ghi</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nhận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nhiều</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luồng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tin </a:t>
            </a:r>
            <a:r>
              <a:rPr kumimoji="0" lang="en-US" sz="1050" b="1" i="0" u="none" strike="noStrike" kern="0" cap="none" spc="0" normalizeH="0" baseline="0" noProof="0" dirty="0" err="1">
                <a:ln>
                  <a:noFill/>
                </a:ln>
                <a:solidFill>
                  <a:srgbClr val="FF0000"/>
                </a:solidFill>
                <a:effectLst/>
                <a:uLnTx/>
                <a:uFillTx/>
                <a:latin typeface="SVN-Product Sans" panose="020B0403030502040203" pitchFamily="34" charset="0"/>
                <a:ea typeface="Montserrat SemiBold"/>
                <a:cs typeface="Montserrat SemiBold"/>
                <a:sym typeface="Montserrat SemiBold"/>
              </a:rPr>
              <a:t>tiêu</a:t>
            </a:r>
            <a:r>
              <a:rPr kumimoji="0" lang="en-US" sz="1050" b="1" i="0" u="none" strike="noStrike" kern="0" cap="none" spc="0" normalizeH="0" baseline="0" noProof="0" dirty="0">
                <a:ln>
                  <a:noFill/>
                </a:ln>
                <a:solidFill>
                  <a:srgbClr val="FF0000"/>
                </a:solidFill>
                <a:effectLst/>
                <a:uLnTx/>
                <a:uFillTx/>
                <a:latin typeface="SVN-Product Sans" panose="020B0403030502040203" pitchFamily="34" charset="0"/>
                <a:ea typeface="Montserrat SemiBold"/>
                <a:cs typeface="Montserrat SemiBold"/>
                <a:sym typeface="Montserrat SemiBold"/>
              </a:rPr>
              <a:t> </a:t>
            </a:r>
            <a:r>
              <a:rPr kumimoji="0" lang="en-US" sz="1050" b="1" i="0" u="none" strike="noStrike" kern="0" cap="none" spc="0" normalizeH="0" baseline="0" noProof="0" dirty="0" err="1">
                <a:ln>
                  <a:noFill/>
                </a:ln>
                <a:solidFill>
                  <a:srgbClr val="FF0000"/>
                </a:solidFill>
                <a:effectLst/>
                <a:uLnTx/>
                <a:uFillTx/>
                <a:latin typeface="SVN-Product Sans" panose="020B0403030502040203" pitchFamily="34" charset="0"/>
                <a:ea typeface="Montserrat SemiBold"/>
                <a:cs typeface="Montserrat SemiBold"/>
                <a:sym typeface="Montserrat SemiBold"/>
              </a:rPr>
              <a:t>cực</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gây</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ảnh</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hưởng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đến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sự</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hài</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lòng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của</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khách</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hàng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hoặc</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tổn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hại</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hình</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ảnh</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thương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hiệu</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như</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a:t>
            </a:r>
          </a:p>
          <a:p>
            <a:pPr marL="457200" marR="0" lvl="0" indent="0" algn="just" defTabSz="914400" rtl="0" eaLnBrk="1" fontAlgn="auto" latinLnBrk="0" hangingPunct="1">
              <a:lnSpc>
                <a:spcPct val="100000"/>
              </a:lnSpc>
              <a:spcBef>
                <a:spcPts val="0"/>
              </a:spcBef>
              <a:spcAft>
                <a:spcPts val="200"/>
              </a:spcAft>
              <a:buClr>
                <a:srgbClr val="808080"/>
              </a:buClr>
              <a:buSzPts val="1100"/>
              <a:buFont typeface="Arial"/>
              <a:buNone/>
              <a:tabLst/>
              <a:defRPr/>
            </a:pP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Lỗi</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ứng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dụng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tất</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cả</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các</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ngân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hàng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đều</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gặp</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phải</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phàn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nàn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về</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lỗi</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ứng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dụng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banking -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dịch</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vụ</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được</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sử</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dụng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thường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xuyên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bởi</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gần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như</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tất</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cả</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khách</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hàng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các</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lỗi</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ứng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dụng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gây</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gián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đoạn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dịch</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vụ</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trong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thời</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gian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dài</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sẽ</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dẫn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đến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ảnh</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hưởng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lớn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với</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khách</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hàng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thúc</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đẩy</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họ</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để</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lại</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bình</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luận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và</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phản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ứng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tiêu</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cực</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trên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Fanpage</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và</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các</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nền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tảng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MXH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khác</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a:t>
            </a:r>
          </a:p>
          <a:p>
            <a:pPr marL="457200" marR="0" lvl="0" indent="0" algn="just" defTabSz="914400" rtl="0" eaLnBrk="1" fontAlgn="auto" latinLnBrk="0" hangingPunct="1">
              <a:lnSpc>
                <a:spcPct val="100000"/>
              </a:lnSpc>
              <a:spcBef>
                <a:spcPts val="0"/>
              </a:spcBef>
              <a:spcAft>
                <a:spcPts val="200"/>
              </a:spcAft>
              <a:buClr>
                <a:srgbClr val="808080"/>
              </a:buClr>
              <a:buSzPts val="1100"/>
              <a:buFont typeface="Arial"/>
              <a:buNone/>
              <a:tabLst/>
              <a:defRPr/>
            </a:pP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Các</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sự</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vụ</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liên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quan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đến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pháp</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lý</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nhưvụ</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việc</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cưỡng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chế</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đất</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Agribank</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Giả</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nhân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viên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ngân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hang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để</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lừa</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đảo</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cũng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gây</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ảnh</a:t>
            </a:r>
            <a:r>
              <a:rPr lang="en-US" sz="1050" kern="0" dirty="0">
                <a:solidFill>
                  <a:srgbClr val="000000"/>
                </a:solidFill>
                <a:latin typeface="SVN-Product Sans" panose="020B0403030502040203" pitchFamily="34" charset="0"/>
                <a:ea typeface="Montserrat SemiBold"/>
                <a:cs typeface="Montserrat SemiBold"/>
                <a:sym typeface="Montserrat SemiBold"/>
              </a:rPr>
              <a:t> </a:t>
            </a:r>
            <a:r>
              <a:rPr lang="en-US" sz="1050" kern="0" dirty="0" err="1">
                <a:solidFill>
                  <a:srgbClr val="000000"/>
                </a:solidFill>
                <a:latin typeface="SVN-Product Sans" panose="020B0403030502040203" pitchFamily="34" charset="0"/>
                <a:ea typeface="Montserrat SemiBold"/>
                <a:cs typeface="Montserrat SemiBold"/>
                <a:sym typeface="Montserrat SemiBold"/>
              </a:rPr>
              <a:t>hưởng</a:t>
            </a:r>
            <a:r>
              <a:rPr lang="en-US" sz="1050" kern="0" dirty="0">
                <a:solidFill>
                  <a:srgbClr val="000000"/>
                </a:solidFill>
                <a:latin typeface="SVN-Product Sans" panose="020B0403030502040203" pitchFamily="34" charset="0"/>
                <a:ea typeface="Montserrat SemiBold"/>
                <a:cs typeface="Montserrat SemiBold"/>
                <a:sym typeface="Montserrat SemiBold"/>
              </a:rPr>
              <a:t> </a:t>
            </a:r>
            <a:r>
              <a:rPr lang="en-US" sz="1050" kern="0" dirty="0" err="1">
                <a:solidFill>
                  <a:srgbClr val="000000"/>
                </a:solidFill>
                <a:latin typeface="SVN-Product Sans" panose="020B0403030502040203" pitchFamily="34" charset="0"/>
                <a:ea typeface="Montserrat SemiBold"/>
                <a:cs typeface="Montserrat SemiBold"/>
                <a:sym typeface="Montserrat SemiBold"/>
              </a:rPr>
              <a:t>đến</a:t>
            </a:r>
            <a:r>
              <a:rPr lang="en-US" sz="1050" kern="0" dirty="0">
                <a:solidFill>
                  <a:srgbClr val="000000"/>
                </a:solidFill>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các</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ngân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hàng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Ngoài</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ra</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trong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quý</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qua,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tình</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hình</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áp</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lực</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nợ</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xấu</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cũng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tạo</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ra</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lo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ngại</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về</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tình</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hình</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hoạt</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động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của</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các</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ngân</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 </a:t>
            </a:r>
            <a:r>
              <a:rPr kumimoji="0" lang="en-US" sz="1050" b="0" i="0" u="none" strike="noStrike" kern="0" cap="none" spc="0" normalizeH="0" baseline="0" noProof="0" dirty="0" err="1">
                <a:ln>
                  <a:noFill/>
                </a:ln>
                <a:solidFill>
                  <a:srgbClr val="000000"/>
                </a:solidFill>
                <a:effectLst/>
                <a:uLnTx/>
                <a:uFillTx/>
                <a:latin typeface="SVN-Product Sans" panose="020B0403030502040203" pitchFamily="34" charset="0"/>
                <a:ea typeface="Montserrat SemiBold"/>
                <a:cs typeface="Montserrat SemiBold"/>
                <a:sym typeface="Montserrat SemiBold"/>
              </a:rPr>
              <a:t>hàng</a:t>
            </a:r>
            <a:r>
              <a:rPr kumimoji="0" lang="en-US" sz="1050" b="0" i="0" u="none" strike="noStrike" kern="0" cap="none" spc="0" normalizeH="0" baseline="0" noProof="0" dirty="0">
                <a:ln>
                  <a:noFill/>
                </a:ln>
                <a:solidFill>
                  <a:srgbClr val="000000"/>
                </a:solidFill>
                <a:effectLst/>
                <a:uLnTx/>
                <a:uFillTx/>
                <a:latin typeface="SVN-Product Sans" panose="020B0403030502040203" pitchFamily="34" charset="0"/>
                <a:ea typeface="Montserrat SemiBold"/>
                <a:cs typeface="Montserrat SemiBold"/>
                <a:sym typeface="Montserrat SemiBold"/>
              </a:rPr>
              <a:t>.</a:t>
            </a:r>
          </a:p>
        </p:txBody>
      </p:sp>
      <p:graphicFrame>
        <p:nvGraphicFramePr>
          <p:cNvPr id="16" name="Google Shape;2722;p62">
            <a:extLst>
              <a:ext uri="{FF2B5EF4-FFF2-40B4-BE49-F238E27FC236}">
                <a16:creationId xmlns:a16="http://schemas.microsoft.com/office/drawing/2014/main" id="{17363D4E-7755-4062-8002-A1241C10C063}"/>
              </a:ext>
            </a:extLst>
          </p:cNvPr>
          <p:cNvGraphicFramePr/>
          <p:nvPr>
            <p:extLst>
              <p:ext uri="{D42A27DB-BD31-4B8C-83A1-F6EECF244321}">
                <p14:modId xmlns:p14="http://schemas.microsoft.com/office/powerpoint/2010/main" val="3092600644"/>
              </p:ext>
            </p:extLst>
          </p:nvPr>
        </p:nvGraphicFramePr>
        <p:xfrm>
          <a:off x="139186" y="3969475"/>
          <a:ext cx="11890629" cy="2704853"/>
        </p:xfrm>
        <a:graphic>
          <a:graphicData uri="http://schemas.openxmlformats.org/drawingml/2006/table">
            <a:tbl>
              <a:tblPr firstRow="1" bandRow="1">
                <a:noFill/>
              </a:tblPr>
              <a:tblGrid>
                <a:gridCol w="858511">
                  <a:extLst>
                    <a:ext uri="{9D8B030D-6E8A-4147-A177-3AD203B41FA5}">
                      <a16:colId xmlns:a16="http://schemas.microsoft.com/office/drawing/2014/main" val="20000"/>
                    </a:ext>
                  </a:extLst>
                </a:gridCol>
                <a:gridCol w="1294722">
                  <a:extLst>
                    <a:ext uri="{9D8B030D-6E8A-4147-A177-3AD203B41FA5}">
                      <a16:colId xmlns:a16="http://schemas.microsoft.com/office/drawing/2014/main" val="20001"/>
                    </a:ext>
                  </a:extLst>
                </a:gridCol>
                <a:gridCol w="1430644">
                  <a:extLst>
                    <a:ext uri="{9D8B030D-6E8A-4147-A177-3AD203B41FA5}">
                      <a16:colId xmlns:a16="http://schemas.microsoft.com/office/drawing/2014/main" val="20002"/>
                    </a:ext>
                  </a:extLst>
                </a:gridCol>
                <a:gridCol w="1375371">
                  <a:extLst>
                    <a:ext uri="{9D8B030D-6E8A-4147-A177-3AD203B41FA5}">
                      <a16:colId xmlns:a16="http://schemas.microsoft.com/office/drawing/2014/main" val="20003"/>
                    </a:ext>
                  </a:extLst>
                </a:gridCol>
                <a:gridCol w="1361089">
                  <a:extLst>
                    <a:ext uri="{9D8B030D-6E8A-4147-A177-3AD203B41FA5}">
                      <a16:colId xmlns:a16="http://schemas.microsoft.com/office/drawing/2014/main" val="20004"/>
                    </a:ext>
                  </a:extLst>
                </a:gridCol>
                <a:gridCol w="1476462">
                  <a:extLst>
                    <a:ext uri="{9D8B030D-6E8A-4147-A177-3AD203B41FA5}">
                      <a16:colId xmlns:a16="http://schemas.microsoft.com/office/drawing/2014/main" val="20005"/>
                    </a:ext>
                  </a:extLst>
                </a:gridCol>
                <a:gridCol w="1384478">
                  <a:extLst>
                    <a:ext uri="{9D8B030D-6E8A-4147-A177-3AD203B41FA5}">
                      <a16:colId xmlns:a16="http://schemas.microsoft.com/office/drawing/2014/main" val="20006"/>
                    </a:ext>
                  </a:extLst>
                </a:gridCol>
                <a:gridCol w="1375500">
                  <a:extLst>
                    <a:ext uri="{9D8B030D-6E8A-4147-A177-3AD203B41FA5}">
                      <a16:colId xmlns:a16="http://schemas.microsoft.com/office/drawing/2014/main" val="2202628233"/>
                    </a:ext>
                  </a:extLst>
                </a:gridCol>
                <a:gridCol w="1333852">
                  <a:extLst>
                    <a:ext uri="{9D8B030D-6E8A-4147-A177-3AD203B41FA5}">
                      <a16:colId xmlns:a16="http://schemas.microsoft.com/office/drawing/2014/main" val="3060947170"/>
                    </a:ext>
                  </a:extLst>
                </a:gridCol>
              </a:tblGrid>
              <a:tr h="369915">
                <a:tc>
                  <a:txBody>
                    <a:bodyPr/>
                    <a:lstStyle/>
                    <a:p>
                      <a:pPr marL="0" marR="0" lvl="0" indent="0" algn="ctr" rtl="0">
                        <a:spcBef>
                          <a:spcPts val="0"/>
                        </a:spcBef>
                        <a:spcAft>
                          <a:spcPts val="0"/>
                        </a:spcAft>
                        <a:buNone/>
                      </a:pPr>
                      <a:r>
                        <a:rPr lang="en-US" sz="1100" b="1" u="none" strike="noStrike" cap="none">
                          <a:solidFill>
                            <a:schemeClr val="lt1"/>
                          </a:solidFill>
                          <a:latin typeface="SVN-Product Sans" panose="020B0403030502040203" pitchFamily="34" charset="0"/>
                          <a:ea typeface="Montserrat SemiBold"/>
                          <a:cs typeface="Montserrat SemiBold"/>
                          <a:sym typeface="Montserrat SemiBold"/>
                        </a:rPr>
                        <a:t>N =</a:t>
                      </a:r>
                      <a:endParaRPr sz="1100">
                        <a:latin typeface="SVN-Product Sans" panose="020B0403030502040203" pitchFamily="34" charset="0"/>
                      </a:endParaRPr>
                    </a:p>
                  </a:txBody>
                  <a:tcPr marL="91450" marR="91450" marT="45725" marB="45725"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0B0F0"/>
                    </a:solidFill>
                  </a:tcPr>
                </a:tc>
                <a:tc>
                  <a:txBody>
                    <a:bodyPr/>
                    <a:lstStyle/>
                    <a:p>
                      <a:pPr marL="0" marR="0" lvl="0" indent="0" algn="ctr" defTabSz="914400" rtl="0" eaLnBrk="1" fontAlgn="auto" latinLnBrk="0" hangingPunct="1">
                        <a:lnSpc>
                          <a:spcPct val="100000"/>
                        </a:lnSpc>
                        <a:spcBef>
                          <a:spcPts val="0"/>
                        </a:spcBef>
                        <a:spcAft>
                          <a:spcPts val="0"/>
                        </a:spcAft>
                        <a:buClr>
                          <a:srgbClr val="44546A"/>
                        </a:buClr>
                        <a:buSzPts val="1200"/>
                        <a:buFont typeface="Arial"/>
                        <a:buNone/>
                        <a:tabLst/>
                        <a:defRPr/>
                      </a:pPr>
                      <a:r>
                        <a:rPr lang="en-US" sz="1000" kern="0" dirty="0">
                          <a:solidFill>
                            <a:srgbClr val="44546A"/>
                          </a:solidFill>
                          <a:latin typeface="SVN-Product Sans" panose="020B0403030502040203" pitchFamily="34" charset="0"/>
                          <a:cs typeface="Arial"/>
                          <a:sym typeface="Calibri"/>
                        </a:rPr>
                        <a:t>85,804</a:t>
                      </a:r>
                      <a:endParaRPr kumimoji="0" lang="en-US" sz="10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Calibri"/>
                      </a:endParaRPr>
                    </a:p>
                  </a:txBody>
                  <a:tcPr marL="7620" marR="7620" marT="7620" marB="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
                          <a:srgbClr val="44546A"/>
                        </a:buClr>
                        <a:buSzPts val="1200"/>
                        <a:buFont typeface="Arial"/>
                        <a:buNone/>
                        <a:tabLst/>
                        <a:defRPr/>
                      </a:pPr>
                      <a:r>
                        <a:rPr lang="en-US" sz="1000" kern="0" dirty="0">
                          <a:solidFill>
                            <a:srgbClr val="44546A"/>
                          </a:solidFill>
                          <a:latin typeface="SVN-Product Sans" panose="020B0403030502040203" pitchFamily="34" charset="0"/>
                          <a:cs typeface="Arial"/>
                          <a:sym typeface="Arial"/>
                        </a:rPr>
                        <a:t>14,711</a:t>
                      </a:r>
                      <a:endParaRPr kumimoji="0" lang="en-US" sz="10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endParaRPr>
                    </a:p>
                  </a:txBody>
                  <a:tcPr marL="7620" marR="7620" marT="762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
                          <a:srgbClr val="44546A"/>
                        </a:buClr>
                        <a:buSzPts val="1200"/>
                        <a:buFont typeface="Arial"/>
                        <a:buNone/>
                        <a:tabLst/>
                        <a:defRPr/>
                      </a:pPr>
                      <a:r>
                        <a:rPr lang="en-US" sz="1000" kern="0" dirty="0">
                          <a:solidFill>
                            <a:srgbClr val="44546A"/>
                          </a:solidFill>
                          <a:latin typeface="SVN-Product Sans" panose="020B0403030502040203" pitchFamily="34" charset="0"/>
                          <a:cs typeface="Arial"/>
                          <a:sym typeface="Arial"/>
                        </a:rPr>
                        <a:t>37,006</a:t>
                      </a:r>
                      <a:endParaRPr kumimoji="0" lang="en-US" sz="10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endParaRPr>
                    </a:p>
                  </a:txBody>
                  <a:tcPr marL="7620" marR="7620" marT="7620" marB="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
                          <a:srgbClr val="44546A"/>
                        </a:buClr>
                        <a:buSzPts val="1200"/>
                        <a:buFont typeface="Arial"/>
                        <a:buNone/>
                        <a:tabLst/>
                        <a:defRPr/>
                      </a:pPr>
                      <a:r>
                        <a:rPr lang="en-US" sz="1000" kern="0" dirty="0">
                          <a:solidFill>
                            <a:srgbClr val="44546A"/>
                          </a:solidFill>
                          <a:latin typeface="SVN-Product Sans" panose="020B0403030502040203" pitchFamily="34" charset="0"/>
                          <a:cs typeface="Arial"/>
                          <a:sym typeface="Arial"/>
                        </a:rPr>
                        <a:t>118,155</a:t>
                      </a:r>
                      <a:endParaRPr kumimoji="0" lang="en-US" sz="1000" b="0" i="0" u="none" strike="noStrike" kern="0" cap="none" spc="0" normalizeH="0" baseline="0" noProof="0" dirty="0">
                        <a:ln>
                          <a:noFill/>
                        </a:ln>
                        <a:solidFill>
                          <a:srgbClr val="000000"/>
                        </a:solidFill>
                        <a:effectLst/>
                        <a:uLnTx/>
                        <a:uFillTx/>
                        <a:latin typeface="SVN-Product Sans" panose="020B0403030502040203" pitchFamily="34" charset="0"/>
                        <a:cs typeface="Arial"/>
                        <a:sym typeface="Arial"/>
                      </a:endParaRPr>
                    </a:p>
                  </a:txBody>
                  <a:tcPr marL="7620" marR="7620" marT="762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kern="0" dirty="0">
                          <a:solidFill>
                            <a:srgbClr val="44546A"/>
                          </a:solidFill>
                          <a:latin typeface="SVN-Product Sans" panose="020B0403030502040203" pitchFamily="34" charset="0"/>
                          <a:cs typeface="Arial"/>
                          <a:sym typeface="Arial"/>
                        </a:rPr>
                        <a:t>234,314</a:t>
                      </a:r>
                      <a:endParaRPr kumimoji="0" lang="en-US" sz="10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endParaRPr>
                    </a:p>
                  </a:txBody>
                  <a:tcPr marL="7620" marR="7620" marT="762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SVN-Product Sans" panose="020B0403030502040203" pitchFamily="34" charset="0"/>
                          <a:ea typeface="Calibri"/>
                          <a:cs typeface="Calibri"/>
                          <a:sym typeface="Calibri"/>
                        </a:rPr>
                        <a:t>126,519</a:t>
                      </a:r>
                      <a:endParaRPr kumimoji="0" lang="en-US" sz="10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endParaRPr>
                    </a:p>
                  </a:txBody>
                  <a:tcPr marL="7620" marR="7620" marT="7620" marB="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kern="0" dirty="0">
                          <a:solidFill>
                            <a:srgbClr val="44546A"/>
                          </a:solidFill>
                          <a:latin typeface="SVN-Product Sans" panose="020B0403030502040203" pitchFamily="34" charset="0"/>
                          <a:ea typeface="Calibri"/>
                          <a:cs typeface="Calibri"/>
                          <a:sym typeface="Calibri"/>
                        </a:rPr>
                        <a:t>49,545</a:t>
                      </a:r>
                      <a:endParaRPr kumimoji="0" lang="en-US" sz="1000" b="0" i="0" u="none" strike="noStrike" kern="0" cap="none" spc="0" normalizeH="0" baseline="0" noProof="0" dirty="0">
                        <a:ln>
                          <a:noFill/>
                        </a:ln>
                        <a:solidFill>
                          <a:srgbClr val="44546A"/>
                        </a:solidFill>
                        <a:effectLst/>
                        <a:uLnTx/>
                        <a:uFillTx/>
                        <a:latin typeface="SVN-Product Sans" panose="020B0403030502040203" pitchFamily="34" charset="0"/>
                        <a:ea typeface="Calibri"/>
                        <a:cs typeface="Calibri"/>
                        <a:sym typeface="Calibri"/>
                      </a:endParaRPr>
                    </a:p>
                  </a:txBody>
                  <a:tcPr marL="7620" marR="7620" marT="7620" marB="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SVN-Product Sans" panose="020B0403030502040203" pitchFamily="34" charset="0"/>
                          <a:ea typeface="Calibri"/>
                          <a:cs typeface="Calibri"/>
                          <a:sym typeface="Calibri"/>
                        </a:rPr>
                        <a:t> </a:t>
                      </a:r>
                      <a:r>
                        <a:rPr lang="en-US" sz="1000" kern="0" dirty="0">
                          <a:solidFill>
                            <a:srgbClr val="44546A"/>
                          </a:solidFill>
                          <a:latin typeface="SVN-Product Sans" panose="020B0403030502040203" pitchFamily="34" charset="0"/>
                          <a:ea typeface="Calibri"/>
                          <a:cs typeface="Calibri"/>
                          <a:sym typeface="Calibri"/>
                        </a:rPr>
                        <a:t>148,571</a:t>
                      </a:r>
                      <a:endParaRPr kumimoji="0" lang="en-US" sz="1000" b="0" i="0" u="none" strike="noStrike" kern="0" cap="none" spc="0" normalizeH="0" baseline="0" noProof="0" dirty="0">
                        <a:ln>
                          <a:noFill/>
                        </a:ln>
                        <a:solidFill>
                          <a:srgbClr val="44546A"/>
                        </a:solidFill>
                        <a:effectLst/>
                        <a:uLnTx/>
                        <a:uFillTx/>
                        <a:latin typeface="SVN-Product Sans" panose="020B0403030502040203" pitchFamily="34" charset="0"/>
                        <a:cs typeface="Arial"/>
                        <a:sym typeface="Arial"/>
                      </a:endParaRPr>
                    </a:p>
                  </a:txBody>
                  <a:tcPr marL="7620" marR="7620" marT="762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264914">
                <a:tc>
                  <a:txBody>
                    <a:bodyPr/>
                    <a:lstStyle/>
                    <a:p>
                      <a:pPr marL="0" marR="0" lvl="0" indent="0" algn="ctr" rtl="0">
                        <a:spcBef>
                          <a:spcPts val="0"/>
                        </a:spcBef>
                        <a:spcAft>
                          <a:spcPts val="0"/>
                        </a:spcAft>
                        <a:buNone/>
                      </a:pPr>
                      <a:r>
                        <a:rPr lang="en-US" sz="1100" b="1" u="none" strike="noStrike" cap="none">
                          <a:solidFill>
                            <a:schemeClr val="lt1"/>
                          </a:solidFill>
                          <a:latin typeface="SVN-Product Sans" panose="020B0403030502040203" pitchFamily="34" charset="0"/>
                          <a:ea typeface="Montserrat SemiBold"/>
                          <a:cs typeface="Montserrat SemiBold"/>
                          <a:sym typeface="Montserrat SemiBold"/>
                        </a:rPr>
                        <a:t>NSR (*)</a:t>
                      </a:r>
                      <a:endParaRPr sz="1100">
                        <a:latin typeface="SVN-Product Sans" panose="020B0403030502040203" pitchFamily="34" charset="0"/>
                      </a:endParaRPr>
                    </a:p>
                  </a:txBody>
                  <a:tcPr marL="91450" marR="91450" marT="45725" marB="45725"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0B0F0"/>
                    </a:solidFill>
                  </a:tcPr>
                </a:tc>
                <a:tc>
                  <a:txBody>
                    <a:bodyPr/>
                    <a:lstStyle/>
                    <a:p>
                      <a:pPr marR="0" algn="ctr" rtl="0" fontAlgn="b">
                        <a:lnSpc>
                          <a:spcPct val="100000"/>
                        </a:lnSpc>
                        <a:spcBef>
                          <a:spcPts val="0"/>
                        </a:spcBef>
                        <a:spcAft>
                          <a:spcPts val="0"/>
                        </a:spcAft>
                        <a:buClr>
                          <a:srgbClr val="000000"/>
                        </a:buClr>
                        <a:buFont typeface="Arial"/>
                      </a:pPr>
                      <a:r>
                        <a:rPr lang="en-US" sz="1000" b="0" i="0" u="none" strike="noStrike" cap="none" dirty="0">
                          <a:solidFill>
                            <a:srgbClr val="000000"/>
                          </a:solidFill>
                          <a:effectLst/>
                          <a:latin typeface="SVN-Product Sans" panose="020B0403030502040203" pitchFamily="34" charset="0"/>
                          <a:ea typeface="+mn-ea"/>
                          <a:cs typeface="+mn-cs"/>
                          <a:sym typeface="Arial"/>
                        </a:rPr>
                        <a:t>57,2%</a:t>
                      </a:r>
                    </a:p>
                  </a:txBody>
                  <a:tcPr marL="7620" marR="7620" marT="762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R="0" algn="ctr" rtl="0" fontAlgn="b">
                        <a:lnSpc>
                          <a:spcPct val="100000"/>
                        </a:lnSpc>
                        <a:spcBef>
                          <a:spcPts val="0"/>
                        </a:spcBef>
                        <a:spcAft>
                          <a:spcPts val="0"/>
                        </a:spcAft>
                        <a:buClr>
                          <a:srgbClr val="000000"/>
                        </a:buClr>
                        <a:buFont typeface="Arial"/>
                      </a:pPr>
                      <a:r>
                        <a:rPr lang="en-US" sz="1000" b="0" i="0" u="none" strike="noStrike" cap="none" dirty="0">
                          <a:solidFill>
                            <a:schemeClr val="tx1"/>
                          </a:solidFill>
                          <a:effectLst/>
                          <a:latin typeface="SVN-Product Sans" panose="020B0403030502040203" pitchFamily="34" charset="0"/>
                          <a:ea typeface="+mn-ea"/>
                          <a:cs typeface="+mn-cs"/>
                          <a:sym typeface="Arial"/>
                        </a:rPr>
                        <a:t>67,1%</a:t>
                      </a:r>
                    </a:p>
                  </a:txBody>
                  <a:tcPr marL="7620" marR="7620" marT="762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R="0" algn="ctr" rtl="0" fontAlgn="b">
                        <a:lnSpc>
                          <a:spcPct val="100000"/>
                        </a:lnSpc>
                        <a:spcBef>
                          <a:spcPts val="0"/>
                        </a:spcBef>
                        <a:spcAft>
                          <a:spcPts val="0"/>
                        </a:spcAft>
                        <a:buClr>
                          <a:srgbClr val="000000"/>
                        </a:buClr>
                        <a:buFont typeface="Arial"/>
                      </a:pPr>
                      <a:r>
                        <a:rPr lang="en-US" sz="1000" b="0" i="0" u="none" strike="noStrike" cap="none" dirty="0">
                          <a:solidFill>
                            <a:srgbClr val="000000"/>
                          </a:solidFill>
                          <a:effectLst/>
                          <a:latin typeface="SVN-Product Sans" panose="020B0403030502040203" pitchFamily="34" charset="0"/>
                          <a:ea typeface="+mn-ea"/>
                          <a:cs typeface="+mn-cs"/>
                          <a:sym typeface="Arial"/>
                        </a:rPr>
                        <a:t>56,8%</a:t>
                      </a:r>
                    </a:p>
                  </a:txBody>
                  <a:tcPr marL="7620" marR="7620" marT="7620" marB="0"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R="0" algn="ctr" rtl="0" fontAlgn="b">
                        <a:lnSpc>
                          <a:spcPct val="100000"/>
                        </a:lnSpc>
                        <a:spcBef>
                          <a:spcPts val="0"/>
                        </a:spcBef>
                        <a:spcAft>
                          <a:spcPts val="0"/>
                        </a:spcAft>
                        <a:buClr>
                          <a:srgbClr val="000000"/>
                        </a:buClr>
                        <a:buFont typeface="Arial"/>
                      </a:pPr>
                      <a:r>
                        <a:rPr lang="en-US" sz="1000" b="0" i="0" u="none" strike="noStrike" cap="none" dirty="0">
                          <a:solidFill>
                            <a:srgbClr val="00B050"/>
                          </a:solidFill>
                          <a:effectLst/>
                          <a:latin typeface="SVN-Product Sans" panose="020B0403030502040203" pitchFamily="34" charset="0"/>
                          <a:ea typeface="+mn-ea"/>
                          <a:cs typeface="+mn-cs"/>
                          <a:sym typeface="Arial"/>
                        </a:rPr>
                        <a:t>84,9%</a:t>
                      </a:r>
                    </a:p>
                  </a:txBody>
                  <a:tcPr marL="7620" marR="7620" marT="762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R="0" algn="ctr" rtl="0" fontAlgn="b">
                        <a:lnSpc>
                          <a:spcPct val="100000"/>
                        </a:lnSpc>
                        <a:spcBef>
                          <a:spcPts val="0"/>
                        </a:spcBef>
                        <a:spcAft>
                          <a:spcPts val="0"/>
                        </a:spcAft>
                        <a:buClr>
                          <a:srgbClr val="000000"/>
                        </a:buClr>
                        <a:buFont typeface="Arial"/>
                      </a:pPr>
                      <a:r>
                        <a:rPr lang="en-US" sz="1000" b="0" i="0" u="none" strike="noStrike" cap="none" dirty="0">
                          <a:solidFill>
                            <a:srgbClr val="00B050"/>
                          </a:solidFill>
                          <a:effectLst/>
                          <a:latin typeface="SVN-Product Sans" panose="020B0403030502040203" pitchFamily="34" charset="0"/>
                          <a:ea typeface="+mn-ea"/>
                          <a:cs typeface="+mn-cs"/>
                          <a:sym typeface="Arial"/>
                        </a:rPr>
                        <a:t>82,8%</a:t>
                      </a:r>
                    </a:p>
                  </a:txBody>
                  <a:tcPr marL="7620" marR="7620" marT="762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R="0" algn="ctr" rtl="0" fontAlgn="b">
                        <a:lnSpc>
                          <a:spcPct val="100000"/>
                        </a:lnSpc>
                        <a:spcBef>
                          <a:spcPts val="0"/>
                        </a:spcBef>
                        <a:spcAft>
                          <a:spcPts val="0"/>
                        </a:spcAft>
                        <a:buClr>
                          <a:srgbClr val="000000"/>
                        </a:buClr>
                        <a:buFont typeface="Arial"/>
                      </a:pPr>
                      <a:r>
                        <a:rPr lang="en-US" sz="1000" b="0" i="0" u="none" strike="noStrike" cap="none" dirty="0">
                          <a:solidFill>
                            <a:schemeClr val="tx1"/>
                          </a:solidFill>
                          <a:effectLst/>
                          <a:latin typeface="SVN-Product Sans" panose="020B0403030502040203" pitchFamily="34" charset="0"/>
                          <a:ea typeface="+mn-ea"/>
                          <a:cs typeface="+mn-cs"/>
                          <a:sym typeface="Arial"/>
                        </a:rPr>
                        <a:t>63,7%</a:t>
                      </a:r>
                    </a:p>
                  </a:txBody>
                  <a:tcPr marL="7620" marR="7620" marT="7620" marB="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R="0" algn="ctr" rtl="0" fontAlgn="b">
                        <a:lnSpc>
                          <a:spcPct val="100000"/>
                        </a:lnSpc>
                        <a:spcBef>
                          <a:spcPts val="0"/>
                        </a:spcBef>
                        <a:spcAft>
                          <a:spcPts val="0"/>
                        </a:spcAft>
                        <a:buClr>
                          <a:srgbClr val="000000"/>
                        </a:buClr>
                        <a:buFont typeface="Arial"/>
                      </a:pPr>
                      <a:r>
                        <a:rPr lang="en-US" sz="1000" b="0" i="0" u="none" strike="noStrike" cap="none" dirty="0">
                          <a:solidFill>
                            <a:srgbClr val="000000"/>
                          </a:solidFill>
                          <a:effectLst/>
                          <a:latin typeface="SVN-Product Sans" panose="020B0403030502040203" pitchFamily="34" charset="0"/>
                          <a:ea typeface="+mn-ea"/>
                          <a:cs typeface="+mn-cs"/>
                          <a:sym typeface="Arial"/>
                        </a:rPr>
                        <a:t>59.9%</a:t>
                      </a:r>
                    </a:p>
                  </a:txBody>
                  <a:tcPr marL="7620" marR="7620" marT="7620" marB="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R="0" algn="ctr" rtl="0" fontAlgn="b">
                        <a:lnSpc>
                          <a:spcPct val="100000"/>
                        </a:lnSpc>
                        <a:spcBef>
                          <a:spcPts val="0"/>
                        </a:spcBef>
                        <a:spcAft>
                          <a:spcPts val="0"/>
                        </a:spcAft>
                        <a:buClr>
                          <a:srgbClr val="000000"/>
                        </a:buClr>
                        <a:buFont typeface="Arial"/>
                      </a:pPr>
                      <a:r>
                        <a:rPr lang="en-US" sz="1000" b="0" i="0" u="none" strike="noStrike" cap="none" dirty="0">
                          <a:solidFill>
                            <a:srgbClr val="00B050"/>
                          </a:solidFill>
                          <a:effectLst/>
                          <a:latin typeface="SVN-Product Sans" panose="020B0403030502040203" pitchFamily="34" charset="0"/>
                          <a:ea typeface="+mn-ea"/>
                          <a:cs typeface="+mn-cs"/>
                          <a:sym typeface="Arial"/>
                        </a:rPr>
                        <a:t>93,9%</a:t>
                      </a:r>
                    </a:p>
                  </a:txBody>
                  <a:tcPr marL="7620" marR="7620" marT="762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r h="1018454">
                <a:tc>
                  <a:txBody>
                    <a:bodyPr/>
                    <a:lstStyle/>
                    <a:p>
                      <a:pPr marL="0" marR="0" lvl="0" indent="0" algn="ctr" rtl="0">
                        <a:spcBef>
                          <a:spcPts val="0"/>
                        </a:spcBef>
                        <a:spcAft>
                          <a:spcPts val="0"/>
                        </a:spcAft>
                        <a:buNone/>
                      </a:pPr>
                      <a:r>
                        <a:rPr lang="en-US" sz="1100" b="1" u="none" strike="noStrike" cap="none">
                          <a:solidFill>
                            <a:schemeClr val="lt1"/>
                          </a:solidFill>
                          <a:latin typeface="SVN-Product Sans" panose="020B0403030502040203" pitchFamily="34" charset="0"/>
                          <a:ea typeface="Montserrat SemiBold"/>
                          <a:cs typeface="Montserrat SemiBold"/>
                          <a:sym typeface="Montserrat SemiBold"/>
                        </a:rPr>
                        <a:t>Chủ đề tích cực nổi bật</a:t>
                      </a:r>
                      <a:endParaRPr sz="1100">
                        <a:latin typeface="SVN-Product Sans" panose="020B0403030502040203" pitchFamily="34" charset="0"/>
                      </a:endParaRPr>
                    </a:p>
                  </a:txBody>
                  <a:tcPr marL="91450" marR="91450" marT="45725" marB="45725"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0B050"/>
                    </a:solidFill>
                  </a:tcPr>
                </a:tc>
                <a:tc>
                  <a:txBody>
                    <a:bodyPr/>
                    <a:lstStyle/>
                    <a:p>
                      <a:pPr marL="45720" marR="0" lvl="0" indent="-45720" algn="l" rtl="0">
                        <a:lnSpc>
                          <a:spcPct val="100000"/>
                        </a:lnSpc>
                        <a:spcBef>
                          <a:spcPts val="0"/>
                        </a:spcBef>
                        <a:spcAft>
                          <a:spcPts val="0"/>
                        </a:spcAft>
                        <a:buSzPts val="800"/>
                        <a:buFont typeface="Arial" panose="020B0604020202020204" pitchFamily="34" charset="0"/>
                        <a:buChar char="•"/>
                      </a:pPr>
                      <a:r>
                        <a:rPr lang="en-US" sz="900" dirty="0">
                          <a:latin typeface="SVN-Product Sans" panose="020B0403030502040203" pitchFamily="34" charset="0"/>
                        </a:rPr>
                        <a:t>Minigames</a:t>
                      </a:r>
                    </a:p>
                    <a:p>
                      <a:pPr marL="45720" marR="0" lvl="0" indent="-45720" algn="l" rtl="0">
                        <a:lnSpc>
                          <a:spcPct val="100000"/>
                        </a:lnSpc>
                        <a:spcBef>
                          <a:spcPts val="0"/>
                        </a:spcBef>
                        <a:spcAft>
                          <a:spcPts val="0"/>
                        </a:spcAft>
                        <a:buSzPts val="800"/>
                        <a:buFont typeface="Arial" panose="020B0604020202020204" pitchFamily="34" charset="0"/>
                        <a:buChar char="•"/>
                      </a:pPr>
                      <a:r>
                        <a:rPr lang="vi-VN" sz="900" dirty="0">
                          <a:latin typeface="SVN-Product Sans" panose="020B0403030502040203" pitchFamily="34" charset="0"/>
                        </a:rPr>
                        <a:t>Chiến dịch BIDV – Vì Việt Nam rạng rỡ</a:t>
                      </a:r>
                    </a:p>
                    <a:p>
                      <a:pPr marL="45720" marR="0" lvl="0" indent="-45720" algn="l" rtl="0">
                        <a:lnSpc>
                          <a:spcPct val="100000"/>
                        </a:lnSpc>
                        <a:spcBef>
                          <a:spcPts val="0"/>
                        </a:spcBef>
                        <a:spcAft>
                          <a:spcPts val="0"/>
                        </a:spcAft>
                        <a:buSzPts val="800"/>
                        <a:buFont typeface="Arial" panose="020B0604020202020204" pitchFamily="34" charset="0"/>
                        <a:buChar char="•"/>
                      </a:pPr>
                      <a:r>
                        <a:rPr lang="en-US" sz="900" dirty="0">
                          <a:latin typeface="SVN-Product Sans" panose="020B0403030502040203" pitchFamily="34" charset="0"/>
                        </a:rPr>
                        <a:t>Livestream</a:t>
                      </a: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45720" marR="0" lvl="0" indent="-45720" algn="just" rtl="0">
                        <a:lnSpc>
                          <a:spcPct val="100000"/>
                        </a:lnSpc>
                        <a:spcBef>
                          <a:spcPts val="0"/>
                        </a:spcBef>
                        <a:spcAft>
                          <a:spcPts val="0"/>
                        </a:spcAft>
                        <a:buSzPts val="800"/>
                        <a:buFont typeface="Arial" panose="020B0604020202020204" pitchFamily="34" charset="0"/>
                        <a:buChar char="•"/>
                      </a:pPr>
                      <a:r>
                        <a:rPr lang="en-US" sz="900" dirty="0" err="1">
                          <a:latin typeface="SVN-Product Sans" panose="020B0403030502040203" pitchFamily="34" charset="0"/>
                        </a:rPr>
                        <a:t>Giải</a:t>
                      </a:r>
                      <a:r>
                        <a:rPr lang="en-US" sz="900" dirty="0">
                          <a:latin typeface="SVN-Product Sans" panose="020B0403030502040203" pitchFamily="34" charset="0"/>
                        </a:rPr>
                        <a:t> </a:t>
                      </a:r>
                      <a:r>
                        <a:rPr lang="en-US" sz="900" dirty="0" err="1">
                          <a:latin typeface="SVN-Product Sans" panose="020B0403030502040203" pitchFamily="34" charset="0"/>
                        </a:rPr>
                        <a:t>thưởng</a:t>
                      </a:r>
                      <a:r>
                        <a:rPr lang="en-US" sz="900" dirty="0">
                          <a:latin typeface="SVN-Product Sans" panose="020B0403030502040203" pitchFamily="34" charset="0"/>
                        </a:rPr>
                        <a:t> </a:t>
                      </a:r>
                      <a:r>
                        <a:rPr lang="en-US" sz="900" dirty="0" err="1">
                          <a:latin typeface="SVN-Product Sans" panose="020B0403030502040203" pitchFamily="34" charset="0"/>
                        </a:rPr>
                        <a:t>thành</a:t>
                      </a:r>
                      <a:r>
                        <a:rPr lang="en-US" sz="900" dirty="0">
                          <a:latin typeface="SVN-Product Sans" panose="020B0403030502040203" pitchFamily="34" charset="0"/>
                        </a:rPr>
                        <a:t> </a:t>
                      </a:r>
                      <a:r>
                        <a:rPr lang="en-US" sz="900" dirty="0" err="1">
                          <a:latin typeface="SVN-Product Sans" panose="020B0403030502040203" pitchFamily="34" charset="0"/>
                        </a:rPr>
                        <a:t>tựu</a:t>
                      </a:r>
                      <a:endParaRPr lang="vi-VN" sz="900" dirty="0">
                        <a:latin typeface="SVN-Product Sans" panose="020B0403030502040203" pitchFamily="34" charset="0"/>
                      </a:endParaRPr>
                    </a:p>
                  </a:txBody>
                  <a:tcPr marL="91450" marR="91450" marT="45725" marB="45725"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45720" marR="0" lvl="0" indent="-45720" algn="just" rtl="0">
                        <a:lnSpc>
                          <a:spcPct val="100000"/>
                        </a:lnSpc>
                        <a:spcBef>
                          <a:spcPts val="0"/>
                        </a:spcBef>
                        <a:spcAft>
                          <a:spcPts val="0"/>
                        </a:spcAft>
                        <a:buSzPts val="800"/>
                        <a:buFont typeface="Arial" panose="020B0604020202020204" pitchFamily="34" charset="0"/>
                        <a:buChar char="•"/>
                      </a:pPr>
                      <a:r>
                        <a:rPr lang="en-US" sz="900" dirty="0">
                          <a:latin typeface="SVN-Product Sans" panose="020B0403030502040203" pitchFamily="34" charset="0"/>
                        </a:rPr>
                        <a:t>Minigames</a:t>
                      </a:r>
                    </a:p>
                    <a:p>
                      <a:pPr marL="45720" marR="0" lvl="0" indent="-45720" algn="just" rtl="0">
                        <a:lnSpc>
                          <a:spcPct val="100000"/>
                        </a:lnSpc>
                        <a:spcBef>
                          <a:spcPts val="0"/>
                        </a:spcBef>
                        <a:spcAft>
                          <a:spcPts val="0"/>
                        </a:spcAft>
                        <a:buSzPts val="800"/>
                        <a:buFont typeface="Arial" panose="020B0604020202020204" pitchFamily="34" charset="0"/>
                        <a:buChar char="•"/>
                      </a:pPr>
                      <a:r>
                        <a:rPr kumimoji="0" lang="en-US" sz="9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Tài</a:t>
                      </a:r>
                      <a:r>
                        <a:rPr kumimoji="0" lang="en-US" sz="9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a:t>
                      </a:r>
                      <a:r>
                        <a:rPr kumimoji="0" lang="en-US" sz="9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trợ</a:t>
                      </a:r>
                      <a:r>
                        <a:rPr kumimoji="0" lang="en-US" sz="9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a:t>
                      </a:r>
                      <a:r>
                        <a:rPr kumimoji="0" lang="en-US" sz="9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Giải</a:t>
                      </a:r>
                      <a:r>
                        <a:rPr kumimoji="0" lang="en-US" sz="9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a:t>
                      </a:r>
                      <a:r>
                        <a:rPr kumimoji="0" lang="en-US" sz="9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bóng</a:t>
                      </a:r>
                      <a:r>
                        <a:rPr kumimoji="0" lang="en-US" sz="9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a:t>
                      </a:r>
                      <a:r>
                        <a:rPr kumimoji="0" lang="en-US" sz="9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chuyền</a:t>
                      </a:r>
                      <a:r>
                        <a:rPr kumimoji="0" lang="en-US" sz="9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a:t>
                      </a:r>
                      <a:r>
                        <a:rPr kumimoji="0" lang="en-US" sz="9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nữ</a:t>
                      </a:r>
                      <a:r>
                        <a:rPr kumimoji="0" lang="en-US" sz="9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a:t>
                      </a:r>
                      <a:r>
                        <a:rPr kumimoji="0" lang="en-US" sz="9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quốc</a:t>
                      </a:r>
                      <a:r>
                        <a:rPr kumimoji="0" lang="en-US" sz="9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a:t>
                      </a:r>
                      <a:r>
                        <a:rPr kumimoji="0" lang="en-US" sz="9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tế</a:t>
                      </a:r>
                      <a:r>
                        <a:rPr kumimoji="0" lang="en-US" sz="9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VTV </a:t>
                      </a:r>
                      <a:r>
                        <a:rPr kumimoji="0" lang="en-US" sz="900" b="0" i="0" u="none" strike="noStrike" kern="0" cap="none" spc="0" normalizeH="0" baseline="0" noProof="0" dirty="0" err="1">
                          <a:ln>
                            <a:noFill/>
                          </a:ln>
                          <a:solidFill>
                            <a:srgbClr val="050505"/>
                          </a:solidFill>
                          <a:effectLst/>
                          <a:uLnTx/>
                          <a:uFillTx/>
                          <a:latin typeface="SVN-Product Sans" panose="020B0403030502040203" pitchFamily="34" charset="0"/>
                          <a:cs typeface="Arial"/>
                          <a:sym typeface="Arial"/>
                        </a:rPr>
                        <a:t>Ferroli</a:t>
                      </a:r>
                      <a:r>
                        <a:rPr kumimoji="0" lang="en-US" sz="900" b="0" i="0" u="none" strike="noStrike" kern="0" cap="none" spc="0" normalizeH="0" baseline="0" noProof="0" dirty="0">
                          <a:ln>
                            <a:noFill/>
                          </a:ln>
                          <a:solidFill>
                            <a:srgbClr val="050505"/>
                          </a:solidFill>
                          <a:effectLst/>
                          <a:uLnTx/>
                          <a:uFillTx/>
                          <a:latin typeface="SVN-Product Sans" panose="020B0403030502040203" pitchFamily="34" charset="0"/>
                          <a:cs typeface="Arial"/>
                          <a:sym typeface="Arial"/>
                        </a:rPr>
                        <a:t> Cup 2025</a:t>
                      </a:r>
                      <a:endParaRPr lang="en-US" sz="900" dirty="0">
                        <a:latin typeface="SVN-Product Sans" panose="020B0403030502040203" pitchFamily="34" charset="0"/>
                      </a:endParaRPr>
                    </a:p>
                  </a:txBody>
                  <a:tcPr marL="91450" marR="91450" marT="45725" marB="45725"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45720" marR="0" lvl="0" indent="-45720" algn="just" rtl="0">
                        <a:spcBef>
                          <a:spcPts val="0"/>
                        </a:spcBef>
                        <a:spcAft>
                          <a:spcPts val="0"/>
                        </a:spcAft>
                        <a:buFont typeface="Arial" panose="020B0604020202020204" pitchFamily="34" charset="0"/>
                        <a:buChar char="•"/>
                      </a:pPr>
                      <a:r>
                        <a:rPr lang="en-US" sz="900" dirty="0">
                          <a:latin typeface="SVN-Product Sans" panose="020B0403030502040203" pitchFamily="34" charset="0"/>
                        </a:rPr>
                        <a:t>Minigames</a:t>
                      </a:r>
                    </a:p>
                    <a:p>
                      <a:pPr marL="45720" marR="0" lvl="0" indent="-45720" algn="just" rtl="0">
                        <a:lnSpc>
                          <a:spcPct val="100000"/>
                        </a:lnSpc>
                        <a:spcBef>
                          <a:spcPts val="0"/>
                        </a:spcBef>
                        <a:spcAft>
                          <a:spcPts val="0"/>
                        </a:spcAft>
                        <a:buSzPts val="800"/>
                        <a:buFont typeface="Arial" panose="020B0604020202020204" pitchFamily="34" charset="0"/>
                        <a:buChar char="•"/>
                      </a:pPr>
                      <a:r>
                        <a:rPr lang="en-US" sz="900" dirty="0" err="1">
                          <a:latin typeface="SVN-Product Sans" panose="020B0403030502040203" pitchFamily="34" charset="0"/>
                        </a:rPr>
                        <a:t>Giải</a:t>
                      </a:r>
                      <a:r>
                        <a:rPr lang="en-US" sz="900" dirty="0">
                          <a:latin typeface="SVN-Product Sans" panose="020B0403030502040203" pitchFamily="34" charset="0"/>
                        </a:rPr>
                        <a:t> </a:t>
                      </a:r>
                      <a:r>
                        <a:rPr lang="en-US" sz="900" dirty="0" err="1">
                          <a:latin typeface="SVN-Product Sans" panose="020B0403030502040203" pitchFamily="34" charset="0"/>
                        </a:rPr>
                        <a:t>thưởng</a:t>
                      </a:r>
                      <a:r>
                        <a:rPr lang="en-US" sz="900" dirty="0">
                          <a:latin typeface="SVN-Product Sans" panose="020B0403030502040203" pitchFamily="34" charset="0"/>
                        </a:rPr>
                        <a:t>/</a:t>
                      </a:r>
                      <a:r>
                        <a:rPr lang="en-US" sz="900" dirty="0" err="1">
                          <a:latin typeface="SVN-Product Sans" panose="020B0403030502040203" pitchFamily="34" charset="0"/>
                        </a:rPr>
                        <a:t>thành</a:t>
                      </a:r>
                      <a:r>
                        <a:rPr lang="en-US" sz="900" dirty="0">
                          <a:latin typeface="SVN-Product Sans" panose="020B0403030502040203" pitchFamily="34" charset="0"/>
                        </a:rPr>
                        <a:t> </a:t>
                      </a:r>
                      <a:r>
                        <a:rPr lang="en-US" sz="900" dirty="0" err="1">
                          <a:latin typeface="SVN-Product Sans" panose="020B0403030502040203" pitchFamily="34" charset="0"/>
                        </a:rPr>
                        <a:t>tựu</a:t>
                      </a:r>
                      <a:endParaRPr lang="en-US" sz="900" dirty="0">
                        <a:latin typeface="SVN-Product Sans" panose="020B0403030502040203" pitchFamily="34" charset="0"/>
                      </a:endParaRPr>
                    </a:p>
                    <a:p>
                      <a:pPr marL="45720" marR="0" lvl="0" indent="-45720" algn="just" rtl="0">
                        <a:lnSpc>
                          <a:spcPct val="100000"/>
                        </a:lnSpc>
                        <a:spcBef>
                          <a:spcPts val="0"/>
                        </a:spcBef>
                        <a:spcAft>
                          <a:spcPts val="0"/>
                        </a:spcAft>
                        <a:buSzPts val="800"/>
                        <a:buFont typeface="Arial" panose="020B0604020202020204" pitchFamily="34" charset="0"/>
                        <a:buChar char="•"/>
                      </a:pPr>
                      <a:r>
                        <a:rPr lang="en-US" sz="900" dirty="0" err="1">
                          <a:latin typeface="SVN-Product Sans" panose="020B0403030502040203" pitchFamily="34" charset="0"/>
                        </a:rPr>
                        <a:t>Tài</a:t>
                      </a:r>
                      <a:r>
                        <a:rPr lang="en-US" sz="900" dirty="0">
                          <a:latin typeface="SVN-Product Sans" panose="020B0403030502040203" pitchFamily="34" charset="0"/>
                        </a:rPr>
                        <a:t> </a:t>
                      </a:r>
                      <a:r>
                        <a:rPr lang="en-US" sz="900" dirty="0" err="1">
                          <a:latin typeface="SVN-Product Sans" panose="020B0403030502040203" pitchFamily="34" charset="0"/>
                        </a:rPr>
                        <a:t>trợ</a:t>
                      </a:r>
                      <a:r>
                        <a:rPr lang="en-US" sz="900" dirty="0">
                          <a:latin typeface="SVN-Product Sans" panose="020B0403030502040203" pitchFamily="34" charset="0"/>
                        </a:rPr>
                        <a:t> </a:t>
                      </a:r>
                      <a:r>
                        <a:rPr lang="en-US" sz="900" dirty="0" err="1">
                          <a:latin typeface="SVN-Product Sans" panose="020B0403030502040203" pitchFamily="34" charset="0"/>
                        </a:rPr>
                        <a:t>chương</a:t>
                      </a:r>
                      <a:r>
                        <a:rPr lang="en-US" sz="900" dirty="0">
                          <a:latin typeface="SVN-Product Sans" panose="020B0403030502040203" pitchFamily="34" charset="0"/>
                        </a:rPr>
                        <a:t> </a:t>
                      </a:r>
                      <a:r>
                        <a:rPr lang="en-US" sz="900" dirty="0" err="1">
                          <a:latin typeface="SVN-Product Sans" panose="020B0403030502040203" pitchFamily="34" charset="0"/>
                        </a:rPr>
                        <a:t>trình</a:t>
                      </a:r>
                      <a:r>
                        <a:rPr lang="en-US" sz="900" dirty="0">
                          <a:latin typeface="SVN-Product Sans" panose="020B0403030502040203" pitchFamily="34" charset="0"/>
                        </a:rPr>
                        <a:t> </a:t>
                      </a:r>
                      <a:r>
                        <a:rPr lang="en-US" sz="900" dirty="0" err="1">
                          <a:latin typeface="SVN-Product Sans" panose="020B0403030502040203" pitchFamily="34" charset="0"/>
                        </a:rPr>
                        <a:t>sao</a:t>
                      </a:r>
                      <a:r>
                        <a:rPr lang="en-US" sz="900" dirty="0">
                          <a:latin typeface="SVN-Product Sans" panose="020B0403030502040203" pitchFamily="34" charset="0"/>
                        </a:rPr>
                        <a:t> </a:t>
                      </a:r>
                      <a:r>
                        <a:rPr lang="en-US" sz="900" dirty="0" err="1">
                          <a:latin typeface="SVN-Product Sans" panose="020B0403030502040203" pitchFamily="34" charset="0"/>
                        </a:rPr>
                        <a:t>nhập</a:t>
                      </a:r>
                      <a:r>
                        <a:rPr lang="en-US" sz="900" dirty="0">
                          <a:latin typeface="SVN-Product Sans" panose="020B0403030502040203" pitchFamily="34" charset="0"/>
                        </a:rPr>
                        <a:t> </a:t>
                      </a:r>
                      <a:r>
                        <a:rPr lang="en-US" sz="900" dirty="0" err="1">
                          <a:latin typeface="SVN-Product Sans" panose="020B0403030502040203" pitchFamily="34" charset="0"/>
                        </a:rPr>
                        <a:t>ngũ</a:t>
                      </a:r>
                      <a:endParaRPr lang="vi-VN" sz="900" dirty="0">
                        <a:latin typeface="SVN-Product Sans" panose="020B0403030502040203" pitchFamily="34" charset="0"/>
                      </a:endParaRPr>
                    </a:p>
                  </a:txBody>
                  <a:tcPr marL="91450" marR="91450" marT="45725" marB="45725"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45720" marR="0" lvl="0" indent="-45720" algn="just" rtl="0">
                        <a:spcBef>
                          <a:spcPts val="0"/>
                        </a:spcBef>
                        <a:spcAft>
                          <a:spcPts val="0"/>
                        </a:spcAft>
                        <a:buFont typeface="Arial" panose="020B0604020202020204" pitchFamily="34" charset="0"/>
                        <a:buChar char="•"/>
                      </a:pPr>
                      <a:r>
                        <a:rPr lang="en-US" sz="900" dirty="0">
                          <a:latin typeface="SVN-Product Sans" panose="020B0403030502040203" pitchFamily="34" charset="0"/>
                        </a:rPr>
                        <a:t>Minigames</a:t>
                      </a:r>
                    </a:p>
                    <a:p>
                      <a:pPr marL="45720" marR="0" lvl="0" indent="-45720" algn="just" rtl="0">
                        <a:spcBef>
                          <a:spcPts val="0"/>
                        </a:spcBef>
                        <a:spcAft>
                          <a:spcPts val="0"/>
                        </a:spcAft>
                        <a:buFont typeface="Arial" panose="020B0604020202020204" pitchFamily="34" charset="0"/>
                        <a:buChar char="•"/>
                      </a:pPr>
                      <a:r>
                        <a:rPr lang="en-US" sz="900" dirty="0">
                          <a:latin typeface="SVN-Product Sans" panose="020B0403030502040203" pitchFamily="34" charset="0"/>
                        </a:rPr>
                        <a:t>Livestream</a:t>
                      </a:r>
                    </a:p>
                    <a:p>
                      <a:pPr marL="45720" marR="0" lvl="0" indent="-4572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dirty="0">
                          <a:latin typeface="SVN-Product Sans" panose="020B0403030502040203" pitchFamily="34" charset="0"/>
                        </a:rPr>
                        <a:t>Tài </a:t>
                      </a:r>
                      <a:r>
                        <a:rPr lang="en-US" sz="900" dirty="0" err="1">
                          <a:latin typeface="SVN-Product Sans" panose="020B0403030502040203" pitchFamily="34" charset="0"/>
                        </a:rPr>
                        <a:t>trợ</a:t>
                      </a:r>
                      <a:r>
                        <a:rPr lang="en-US" sz="900" dirty="0">
                          <a:latin typeface="SVN-Product Sans" panose="020B0403030502040203" pitchFamily="34" charset="0"/>
                        </a:rPr>
                        <a:t> </a:t>
                      </a:r>
                      <a:r>
                        <a:rPr lang="en-US" sz="900" dirty="0" err="1">
                          <a:latin typeface="SVN-Product Sans" panose="020B0403030502040203" pitchFamily="34" charset="0"/>
                        </a:rPr>
                        <a:t>cho</a:t>
                      </a:r>
                      <a:r>
                        <a:rPr lang="en-US" sz="900" dirty="0">
                          <a:latin typeface="SVN-Product Sans" panose="020B0403030502040203" pitchFamily="34" charset="0"/>
                        </a:rPr>
                        <a:t> ATVNCG, </a:t>
                      </a:r>
                      <a:r>
                        <a:rPr lang="en-US" sz="900" dirty="0" err="1">
                          <a:latin typeface="SVN-Product Sans" panose="020B0403030502040203" pitchFamily="34" charset="0"/>
                        </a:rPr>
                        <a:t>Tân</a:t>
                      </a:r>
                      <a:r>
                        <a:rPr lang="en-US" sz="900" dirty="0">
                          <a:latin typeface="SVN-Product Sans" panose="020B0403030502040203" pitchFamily="34" charset="0"/>
                        </a:rPr>
                        <a:t> </a:t>
                      </a:r>
                      <a:r>
                        <a:rPr lang="en-US" sz="900" dirty="0" err="1">
                          <a:latin typeface="SVN-Product Sans" panose="020B0403030502040203" pitchFamily="34" charset="0"/>
                        </a:rPr>
                        <a:t>Binh</a:t>
                      </a:r>
                      <a:r>
                        <a:rPr lang="en-US" sz="900" dirty="0">
                          <a:latin typeface="SVN-Product Sans" panose="020B0403030502040203" pitchFamily="34" charset="0"/>
                        </a:rPr>
                        <a:t> </a:t>
                      </a:r>
                      <a:r>
                        <a:rPr lang="en-US" sz="900" dirty="0" err="1">
                          <a:latin typeface="SVN-Product Sans" panose="020B0403030502040203" pitchFamily="34" charset="0"/>
                        </a:rPr>
                        <a:t>Toàn</a:t>
                      </a:r>
                      <a:r>
                        <a:rPr lang="en-US" sz="900" dirty="0">
                          <a:latin typeface="SVN-Product Sans" panose="020B0403030502040203" pitchFamily="34" charset="0"/>
                        </a:rPr>
                        <a:t> </a:t>
                      </a:r>
                      <a:r>
                        <a:rPr lang="en-US" sz="900" dirty="0" err="1">
                          <a:latin typeface="SVN-Product Sans" panose="020B0403030502040203" pitchFamily="34" charset="0"/>
                        </a:rPr>
                        <a:t>Năng</a:t>
                      </a:r>
                      <a:endParaRPr lang="en-US" sz="900" dirty="0">
                        <a:latin typeface="SVN-Product Sans" panose="020B0403030502040203" pitchFamily="34" charset="0"/>
                      </a:endParaRPr>
                    </a:p>
                    <a:p>
                      <a:pPr marL="45720" marR="0" lvl="0" indent="-4572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dirty="0" err="1">
                          <a:latin typeface="SVN-Product Sans" panose="020B0403030502040203" pitchFamily="34" charset="0"/>
                        </a:rPr>
                        <a:t>Chương</a:t>
                      </a:r>
                      <a:r>
                        <a:rPr lang="en-US" sz="900" dirty="0">
                          <a:latin typeface="SVN-Product Sans" panose="020B0403030502040203" pitchFamily="34" charset="0"/>
                        </a:rPr>
                        <a:t> </a:t>
                      </a:r>
                      <a:r>
                        <a:rPr lang="en-US" sz="900" dirty="0" err="1">
                          <a:latin typeface="SVN-Product Sans" panose="020B0403030502040203" pitchFamily="34" charset="0"/>
                        </a:rPr>
                        <a:t>trình</a:t>
                      </a:r>
                      <a:r>
                        <a:rPr lang="en-US" sz="900" dirty="0">
                          <a:latin typeface="SVN-Product Sans" panose="020B0403030502040203" pitchFamily="34" charset="0"/>
                        </a:rPr>
                        <a:t> </a:t>
                      </a:r>
                      <a:r>
                        <a:rPr lang="en-US" sz="900" dirty="0" err="1">
                          <a:latin typeface="SVN-Product Sans" panose="020B0403030502040203" pitchFamily="34" charset="0"/>
                        </a:rPr>
                        <a:t>ưu</a:t>
                      </a:r>
                      <a:r>
                        <a:rPr lang="en-US" sz="900" dirty="0">
                          <a:latin typeface="SVN-Product Sans" panose="020B0403030502040203" pitchFamily="34" charset="0"/>
                        </a:rPr>
                        <a:t> </a:t>
                      </a:r>
                      <a:r>
                        <a:rPr lang="en-US" sz="900" dirty="0" err="1">
                          <a:latin typeface="SVN-Product Sans" panose="020B0403030502040203" pitchFamily="34" charset="0"/>
                        </a:rPr>
                        <a:t>đãi</a:t>
                      </a:r>
                      <a:endParaRPr lang="vi-VN" sz="900" dirty="0">
                        <a:latin typeface="SVN-Product Sans" panose="020B0403030502040203" pitchFamily="34" charset="0"/>
                      </a:endParaRPr>
                    </a:p>
                  </a:txBody>
                  <a:tcPr marL="91450" marR="91450" marT="45725" marB="45725"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45720" marR="0" lvl="0" indent="-45720" algn="just" rtl="0">
                        <a:lnSpc>
                          <a:spcPct val="100000"/>
                        </a:lnSpc>
                        <a:spcBef>
                          <a:spcPts val="0"/>
                        </a:spcBef>
                        <a:spcAft>
                          <a:spcPts val="0"/>
                        </a:spcAft>
                        <a:buSzPts val="800"/>
                        <a:buFont typeface="Arial" panose="020B0604020202020204" pitchFamily="34" charset="0"/>
                        <a:buChar char="•"/>
                      </a:pPr>
                      <a:r>
                        <a:rPr lang="en-US" sz="900" dirty="0">
                          <a:latin typeface="SVN-Product Sans" panose="020B0403030502040203" pitchFamily="34" charset="0"/>
                        </a:rPr>
                        <a:t>Minigame</a:t>
                      </a:r>
                    </a:p>
                    <a:p>
                      <a:pPr marL="45720" marR="0" lvl="0" indent="-45720" algn="just" defTabSz="914400" rtl="0" eaLnBrk="1" fontAlgn="auto" latinLnBrk="0" hangingPunct="1">
                        <a:lnSpc>
                          <a:spcPct val="100000"/>
                        </a:lnSpc>
                        <a:spcBef>
                          <a:spcPts val="0"/>
                        </a:spcBef>
                        <a:spcAft>
                          <a:spcPts val="0"/>
                        </a:spcAft>
                        <a:buClr>
                          <a:srgbClr val="000000"/>
                        </a:buClr>
                        <a:buSzPts val="800"/>
                        <a:buFont typeface="Arial" panose="020B0604020202020204" pitchFamily="34" charset="0"/>
                        <a:buChar char="•"/>
                        <a:tabLst/>
                        <a:defRPr/>
                      </a:pPr>
                      <a:r>
                        <a:rPr lang="en-US" sz="900" dirty="0" err="1">
                          <a:latin typeface="SVN-Product Sans" panose="020B0403030502040203" pitchFamily="34" charset="0"/>
                        </a:rPr>
                        <a:t>Giải</a:t>
                      </a:r>
                      <a:r>
                        <a:rPr lang="en-US" sz="900" dirty="0">
                          <a:latin typeface="SVN-Product Sans" panose="020B0403030502040203" pitchFamily="34" charset="0"/>
                        </a:rPr>
                        <a:t> </a:t>
                      </a:r>
                      <a:r>
                        <a:rPr lang="en-US" sz="900" dirty="0" err="1">
                          <a:latin typeface="SVN-Product Sans" panose="020B0403030502040203" pitchFamily="34" charset="0"/>
                        </a:rPr>
                        <a:t>thưởng</a:t>
                      </a:r>
                      <a:r>
                        <a:rPr lang="en-US" sz="900" dirty="0">
                          <a:latin typeface="SVN-Product Sans" panose="020B0403030502040203" pitchFamily="34" charset="0"/>
                        </a:rPr>
                        <a:t>/</a:t>
                      </a:r>
                      <a:r>
                        <a:rPr lang="en-US" sz="900" dirty="0" err="1">
                          <a:latin typeface="SVN-Product Sans" panose="020B0403030502040203" pitchFamily="34" charset="0"/>
                        </a:rPr>
                        <a:t>Thành</a:t>
                      </a:r>
                      <a:r>
                        <a:rPr lang="en-US" sz="900" dirty="0">
                          <a:latin typeface="SVN-Product Sans" panose="020B0403030502040203" pitchFamily="34" charset="0"/>
                        </a:rPr>
                        <a:t> </a:t>
                      </a:r>
                      <a:r>
                        <a:rPr lang="en-US" sz="900" dirty="0" err="1">
                          <a:latin typeface="SVN-Product Sans" panose="020B0403030502040203" pitchFamily="34" charset="0"/>
                        </a:rPr>
                        <a:t>tựu</a:t>
                      </a:r>
                      <a:endParaRPr lang="en-US" sz="900" dirty="0">
                        <a:latin typeface="SVN-Product Sans" panose="020B0403030502040203" pitchFamily="34" charset="0"/>
                      </a:endParaRPr>
                    </a:p>
                    <a:p>
                      <a:pPr marL="45720" marR="0" lvl="0" indent="-45720" algn="just" defTabSz="914400" rtl="0" eaLnBrk="1" fontAlgn="auto" latinLnBrk="0" hangingPunct="1">
                        <a:lnSpc>
                          <a:spcPct val="100000"/>
                        </a:lnSpc>
                        <a:spcBef>
                          <a:spcPts val="0"/>
                        </a:spcBef>
                        <a:spcAft>
                          <a:spcPts val="0"/>
                        </a:spcAft>
                        <a:buClr>
                          <a:srgbClr val="000000"/>
                        </a:buClr>
                        <a:buSzPts val="800"/>
                        <a:buFont typeface="Arial" panose="020B0604020202020204" pitchFamily="34" charset="0"/>
                        <a:buChar char="•"/>
                        <a:tabLst/>
                        <a:defRPr/>
                      </a:pPr>
                      <a:r>
                        <a:rPr lang="en-US" sz="900" dirty="0" err="1">
                          <a:latin typeface="SVN-Product Sans" panose="020B0403030502040203" pitchFamily="34" charset="0"/>
                        </a:rPr>
                        <a:t>Tài</a:t>
                      </a:r>
                      <a:r>
                        <a:rPr lang="en-US" sz="900" dirty="0">
                          <a:latin typeface="SVN-Product Sans" panose="020B0403030502040203" pitchFamily="34" charset="0"/>
                        </a:rPr>
                        <a:t> </a:t>
                      </a:r>
                      <a:r>
                        <a:rPr lang="en-US" sz="900" dirty="0" err="1">
                          <a:latin typeface="SVN-Product Sans" panose="020B0403030502040203" pitchFamily="34" charset="0"/>
                        </a:rPr>
                        <a:t>trợ</a:t>
                      </a:r>
                      <a:r>
                        <a:rPr lang="en-US" sz="900" dirty="0">
                          <a:latin typeface="SVN-Product Sans" panose="020B0403030502040203" pitchFamily="34" charset="0"/>
                        </a:rPr>
                        <a:t> </a:t>
                      </a:r>
                      <a:r>
                        <a:rPr lang="en-US" sz="900" dirty="0" err="1">
                          <a:latin typeface="SVN-Product Sans" panose="020B0403030502040203" pitchFamily="34" charset="0"/>
                        </a:rPr>
                        <a:t>Chiến</a:t>
                      </a:r>
                      <a:r>
                        <a:rPr lang="en-US" sz="900" dirty="0">
                          <a:latin typeface="SVN-Product Sans" panose="020B0403030502040203" pitchFamily="34" charset="0"/>
                        </a:rPr>
                        <a:t> </a:t>
                      </a:r>
                      <a:r>
                        <a:rPr lang="en-US" sz="900" dirty="0" err="1">
                          <a:latin typeface="SVN-Product Sans" panose="020B0403030502040203" pitchFamily="34" charset="0"/>
                        </a:rPr>
                        <a:t>sĩ</a:t>
                      </a:r>
                      <a:r>
                        <a:rPr lang="en-US" sz="900" dirty="0">
                          <a:latin typeface="SVN-Product Sans" panose="020B0403030502040203" pitchFamily="34" charset="0"/>
                        </a:rPr>
                        <a:t> </a:t>
                      </a:r>
                      <a:r>
                        <a:rPr lang="en-US" sz="900" dirty="0" err="1">
                          <a:latin typeface="SVN-Product Sans" panose="020B0403030502040203" pitchFamily="34" charset="0"/>
                        </a:rPr>
                        <a:t>quả</a:t>
                      </a:r>
                      <a:r>
                        <a:rPr lang="en-US" sz="900" dirty="0">
                          <a:latin typeface="SVN-Product Sans" panose="020B0403030502040203" pitchFamily="34" charset="0"/>
                        </a:rPr>
                        <a:t> </a:t>
                      </a:r>
                      <a:r>
                        <a:rPr lang="en-US" sz="900" dirty="0" err="1">
                          <a:latin typeface="SVN-Product Sans" panose="020B0403030502040203" pitchFamily="34" charset="0"/>
                        </a:rPr>
                        <a:t>cảm</a:t>
                      </a:r>
                      <a:endParaRPr lang="vi-VN" sz="900" dirty="0">
                        <a:latin typeface="SVN-Product Sans" panose="020B0403030502040203" pitchFamily="34" charset="0"/>
                      </a:endParaRPr>
                    </a:p>
                  </a:txBody>
                  <a:tcPr marL="91450" marR="91450" marT="45725" marB="45725"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45720" marR="0" lvl="0" indent="-45720" algn="just" rtl="0">
                        <a:lnSpc>
                          <a:spcPct val="100000"/>
                        </a:lnSpc>
                        <a:spcBef>
                          <a:spcPts val="0"/>
                        </a:spcBef>
                        <a:spcAft>
                          <a:spcPts val="0"/>
                        </a:spcAft>
                        <a:buSzPts val="800"/>
                        <a:buFont typeface="Arial" panose="020B0604020202020204" pitchFamily="34" charset="0"/>
                        <a:buChar char="•"/>
                      </a:pPr>
                      <a:r>
                        <a:rPr lang="en-US" sz="900" dirty="0">
                          <a:latin typeface="SVN-Product Sans" panose="020B0403030502040203" pitchFamily="34" charset="0"/>
                        </a:rPr>
                        <a:t>Livestream</a:t>
                      </a:r>
                    </a:p>
                    <a:p>
                      <a:pPr marL="45720" marR="0" lvl="0" indent="-45720" algn="just" defTabSz="914400" rtl="0" eaLnBrk="1" fontAlgn="auto" latinLnBrk="0" hangingPunct="1">
                        <a:lnSpc>
                          <a:spcPct val="100000"/>
                        </a:lnSpc>
                        <a:spcBef>
                          <a:spcPts val="0"/>
                        </a:spcBef>
                        <a:spcAft>
                          <a:spcPts val="0"/>
                        </a:spcAft>
                        <a:buClr>
                          <a:srgbClr val="000000"/>
                        </a:buClr>
                        <a:buSzPts val="800"/>
                        <a:buFont typeface="Arial" panose="020B0604020202020204" pitchFamily="34" charset="0"/>
                        <a:buChar char="•"/>
                        <a:tabLst/>
                        <a:defRPr/>
                      </a:pPr>
                      <a:r>
                        <a:rPr lang="en-US" sz="900" dirty="0" err="1">
                          <a:latin typeface="SVN-Product Sans" panose="020B0403030502040203" pitchFamily="34" charset="0"/>
                        </a:rPr>
                        <a:t>Giải</a:t>
                      </a:r>
                      <a:r>
                        <a:rPr lang="en-US" sz="900" dirty="0">
                          <a:latin typeface="SVN-Product Sans" panose="020B0403030502040203" pitchFamily="34" charset="0"/>
                        </a:rPr>
                        <a:t> </a:t>
                      </a:r>
                      <a:r>
                        <a:rPr lang="en-US" sz="900" dirty="0" err="1">
                          <a:latin typeface="SVN-Product Sans" panose="020B0403030502040203" pitchFamily="34" charset="0"/>
                        </a:rPr>
                        <a:t>thưởng</a:t>
                      </a:r>
                      <a:r>
                        <a:rPr lang="en-US" sz="900" dirty="0">
                          <a:latin typeface="SVN-Product Sans" panose="020B0403030502040203" pitchFamily="34" charset="0"/>
                        </a:rPr>
                        <a:t>/Thành </a:t>
                      </a:r>
                      <a:r>
                        <a:rPr lang="en-US" sz="900" dirty="0" err="1">
                          <a:latin typeface="SVN-Product Sans" panose="020B0403030502040203" pitchFamily="34" charset="0"/>
                        </a:rPr>
                        <a:t>tựu</a:t>
                      </a:r>
                      <a:endParaRPr lang="en-US" sz="900" dirty="0">
                        <a:latin typeface="SVN-Product Sans" panose="020B0403030502040203" pitchFamily="34" charset="0"/>
                      </a:endParaRPr>
                    </a:p>
                    <a:p>
                      <a:pPr marL="45720" marR="0" lvl="0" indent="-45720" algn="just" defTabSz="914400" rtl="0" eaLnBrk="1" fontAlgn="auto" latinLnBrk="0" hangingPunct="1">
                        <a:lnSpc>
                          <a:spcPct val="100000"/>
                        </a:lnSpc>
                        <a:spcBef>
                          <a:spcPts val="0"/>
                        </a:spcBef>
                        <a:spcAft>
                          <a:spcPts val="0"/>
                        </a:spcAft>
                        <a:buClr>
                          <a:srgbClr val="000000"/>
                        </a:buClr>
                        <a:buSzPts val="800"/>
                        <a:buFont typeface="Arial" panose="020B0604020202020204" pitchFamily="34" charset="0"/>
                        <a:buChar char="•"/>
                        <a:tabLst/>
                        <a:defRPr/>
                      </a:pPr>
                      <a:r>
                        <a:rPr lang="en-US" sz="900" dirty="0" err="1">
                          <a:latin typeface="SVN-Product Sans" panose="020B0403030502040203" pitchFamily="34" charset="0"/>
                        </a:rPr>
                        <a:t>Hoạt</a:t>
                      </a:r>
                      <a:r>
                        <a:rPr lang="en-US" sz="900" dirty="0">
                          <a:latin typeface="SVN-Product Sans" panose="020B0403030502040203" pitchFamily="34" charset="0"/>
                        </a:rPr>
                        <a:t> </a:t>
                      </a:r>
                      <a:r>
                        <a:rPr lang="en-US" sz="900" dirty="0" err="1">
                          <a:latin typeface="SVN-Product Sans" panose="020B0403030502040203" pitchFamily="34" charset="0"/>
                        </a:rPr>
                        <a:t>động</a:t>
                      </a:r>
                      <a:r>
                        <a:rPr lang="en-US" sz="900" dirty="0">
                          <a:latin typeface="SVN-Product Sans" panose="020B0403030502040203" pitchFamily="34" charset="0"/>
                        </a:rPr>
                        <a:t> </a:t>
                      </a:r>
                      <a:r>
                        <a:rPr lang="en-US" sz="900" dirty="0" err="1">
                          <a:latin typeface="SVN-Product Sans" panose="020B0403030502040203" pitchFamily="34" charset="0"/>
                        </a:rPr>
                        <a:t>cộng</a:t>
                      </a:r>
                      <a:r>
                        <a:rPr lang="en-US" sz="900" dirty="0">
                          <a:latin typeface="SVN-Product Sans" panose="020B0403030502040203" pitchFamily="34" charset="0"/>
                        </a:rPr>
                        <a:t> </a:t>
                      </a:r>
                      <a:r>
                        <a:rPr lang="en-US" sz="900" dirty="0" err="1">
                          <a:latin typeface="SVN-Product Sans" panose="020B0403030502040203" pitchFamily="34" charset="0"/>
                        </a:rPr>
                        <a:t>đồng</a:t>
                      </a:r>
                      <a:endParaRPr lang="vi-VN" sz="900" dirty="0">
                        <a:latin typeface="SVN-Product Sans" panose="020B0403030502040203" pitchFamily="34" charset="0"/>
                      </a:endParaRPr>
                    </a:p>
                  </a:txBody>
                  <a:tcPr marL="91450" marR="91450" marT="45725" marB="45725"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45720" marR="0" lvl="0" indent="-45720" algn="just" rtl="0">
                        <a:lnSpc>
                          <a:spcPct val="100000"/>
                        </a:lnSpc>
                        <a:spcBef>
                          <a:spcPts val="0"/>
                        </a:spcBef>
                        <a:spcAft>
                          <a:spcPts val="0"/>
                        </a:spcAft>
                        <a:buSzPts val="800"/>
                        <a:buFont typeface="Arial" panose="020B0604020202020204" pitchFamily="34" charset="0"/>
                        <a:buChar char="•"/>
                      </a:pPr>
                      <a:r>
                        <a:rPr lang="en-US" sz="900" dirty="0">
                          <a:latin typeface="SVN-Product Sans" panose="020B0403030502040203" pitchFamily="34" charset="0"/>
                        </a:rPr>
                        <a:t>Minigame</a:t>
                      </a:r>
                    </a:p>
                    <a:p>
                      <a:pPr marL="45720" marR="0" lvl="0" indent="-45720" algn="just" defTabSz="914400" rtl="0" eaLnBrk="1" fontAlgn="auto" latinLnBrk="0" hangingPunct="1">
                        <a:lnSpc>
                          <a:spcPct val="100000"/>
                        </a:lnSpc>
                        <a:spcBef>
                          <a:spcPts val="0"/>
                        </a:spcBef>
                        <a:spcAft>
                          <a:spcPts val="0"/>
                        </a:spcAft>
                        <a:buClr>
                          <a:srgbClr val="000000"/>
                        </a:buClr>
                        <a:buSzPts val="800"/>
                        <a:buFont typeface="Arial" panose="020B0604020202020204" pitchFamily="34" charset="0"/>
                        <a:buChar char="•"/>
                        <a:tabLst/>
                        <a:defRPr/>
                      </a:pPr>
                      <a:r>
                        <a:rPr lang="en-US" sz="900" dirty="0" err="1">
                          <a:latin typeface="SVN-Product Sans" panose="020B0403030502040203" pitchFamily="34" charset="0"/>
                        </a:rPr>
                        <a:t>Sự</a:t>
                      </a:r>
                      <a:r>
                        <a:rPr lang="en-US" sz="900" dirty="0">
                          <a:latin typeface="SVN-Product Sans" panose="020B0403030502040203" pitchFamily="34" charset="0"/>
                        </a:rPr>
                        <a:t> </a:t>
                      </a:r>
                      <a:r>
                        <a:rPr lang="en-US" sz="900" dirty="0" err="1">
                          <a:latin typeface="SVN-Product Sans" panose="020B0403030502040203" pitchFamily="34" charset="0"/>
                        </a:rPr>
                        <a:t>kiện</a:t>
                      </a:r>
                      <a:r>
                        <a:rPr lang="en-US" sz="900" dirty="0">
                          <a:latin typeface="SVN-Product Sans" panose="020B0403030502040203" pitchFamily="34" charset="0"/>
                        </a:rPr>
                        <a:t> </a:t>
                      </a:r>
                      <a:r>
                        <a:rPr lang="en-US" sz="900" dirty="0" err="1">
                          <a:latin typeface="SVN-Product Sans" panose="020B0403030502040203" pitchFamily="34" charset="0"/>
                        </a:rPr>
                        <a:t>VPBank</a:t>
                      </a:r>
                      <a:r>
                        <a:rPr lang="en-US" sz="900" dirty="0">
                          <a:latin typeface="SVN-Product Sans" panose="020B0403030502040203" pitchFamily="34" charset="0"/>
                        </a:rPr>
                        <a:t> K-start Spark</a:t>
                      </a:r>
                    </a:p>
                    <a:p>
                      <a:pPr marL="45720" marR="0" lvl="0" indent="-45720" algn="just" defTabSz="914400" rtl="0" eaLnBrk="1" fontAlgn="auto" latinLnBrk="0" hangingPunct="1">
                        <a:lnSpc>
                          <a:spcPct val="100000"/>
                        </a:lnSpc>
                        <a:spcBef>
                          <a:spcPts val="0"/>
                        </a:spcBef>
                        <a:spcAft>
                          <a:spcPts val="0"/>
                        </a:spcAft>
                        <a:buClr>
                          <a:srgbClr val="000000"/>
                        </a:buClr>
                        <a:buSzPts val="800"/>
                        <a:buFont typeface="Arial" panose="020B0604020202020204" pitchFamily="34" charset="0"/>
                        <a:buChar char="•"/>
                        <a:tabLst/>
                        <a:defRPr/>
                      </a:pPr>
                      <a:r>
                        <a:rPr lang="en-US" sz="900" dirty="0" err="1">
                          <a:latin typeface="SVN-Product Sans" panose="020B0403030502040203" pitchFamily="34" charset="0"/>
                        </a:rPr>
                        <a:t>Giải</a:t>
                      </a:r>
                      <a:r>
                        <a:rPr lang="en-US" sz="900" dirty="0">
                          <a:latin typeface="SVN-Product Sans" panose="020B0403030502040203" pitchFamily="34" charset="0"/>
                        </a:rPr>
                        <a:t> </a:t>
                      </a:r>
                      <a:r>
                        <a:rPr lang="en-US" sz="900" dirty="0" err="1">
                          <a:latin typeface="SVN-Product Sans" panose="020B0403030502040203" pitchFamily="34" charset="0"/>
                        </a:rPr>
                        <a:t>thưởng</a:t>
                      </a:r>
                      <a:r>
                        <a:rPr lang="en-US" sz="900" dirty="0">
                          <a:latin typeface="SVN-Product Sans" panose="020B0403030502040203" pitchFamily="34" charset="0"/>
                        </a:rPr>
                        <a:t>/Thành </a:t>
                      </a:r>
                      <a:r>
                        <a:rPr lang="en-US" sz="900" dirty="0" err="1">
                          <a:latin typeface="SVN-Product Sans" panose="020B0403030502040203" pitchFamily="34" charset="0"/>
                        </a:rPr>
                        <a:t>tựu</a:t>
                      </a:r>
                      <a:endParaRPr lang="vi-VN" sz="900" dirty="0">
                        <a:latin typeface="SVN-Product Sans" panose="020B0403030502040203" pitchFamily="34" charset="0"/>
                      </a:endParaRPr>
                    </a:p>
                    <a:p>
                      <a:pPr marL="45720" marR="0" lvl="0" indent="-45720" algn="just" rtl="0">
                        <a:lnSpc>
                          <a:spcPct val="100000"/>
                        </a:lnSpc>
                        <a:spcBef>
                          <a:spcPts val="0"/>
                        </a:spcBef>
                        <a:spcAft>
                          <a:spcPts val="0"/>
                        </a:spcAft>
                        <a:buSzPts val="800"/>
                        <a:buFont typeface="Arial" panose="020B0604020202020204" pitchFamily="34" charset="0"/>
                        <a:buChar char="•"/>
                      </a:pPr>
                      <a:endParaRPr lang="en-US" sz="900" dirty="0">
                        <a:latin typeface="SVN-Product Sans" panose="020B0403030502040203" pitchFamily="34" charset="0"/>
                      </a:endParaRPr>
                    </a:p>
                  </a:txBody>
                  <a:tcPr marL="91450" marR="91450" marT="45725" marB="45725"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556572">
                <a:tc>
                  <a:txBody>
                    <a:bodyPr/>
                    <a:lstStyle/>
                    <a:p>
                      <a:pPr marL="0" marR="0" lvl="0" indent="0" algn="ctr" rtl="0">
                        <a:lnSpc>
                          <a:spcPct val="100000"/>
                        </a:lnSpc>
                        <a:spcBef>
                          <a:spcPts val="0"/>
                        </a:spcBef>
                        <a:spcAft>
                          <a:spcPts val="0"/>
                        </a:spcAft>
                        <a:buClr>
                          <a:schemeClr val="lt1"/>
                        </a:buClr>
                        <a:buSzPts val="1000"/>
                        <a:buFont typeface="Montserrat SemiBold"/>
                        <a:buNone/>
                      </a:pPr>
                      <a:r>
                        <a:rPr lang="en-US" sz="1100" b="1" i="0" u="none" strike="noStrike" cap="none">
                          <a:solidFill>
                            <a:schemeClr val="lt1"/>
                          </a:solidFill>
                          <a:latin typeface="SVN-Product Sans" panose="020B0403030502040203" pitchFamily="34" charset="0"/>
                          <a:sym typeface="Montserrat SemiBold"/>
                        </a:rPr>
                        <a:t>Chủ đề tiêu cực nổi bật</a:t>
                      </a:r>
                    </a:p>
                  </a:txBody>
                  <a:tcPr marL="91450" marR="91450" marT="45725" marB="45725"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0000"/>
                    </a:solidFill>
                  </a:tcPr>
                </a:tc>
                <a:tc>
                  <a:txBody>
                    <a:bodyPr/>
                    <a:lstStyle/>
                    <a:p>
                      <a:pPr marL="45720" marR="0" lvl="0" indent="-4572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dirty="0" err="1">
                          <a:latin typeface="SVN-Product Sans" panose="020B0403030502040203" pitchFamily="34" charset="0"/>
                        </a:rPr>
                        <a:t>Lỗi</a:t>
                      </a:r>
                      <a:r>
                        <a:rPr lang="en-US" sz="900" dirty="0">
                          <a:latin typeface="SVN-Product Sans" panose="020B0403030502040203" pitchFamily="34" charset="0"/>
                        </a:rPr>
                        <a:t> app Banking</a:t>
                      </a:r>
                    </a:p>
                    <a:p>
                      <a:pPr marL="45720" marR="0" lvl="0" indent="-45720" algn="just" rtl="0">
                        <a:spcBef>
                          <a:spcPts val="0"/>
                        </a:spcBef>
                        <a:spcAft>
                          <a:spcPts val="0"/>
                        </a:spcAft>
                        <a:buFont typeface="Arial" panose="020B0604020202020204" pitchFamily="34" charset="0"/>
                        <a:buChar char="•"/>
                      </a:pPr>
                      <a:r>
                        <a:rPr lang="en-US" sz="900" dirty="0" err="1">
                          <a:latin typeface="SVN-Product Sans" panose="020B0403030502040203" pitchFamily="34" charset="0"/>
                        </a:rPr>
                        <a:t>Nợ</a:t>
                      </a:r>
                      <a:r>
                        <a:rPr lang="en-US" sz="900" dirty="0">
                          <a:latin typeface="SVN-Product Sans" panose="020B0403030502040203" pitchFamily="34" charset="0"/>
                        </a:rPr>
                        <a:t> </a:t>
                      </a:r>
                      <a:r>
                        <a:rPr lang="en-US" sz="900" dirty="0" err="1">
                          <a:latin typeface="SVN-Product Sans" panose="020B0403030502040203" pitchFamily="34" charset="0"/>
                        </a:rPr>
                        <a:t>xấu</a:t>
                      </a:r>
                      <a:endParaRPr lang="en-US" sz="900" dirty="0">
                        <a:latin typeface="SVN-Product Sans" panose="020B0403030502040203" pitchFamily="34" charset="0"/>
                      </a:endParaRPr>
                    </a:p>
                    <a:p>
                      <a:pPr marL="45720" marR="0" lvl="0" indent="-45720" algn="just" rtl="0">
                        <a:spcBef>
                          <a:spcPts val="0"/>
                        </a:spcBef>
                        <a:spcAft>
                          <a:spcPts val="0"/>
                        </a:spcAft>
                        <a:buFont typeface="Arial" panose="020B0604020202020204" pitchFamily="34" charset="0"/>
                        <a:buChar char="•"/>
                      </a:pPr>
                      <a:r>
                        <a:rPr lang="en-US" sz="900" dirty="0" err="1">
                          <a:latin typeface="SVN-Product Sans" panose="020B0403030502040203" pitchFamily="34" charset="0"/>
                        </a:rPr>
                        <a:t>Tình</a:t>
                      </a:r>
                      <a:r>
                        <a:rPr lang="en-US" sz="900" dirty="0">
                          <a:latin typeface="SVN-Product Sans" panose="020B0403030502040203" pitchFamily="34" charset="0"/>
                        </a:rPr>
                        <a:t> </a:t>
                      </a:r>
                      <a:r>
                        <a:rPr lang="en-US" sz="900" dirty="0" err="1">
                          <a:latin typeface="SVN-Product Sans" panose="020B0403030502040203" pitchFamily="34" charset="0"/>
                        </a:rPr>
                        <a:t>hình</a:t>
                      </a:r>
                      <a:r>
                        <a:rPr lang="en-US" sz="900" dirty="0">
                          <a:latin typeface="SVN-Product Sans" panose="020B0403030502040203" pitchFamily="34" charset="0"/>
                        </a:rPr>
                        <a:t> </a:t>
                      </a:r>
                      <a:r>
                        <a:rPr lang="en-US" sz="900" dirty="0" err="1">
                          <a:latin typeface="SVN-Product Sans" panose="020B0403030502040203" pitchFamily="34" charset="0"/>
                        </a:rPr>
                        <a:t>chứng</a:t>
                      </a:r>
                      <a:r>
                        <a:rPr lang="en-US" sz="900" dirty="0">
                          <a:latin typeface="SVN-Product Sans" panose="020B0403030502040203" pitchFamily="34" charset="0"/>
                        </a:rPr>
                        <a:t> </a:t>
                      </a:r>
                      <a:r>
                        <a:rPr lang="en-US" sz="900" dirty="0" err="1">
                          <a:latin typeface="SVN-Product Sans" panose="020B0403030502040203" pitchFamily="34" charset="0"/>
                        </a:rPr>
                        <a:t>khoán</a:t>
                      </a:r>
                      <a:endParaRPr lang="en-US" sz="900" dirty="0">
                        <a:latin typeface="SVN-Product Sans" panose="020B0403030502040203" pitchFamily="34" charset="0"/>
                      </a:endParaRPr>
                    </a:p>
                    <a:p>
                      <a:pPr marL="45720" marR="0" lvl="0" indent="-45720" algn="just" rtl="0">
                        <a:spcBef>
                          <a:spcPts val="0"/>
                        </a:spcBef>
                        <a:spcAft>
                          <a:spcPts val="0"/>
                        </a:spcAft>
                        <a:buFont typeface="Arial" panose="020B0604020202020204" pitchFamily="34" charset="0"/>
                        <a:buChar char="•"/>
                      </a:pPr>
                      <a:r>
                        <a:rPr lang="en-US" sz="900" dirty="0" err="1">
                          <a:latin typeface="SVN-Product Sans" panose="020B0403030502040203" pitchFamily="34" charset="0"/>
                        </a:rPr>
                        <a:t>Không</a:t>
                      </a:r>
                      <a:r>
                        <a:rPr lang="en-US" sz="900" dirty="0">
                          <a:latin typeface="SVN-Product Sans" panose="020B0403030502040203" pitchFamily="34" charset="0"/>
                        </a:rPr>
                        <a:t> </a:t>
                      </a:r>
                      <a:r>
                        <a:rPr lang="en-US" sz="900" dirty="0" err="1">
                          <a:latin typeface="SVN-Product Sans" panose="020B0403030502040203" pitchFamily="34" charset="0"/>
                        </a:rPr>
                        <a:t>nhận</a:t>
                      </a:r>
                      <a:r>
                        <a:rPr lang="en-US" sz="900" dirty="0">
                          <a:latin typeface="SVN-Product Sans" panose="020B0403030502040203" pitchFamily="34" charset="0"/>
                        </a:rPr>
                        <a:t> </a:t>
                      </a:r>
                      <a:r>
                        <a:rPr lang="en-US" sz="900" dirty="0" err="1">
                          <a:latin typeface="SVN-Product Sans" panose="020B0403030502040203" pitchFamily="34" charset="0"/>
                        </a:rPr>
                        <a:t>được</a:t>
                      </a:r>
                      <a:r>
                        <a:rPr lang="en-US" sz="900" dirty="0">
                          <a:latin typeface="SVN-Product Sans" panose="020B0403030502040203" pitchFamily="34" charset="0"/>
                        </a:rPr>
                        <a:t> </a:t>
                      </a:r>
                      <a:r>
                        <a:rPr lang="en-US" sz="900" dirty="0" err="1">
                          <a:latin typeface="SVN-Product Sans" panose="020B0403030502040203" pitchFamily="34" charset="0"/>
                        </a:rPr>
                        <a:t>tiền</a:t>
                      </a:r>
                      <a:r>
                        <a:rPr lang="en-US" sz="900" dirty="0">
                          <a:latin typeface="SVN-Product Sans" panose="020B0403030502040203" pitchFamily="34" charset="0"/>
                        </a:rPr>
                        <a:t> </a:t>
                      </a:r>
                      <a:r>
                        <a:rPr lang="en-US" sz="900" dirty="0" err="1">
                          <a:latin typeface="SVN-Product Sans" panose="020B0403030502040203" pitchFamily="34" charset="0"/>
                        </a:rPr>
                        <a:t>sau</a:t>
                      </a:r>
                      <a:r>
                        <a:rPr lang="en-US" sz="900" dirty="0">
                          <a:latin typeface="SVN-Product Sans" panose="020B0403030502040203" pitchFamily="34" charset="0"/>
                        </a:rPr>
                        <a:t> </a:t>
                      </a:r>
                      <a:r>
                        <a:rPr lang="en-US" sz="900" dirty="0" err="1">
                          <a:latin typeface="SVN-Product Sans" panose="020B0403030502040203" pitchFamily="34" charset="0"/>
                        </a:rPr>
                        <a:t>khi</a:t>
                      </a:r>
                      <a:r>
                        <a:rPr lang="en-US" sz="900" dirty="0">
                          <a:latin typeface="SVN-Product Sans" panose="020B0403030502040203" pitchFamily="34" charset="0"/>
                        </a:rPr>
                        <a:t> </a:t>
                      </a:r>
                      <a:r>
                        <a:rPr lang="en-US" sz="900" dirty="0" err="1">
                          <a:latin typeface="SVN-Product Sans" panose="020B0403030502040203" pitchFamily="34" charset="0"/>
                        </a:rPr>
                        <a:t>kết</a:t>
                      </a:r>
                      <a:r>
                        <a:rPr lang="en-US" sz="900" dirty="0">
                          <a:latin typeface="SVN-Product Sans" panose="020B0403030502040203" pitchFamily="34" charset="0"/>
                        </a:rPr>
                        <a:t> </a:t>
                      </a:r>
                      <a:r>
                        <a:rPr lang="en-US" sz="900" dirty="0" err="1">
                          <a:latin typeface="SVN-Product Sans" panose="020B0403030502040203" pitchFamily="34" charset="0"/>
                        </a:rPr>
                        <a:t>nối</a:t>
                      </a:r>
                      <a:r>
                        <a:rPr lang="en-US" sz="900" dirty="0">
                          <a:latin typeface="SVN-Product Sans" panose="020B0403030502040203" pitchFamily="34" charset="0"/>
                        </a:rPr>
                        <a:t> an </a:t>
                      </a:r>
                      <a:r>
                        <a:rPr lang="en-US" sz="900" dirty="0" err="1">
                          <a:latin typeface="SVN-Product Sans" panose="020B0403030502040203" pitchFamily="34" charset="0"/>
                        </a:rPr>
                        <a:t>sinh</a:t>
                      </a:r>
                      <a:endParaRPr lang="en-US" sz="900" dirty="0">
                        <a:latin typeface="SVN-Product Sans" panose="020B0403030502040203" pitchFamily="34" charset="0"/>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45720" marR="0" lvl="0" indent="-45720" algn="just" rtl="0">
                        <a:spcBef>
                          <a:spcPts val="0"/>
                        </a:spcBef>
                        <a:spcAft>
                          <a:spcPts val="0"/>
                        </a:spcAft>
                        <a:buFont typeface="Arial" panose="020B0604020202020204" pitchFamily="34" charset="0"/>
                        <a:buChar char="•"/>
                      </a:pPr>
                      <a:r>
                        <a:rPr lang="en-US" sz="900" dirty="0" err="1">
                          <a:latin typeface="SVN-Product Sans" panose="020B0403030502040203" pitchFamily="34" charset="0"/>
                        </a:rPr>
                        <a:t>Lỗi</a:t>
                      </a:r>
                      <a:r>
                        <a:rPr lang="en-US" sz="900" dirty="0">
                          <a:latin typeface="SVN-Product Sans" panose="020B0403030502040203" pitchFamily="34" charset="0"/>
                        </a:rPr>
                        <a:t> app banking</a:t>
                      </a:r>
                    </a:p>
                    <a:p>
                      <a:pPr marL="45720" marR="0" lvl="0" indent="-4572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dirty="0" err="1">
                          <a:latin typeface="SVN-Product Sans" panose="020B0403030502040203" pitchFamily="34" charset="0"/>
                        </a:rPr>
                        <a:t>Tình</a:t>
                      </a:r>
                      <a:r>
                        <a:rPr lang="en-US" sz="900" dirty="0">
                          <a:latin typeface="SVN-Product Sans" panose="020B0403030502040203" pitchFamily="34" charset="0"/>
                        </a:rPr>
                        <a:t> </a:t>
                      </a:r>
                      <a:r>
                        <a:rPr lang="en-US" sz="900" dirty="0" err="1">
                          <a:latin typeface="SVN-Product Sans" panose="020B0403030502040203" pitchFamily="34" charset="0"/>
                        </a:rPr>
                        <a:t>hình</a:t>
                      </a:r>
                      <a:r>
                        <a:rPr lang="en-US" sz="900" dirty="0">
                          <a:latin typeface="SVN-Product Sans" panose="020B0403030502040203" pitchFamily="34" charset="0"/>
                        </a:rPr>
                        <a:t> </a:t>
                      </a:r>
                      <a:r>
                        <a:rPr lang="en-US" sz="900" dirty="0" err="1">
                          <a:latin typeface="SVN-Product Sans" panose="020B0403030502040203" pitchFamily="34" charset="0"/>
                        </a:rPr>
                        <a:t>chứng</a:t>
                      </a:r>
                      <a:r>
                        <a:rPr lang="en-US" sz="900" dirty="0">
                          <a:latin typeface="SVN-Product Sans" panose="020B0403030502040203" pitchFamily="34" charset="0"/>
                        </a:rPr>
                        <a:t> </a:t>
                      </a:r>
                      <a:r>
                        <a:rPr lang="en-US" sz="900" dirty="0" err="1">
                          <a:latin typeface="SVN-Product Sans" panose="020B0403030502040203" pitchFamily="34" charset="0"/>
                        </a:rPr>
                        <a:t>khoán</a:t>
                      </a:r>
                      <a:endParaRPr lang="en-US" sz="900" dirty="0">
                        <a:latin typeface="SVN-Product Sans" panose="020B0403030502040203" pitchFamily="34" charset="0"/>
                      </a:endParaRPr>
                    </a:p>
                  </a:txBody>
                  <a:tcPr marL="91450" marR="91450" marT="45725" marB="45725"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45720" marR="0" lvl="0" indent="-45720" algn="just" defTabSz="914400" rtl="0" eaLnBrk="1" fontAlgn="auto" latinLnBrk="0" hangingPunct="1">
                        <a:lnSpc>
                          <a:spcPct val="100000"/>
                        </a:lnSpc>
                        <a:spcBef>
                          <a:spcPts val="0"/>
                        </a:spcBef>
                        <a:spcAft>
                          <a:spcPts val="0"/>
                        </a:spcAft>
                        <a:buClr>
                          <a:srgbClr val="000000"/>
                        </a:buClr>
                        <a:buSzPts val="800"/>
                        <a:buFont typeface="Arial" panose="020B0604020202020204" pitchFamily="34" charset="0"/>
                        <a:buChar char="•"/>
                        <a:tabLst/>
                        <a:defRPr/>
                      </a:pPr>
                      <a:endParaRPr lang="en-US" sz="900" dirty="0">
                        <a:latin typeface="SVN-Product Sans" panose="020B0403030502040203" pitchFamily="34" charset="0"/>
                      </a:endParaRPr>
                    </a:p>
                    <a:p>
                      <a:pPr marL="45720" marR="0" lvl="0" indent="-45720" algn="just" defTabSz="914400" rtl="0" eaLnBrk="1" fontAlgn="auto" latinLnBrk="0" hangingPunct="1">
                        <a:lnSpc>
                          <a:spcPct val="100000"/>
                        </a:lnSpc>
                        <a:spcBef>
                          <a:spcPts val="0"/>
                        </a:spcBef>
                        <a:spcAft>
                          <a:spcPts val="0"/>
                        </a:spcAft>
                        <a:buClr>
                          <a:srgbClr val="000000"/>
                        </a:buClr>
                        <a:buSzPts val="800"/>
                        <a:buFont typeface="Arial" panose="020B0604020202020204" pitchFamily="34" charset="0"/>
                        <a:buChar char="•"/>
                        <a:tabLst/>
                        <a:defRPr/>
                      </a:pPr>
                      <a:r>
                        <a:rPr lang="vi-VN" sz="900" dirty="0">
                          <a:latin typeface="SVN-Product Sans" panose="020B0403030502040203" pitchFamily="34" charset="0"/>
                        </a:rPr>
                        <a:t>Lỗi app Banking</a:t>
                      </a:r>
                      <a:endParaRPr lang="en-US" sz="900" dirty="0">
                        <a:latin typeface="SVN-Product Sans" panose="020B0403030502040203" pitchFamily="34" charset="0"/>
                      </a:endParaRPr>
                    </a:p>
                    <a:p>
                      <a:pPr marL="45720" marR="0" lvl="0" indent="-45720" algn="just" defTabSz="914400" rtl="0" eaLnBrk="1" fontAlgn="auto" latinLnBrk="0" hangingPunct="1">
                        <a:lnSpc>
                          <a:spcPct val="100000"/>
                        </a:lnSpc>
                        <a:spcBef>
                          <a:spcPts val="0"/>
                        </a:spcBef>
                        <a:spcAft>
                          <a:spcPts val="0"/>
                        </a:spcAft>
                        <a:buClr>
                          <a:srgbClr val="000000"/>
                        </a:buClr>
                        <a:buSzPts val="800"/>
                        <a:buFont typeface="Arial" panose="020B0604020202020204" pitchFamily="34" charset="0"/>
                        <a:buChar char="•"/>
                        <a:tabLst/>
                        <a:defRPr/>
                      </a:pPr>
                      <a:r>
                        <a:rPr lang="en-US" sz="900" dirty="0" err="1">
                          <a:latin typeface="SVN-Product Sans" panose="020B0403030502040203" pitchFamily="34" charset="0"/>
                        </a:rPr>
                        <a:t>Tình</a:t>
                      </a:r>
                      <a:r>
                        <a:rPr lang="en-US" sz="900" dirty="0">
                          <a:latin typeface="SVN-Product Sans" panose="020B0403030502040203" pitchFamily="34" charset="0"/>
                        </a:rPr>
                        <a:t> </a:t>
                      </a:r>
                      <a:r>
                        <a:rPr lang="en-US" sz="900" dirty="0" err="1">
                          <a:latin typeface="SVN-Product Sans" panose="020B0403030502040203" pitchFamily="34" charset="0"/>
                        </a:rPr>
                        <a:t>hình</a:t>
                      </a:r>
                      <a:r>
                        <a:rPr lang="en-US" sz="900" dirty="0">
                          <a:latin typeface="SVN-Product Sans" panose="020B0403030502040203" pitchFamily="34" charset="0"/>
                        </a:rPr>
                        <a:t> </a:t>
                      </a:r>
                      <a:r>
                        <a:rPr lang="en-US" sz="900" dirty="0" err="1">
                          <a:latin typeface="SVN-Product Sans" panose="020B0403030502040203" pitchFamily="34" charset="0"/>
                        </a:rPr>
                        <a:t>cổ</a:t>
                      </a:r>
                      <a:r>
                        <a:rPr lang="en-US" sz="900" dirty="0">
                          <a:latin typeface="SVN-Product Sans" panose="020B0403030502040203" pitchFamily="34" charset="0"/>
                        </a:rPr>
                        <a:t> </a:t>
                      </a:r>
                      <a:r>
                        <a:rPr lang="en-US" sz="900" dirty="0" err="1">
                          <a:latin typeface="SVN-Product Sans" panose="020B0403030502040203" pitchFamily="34" charset="0"/>
                        </a:rPr>
                        <a:t>phiếu</a:t>
                      </a:r>
                      <a:endParaRPr lang="en-US" sz="900" dirty="0">
                        <a:latin typeface="SVN-Product Sans" panose="020B0403030502040203" pitchFamily="34" charset="0"/>
                      </a:endParaRPr>
                    </a:p>
                    <a:p>
                      <a:pPr marL="45720" marR="0" lvl="0" indent="-45720" algn="just" defTabSz="914400" rtl="0" eaLnBrk="1" fontAlgn="auto" latinLnBrk="0" hangingPunct="1">
                        <a:lnSpc>
                          <a:spcPct val="100000"/>
                        </a:lnSpc>
                        <a:spcBef>
                          <a:spcPts val="0"/>
                        </a:spcBef>
                        <a:spcAft>
                          <a:spcPts val="0"/>
                        </a:spcAft>
                        <a:buClr>
                          <a:srgbClr val="000000"/>
                        </a:buClr>
                        <a:buSzPts val="800"/>
                        <a:buFont typeface="Arial" panose="020B0604020202020204" pitchFamily="34" charset="0"/>
                        <a:buChar char="•"/>
                        <a:tabLst/>
                        <a:defRPr/>
                      </a:pPr>
                      <a:r>
                        <a:rPr lang="en-US" sz="900" dirty="0" err="1">
                          <a:latin typeface="SVN-Product Sans" panose="020B0403030502040203" pitchFamily="34" charset="0"/>
                        </a:rPr>
                        <a:t>Vụ</a:t>
                      </a:r>
                      <a:r>
                        <a:rPr lang="en-US" sz="900" dirty="0">
                          <a:latin typeface="SVN-Product Sans" panose="020B0403030502040203" pitchFamily="34" charset="0"/>
                        </a:rPr>
                        <a:t> </a:t>
                      </a:r>
                      <a:r>
                        <a:rPr lang="en-US" sz="900" dirty="0" err="1">
                          <a:latin typeface="SVN-Product Sans" panose="020B0403030502040203" pitchFamily="34" charset="0"/>
                        </a:rPr>
                        <a:t>việc</a:t>
                      </a:r>
                      <a:r>
                        <a:rPr lang="en-US" sz="900" dirty="0">
                          <a:latin typeface="SVN-Product Sans" panose="020B0403030502040203" pitchFamily="34" charset="0"/>
                        </a:rPr>
                        <a:t> </a:t>
                      </a:r>
                      <a:r>
                        <a:rPr lang="en-US" sz="900" dirty="0" err="1">
                          <a:latin typeface="SVN-Product Sans" panose="020B0403030502040203" pitchFamily="34" charset="0"/>
                        </a:rPr>
                        <a:t>cưỡng</a:t>
                      </a:r>
                      <a:r>
                        <a:rPr lang="en-US" sz="900" dirty="0">
                          <a:latin typeface="SVN-Product Sans" panose="020B0403030502040203" pitchFamily="34" charset="0"/>
                        </a:rPr>
                        <a:t> </a:t>
                      </a:r>
                      <a:r>
                        <a:rPr lang="en-US" sz="900" dirty="0" err="1">
                          <a:latin typeface="SVN-Product Sans" panose="020B0403030502040203" pitchFamily="34" charset="0"/>
                        </a:rPr>
                        <a:t>chế</a:t>
                      </a:r>
                      <a:r>
                        <a:rPr lang="en-US" sz="900" dirty="0">
                          <a:latin typeface="SVN-Product Sans" panose="020B0403030502040203" pitchFamily="34" charset="0"/>
                        </a:rPr>
                        <a:t> </a:t>
                      </a:r>
                      <a:r>
                        <a:rPr lang="en-US" sz="900" dirty="0" err="1">
                          <a:latin typeface="SVN-Product Sans" panose="020B0403030502040203" pitchFamily="34" charset="0"/>
                        </a:rPr>
                        <a:t>đất</a:t>
                      </a:r>
                      <a:endParaRPr lang="en-US" sz="900" dirty="0">
                        <a:latin typeface="SVN-Product Sans" panose="020B0403030502040203" pitchFamily="34" charset="0"/>
                      </a:endParaRPr>
                    </a:p>
                    <a:p>
                      <a:pPr marL="45720" marR="0" lvl="0" indent="-45720" algn="just" defTabSz="914400" rtl="0" eaLnBrk="1" fontAlgn="auto" latinLnBrk="0" hangingPunct="1">
                        <a:lnSpc>
                          <a:spcPct val="100000"/>
                        </a:lnSpc>
                        <a:spcBef>
                          <a:spcPts val="0"/>
                        </a:spcBef>
                        <a:spcAft>
                          <a:spcPts val="0"/>
                        </a:spcAft>
                        <a:buClr>
                          <a:srgbClr val="000000"/>
                        </a:buClr>
                        <a:buSzPts val="800"/>
                        <a:buFont typeface="Arial" panose="020B0604020202020204" pitchFamily="34" charset="0"/>
                        <a:buChar char="•"/>
                        <a:tabLst/>
                        <a:defRPr/>
                      </a:pPr>
                      <a:endParaRPr lang="en-US" sz="900" dirty="0">
                        <a:latin typeface="SVN-Product Sans" panose="020B0403030502040203" pitchFamily="34" charset="0"/>
                      </a:endParaRPr>
                    </a:p>
                  </a:txBody>
                  <a:tcPr marL="91450" marR="91450" marT="45725" marB="45725"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45720" marR="0" lvl="0" indent="-4572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vi-VN" sz="900" dirty="0">
                          <a:latin typeface="SVN-Product Sans" panose="020B0403030502040203" pitchFamily="34" charset="0"/>
                        </a:rPr>
                        <a:t>Lỗi app Banking</a:t>
                      </a:r>
                      <a:endParaRPr lang="en-US" sz="900" dirty="0">
                        <a:latin typeface="SVN-Product Sans" panose="020B0403030502040203" pitchFamily="34" charset="0"/>
                      </a:endParaRPr>
                    </a:p>
                    <a:p>
                      <a:pPr marL="45720" marR="0" lvl="0" indent="-4572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dirty="0" err="1">
                          <a:latin typeface="SVN-Product Sans" panose="020B0403030502040203" pitchFamily="34" charset="0"/>
                        </a:rPr>
                        <a:t>Tình</a:t>
                      </a:r>
                      <a:r>
                        <a:rPr lang="en-US" sz="900" dirty="0">
                          <a:latin typeface="SVN-Product Sans" panose="020B0403030502040203" pitchFamily="34" charset="0"/>
                        </a:rPr>
                        <a:t> </a:t>
                      </a:r>
                      <a:r>
                        <a:rPr lang="en-US" sz="900" dirty="0" err="1">
                          <a:latin typeface="SVN-Product Sans" panose="020B0403030502040203" pitchFamily="34" charset="0"/>
                        </a:rPr>
                        <a:t>hình</a:t>
                      </a:r>
                      <a:r>
                        <a:rPr lang="en-US" sz="900" dirty="0">
                          <a:latin typeface="SVN-Product Sans" panose="020B0403030502040203" pitchFamily="34" charset="0"/>
                        </a:rPr>
                        <a:t> </a:t>
                      </a:r>
                      <a:r>
                        <a:rPr lang="en-US" sz="900" dirty="0" err="1">
                          <a:latin typeface="SVN-Product Sans" panose="020B0403030502040203" pitchFamily="34" charset="0"/>
                        </a:rPr>
                        <a:t>cổ</a:t>
                      </a:r>
                      <a:r>
                        <a:rPr lang="en-US" sz="900" dirty="0">
                          <a:latin typeface="SVN-Product Sans" panose="020B0403030502040203" pitchFamily="34" charset="0"/>
                        </a:rPr>
                        <a:t> </a:t>
                      </a:r>
                      <a:r>
                        <a:rPr lang="en-US" sz="900" dirty="0" err="1">
                          <a:latin typeface="SVN-Product Sans" panose="020B0403030502040203" pitchFamily="34" charset="0"/>
                        </a:rPr>
                        <a:t>phiếu</a:t>
                      </a:r>
                      <a:endParaRPr lang="en-US" sz="900" dirty="0">
                        <a:latin typeface="SVN-Product Sans" panose="020B0403030502040203" pitchFamily="34" charset="0"/>
                      </a:endParaRPr>
                    </a:p>
                  </a:txBody>
                  <a:tcPr marL="91450" marR="91450" marT="45725" marB="45725"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45720" marR="0" lvl="0" indent="-4572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vi-VN" sz="900" dirty="0">
                          <a:latin typeface="SVN-Product Sans" panose="020B0403030502040203" pitchFamily="34" charset="0"/>
                        </a:rPr>
                        <a:t>Lỗi app Banking</a:t>
                      </a:r>
                      <a:endParaRPr lang="en-US" sz="900" dirty="0">
                        <a:latin typeface="SVN-Product Sans" panose="020B0403030502040203" pitchFamily="34" charset="0"/>
                      </a:endParaRPr>
                    </a:p>
                    <a:p>
                      <a:pPr marL="45720" marR="0" lvl="0" indent="-4572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dirty="0" err="1">
                          <a:latin typeface="SVN-Product Sans" panose="020B0403030502040203" pitchFamily="34" charset="0"/>
                        </a:rPr>
                        <a:t>Tình</a:t>
                      </a:r>
                      <a:r>
                        <a:rPr lang="en-US" sz="900" dirty="0">
                          <a:latin typeface="SVN-Product Sans" panose="020B0403030502040203" pitchFamily="34" charset="0"/>
                        </a:rPr>
                        <a:t> </a:t>
                      </a:r>
                      <a:r>
                        <a:rPr lang="en-US" sz="900" dirty="0" err="1">
                          <a:latin typeface="SVN-Product Sans" panose="020B0403030502040203" pitchFamily="34" charset="0"/>
                        </a:rPr>
                        <a:t>hình</a:t>
                      </a:r>
                      <a:r>
                        <a:rPr lang="en-US" sz="900" dirty="0">
                          <a:latin typeface="SVN-Product Sans" panose="020B0403030502040203" pitchFamily="34" charset="0"/>
                        </a:rPr>
                        <a:t> </a:t>
                      </a:r>
                      <a:r>
                        <a:rPr lang="en-US" sz="900" dirty="0" err="1">
                          <a:latin typeface="SVN-Product Sans" panose="020B0403030502040203" pitchFamily="34" charset="0"/>
                        </a:rPr>
                        <a:t>cổ</a:t>
                      </a:r>
                      <a:r>
                        <a:rPr lang="en-US" sz="900" dirty="0">
                          <a:latin typeface="SVN-Product Sans" panose="020B0403030502040203" pitchFamily="34" charset="0"/>
                        </a:rPr>
                        <a:t> </a:t>
                      </a:r>
                      <a:r>
                        <a:rPr lang="en-US" sz="900" dirty="0" err="1">
                          <a:latin typeface="SVN-Product Sans" panose="020B0403030502040203" pitchFamily="34" charset="0"/>
                        </a:rPr>
                        <a:t>phiếu</a:t>
                      </a:r>
                      <a:endParaRPr lang="en-US" sz="900" dirty="0">
                        <a:latin typeface="SVN-Product Sans" panose="020B0403030502040203" pitchFamily="34" charset="0"/>
                      </a:endParaRPr>
                    </a:p>
                  </a:txBody>
                  <a:tcPr marL="91450" marR="91450" marT="45725" marB="45725"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45720" marR="0" lvl="0" indent="-45720" algn="just" rtl="0">
                        <a:spcBef>
                          <a:spcPts val="0"/>
                        </a:spcBef>
                        <a:spcAft>
                          <a:spcPts val="0"/>
                        </a:spcAft>
                        <a:buFont typeface="Arial" panose="020B0604020202020204" pitchFamily="34" charset="0"/>
                        <a:buChar char="•"/>
                      </a:pPr>
                      <a:r>
                        <a:rPr lang="vi-VN" sz="900" dirty="0">
                          <a:latin typeface="SVN-Product Sans" panose="020B0403030502040203" pitchFamily="34" charset="0"/>
                        </a:rPr>
                        <a:t>Lỗi app Banking</a:t>
                      </a:r>
                    </a:p>
                    <a:p>
                      <a:pPr marL="45720" marR="0" lvl="0" indent="-45720" algn="just" rtl="0">
                        <a:spcBef>
                          <a:spcPts val="0"/>
                        </a:spcBef>
                        <a:spcAft>
                          <a:spcPts val="0"/>
                        </a:spcAft>
                        <a:buFont typeface="Arial" panose="020B0604020202020204" pitchFamily="34" charset="0"/>
                        <a:buChar char="•"/>
                      </a:pPr>
                      <a:r>
                        <a:rPr lang="en-US" sz="900" dirty="0" err="1">
                          <a:latin typeface="SVN-Product Sans" panose="020B0403030502040203" pitchFamily="34" charset="0"/>
                        </a:rPr>
                        <a:t>Tình</a:t>
                      </a:r>
                      <a:r>
                        <a:rPr lang="en-US" sz="900" dirty="0">
                          <a:latin typeface="SVN-Product Sans" panose="020B0403030502040203" pitchFamily="34" charset="0"/>
                        </a:rPr>
                        <a:t> </a:t>
                      </a:r>
                      <a:r>
                        <a:rPr lang="en-US" sz="900" dirty="0" err="1">
                          <a:latin typeface="SVN-Product Sans" panose="020B0403030502040203" pitchFamily="34" charset="0"/>
                        </a:rPr>
                        <a:t>hình</a:t>
                      </a:r>
                      <a:r>
                        <a:rPr lang="en-US" sz="900" dirty="0">
                          <a:latin typeface="SVN-Product Sans" panose="020B0403030502040203" pitchFamily="34" charset="0"/>
                        </a:rPr>
                        <a:t> </a:t>
                      </a:r>
                      <a:r>
                        <a:rPr lang="en-US" sz="900" dirty="0" err="1">
                          <a:latin typeface="SVN-Product Sans" panose="020B0403030502040203" pitchFamily="34" charset="0"/>
                        </a:rPr>
                        <a:t>cổ</a:t>
                      </a:r>
                      <a:r>
                        <a:rPr lang="en-US" sz="900" dirty="0">
                          <a:latin typeface="SVN-Product Sans" panose="020B0403030502040203" pitchFamily="34" charset="0"/>
                        </a:rPr>
                        <a:t> </a:t>
                      </a:r>
                      <a:r>
                        <a:rPr lang="en-US" sz="900" dirty="0" err="1">
                          <a:latin typeface="SVN-Product Sans" panose="020B0403030502040203" pitchFamily="34" charset="0"/>
                        </a:rPr>
                        <a:t>phiếu</a:t>
                      </a:r>
                      <a:endParaRPr lang="en-US" sz="900" dirty="0">
                        <a:latin typeface="SVN-Product Sans" panose="020B0403030502040203" pitchFamily="34" charset="0"/>
                      </a:endParaRPr>
                    </a:p>
                    <a:p>
                      <a:pPr marL="45720" marR="0" lvl="0" indent="-4572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dirty="0" err="1">
                          <a:latin typeface="SVN-Product Sans" panose="020B0403030502040203" pitchFamily="34" charset="0"/>
                        </a:rPr>
                        <a:t>Không</a:t>
                      </a:r>
                      <a:r>
                        <a:rPr lang="en-US" sz="900" dirty="0">
                          <a:latin typeface="SVN-Product Sans" panose="020B0403030502040203" pitchFamily="34" charset="0"/>
                        </a:rPr>
                        <a:t> </a:t>
                      </a:r>
                      <a:r>
                        <a:rPr lang="en-US" sz="900" dirty="0" err="1">
                          <a:latin typeface="SVN-Product Sans" panose="020B0403030502040203" pitchFamily="34" charset="0"/>
                        </a:rPr>
                        <a:t>nhận</a:t>
                      </a:r>
                      <a:r>
                        <a:rPr lang="en-US" sz="900" dirty="0">
                          <a:latin typeface="SVN-Product Sans" panose="020B0403030502040203" pitchFamily="34" charset="0"/>
                        </a:rPr>
                        <a:t> </a:t>
                      </a:r>
                      <a:r>
                        <a:rPr lang="en-US" sz="900" dirty="0" err="1">
                          <a:latin typeface="SVN-Product Sans" panose="020B0403030502040203" pitchFamily="34" charset="0"/>
                        </a:rPr>
                        <a:t>được</a:t>
                      </a:r>
                      <a:r>
                        <a:rPr lang="en-US" sz="900" dirty="0">
                          <a:latin typeface="SVN-Product Sans" panose="020B0403030502040203" pitchFamily="34" charset="0"/>
                        </a:rPr>
                        <a:t> </a:t>
                      </a:r>
                      <a:r>
                        <a:rPr lang="en-US" sz="900" dirty="0" err="1">
                          <a:latin typeface="SVN-Product Sans" panose="020B0403030502040203" pitchFamily="34" charset="0"/>
                        </a:rPr>
                        <a:t>tiền</a:t>
                      </a:r>
                      <a:r>
                        <a:rPr lang="en-US" sz="900" dirty="0">
                          <a:latin typeface="SVN-Product Sans" panose="020B0403030502040203" pitchFamily="34" charset="0"/>
                        </a:rPr>
                        <a:t> </a:t>
                      </a:r>
                      <a:r>
                        <a:rPr lang="en-US" sz="900" dirty="0" err="1">
                          <a:latin typeface="SVN-Product Sans" panose="020B0403030502040203" pitchFamily="34" charset="0"/>
                        </a:rPr>
                        <a:t>sau</a:t>
                      </a:r>
                      <a:r>
                        <a:rPr lang="en-US" sz="900" dirty="0">
                          <a:latin typeface="SVN-Product Sans" panose="020B0403030502040203" pitchFamily="34" charset="0"/>
                        </a:rPr>
                        <a:t> </a:t>
                      </a:r>
                      <a:r>
                        <a:rPr lang="en-US" sz="900" dirty="0" err="1">
                          <a:latin typeface="SVN-Product Sans" panose="020B0403030502040203" pitchFamily="34" charset="0"/>
                        </a:rPr>
                        <a:t>khi</a:t>
                      </a:r>
                      <a:r>
                        <a:rPr lang="en-US" sz="900" dirty="0">
                          <a:latin typeface="SVN-Product Sans" panose="020B0403030502040203" pitchFamily="34" charset="0"/>
                        </a:rPr>
                        <a:t> </a:t>
                      </a:r>
                      <a:r>
                        <a:rPr lang="en-US" sz="900" dirty="0" err="1">
                          <a:latin typeface="SVN-Product Sans" panose="020B0403030502040203" pitchFamily="34" charset="0"/>
                        </a:rPr>
                        <a:t>kết</a:t>
                      </a:r>
                      <a:r>
                        <a:rPr lang="en-US" sz="900" dirty="0">
                          <a:latin typeface="SVN-Product Sans" panose="020B0403030502040203" pitchFamily="34" charset="0"/>
                        </a:rPr>
                        <a:t> </a:t>
                      </a:r>
                      <a:r>
                        <a:rPr lang="en-US" sz="900" dirty="0" err="1">
                          <a:latin typeface="SVN-Product Sans" panose="020B0403030502040203" pitchFamily="34" charset="0"/>
                        </a:rPr>
                        <a:t>nối</a:t>
                      </a:r>
                      <a:r>
                        <a:rPr lang="en-US" sz="900" dirty="0">
                          <a:latin typeface="SVN-Product Sans" panose="020B0403030502040203" pitchFamily="34" charset="0"/>
                        </a:rPr>
                        <a:t> an </a:t>
                      </a:r>
                      <a:r>
                        <a:rPr lang="en-US" sz="900" dirty="0" err="1">
                          <a:latin typeface="SVN-Product Sans" panose="020B0403030502040203" pitchFamily="34" charset="0"/>
                        </a:rPr>
                        <a:t>sinh</a:t>
                      </a:r>
                      <a:endParaRPr lang="en-US" sz="900" dirty="0">
                        <a:latin typeface="SVN-Product Sans" panose="020B0403030502040203" pitchFamily="34" charset="0"/>
                      </a:endParaRPr>
                    </a:p>
                    <a:p>
                      <a:pPr marL="45720" marR="0" lvl="0" indent="-45720" algn="just" rtl="0">
                        <a:spcBef>
                          <a:spcPts val="0"/>
                        </a:spcBef>
                        <a:spcAft>
                          <a:spcPts val="0"/>
                        </a:spcAft>
                        <a:buFont typeface="Arial" panose="020B0604020202020204" pitchFamily="34" charset="0"/>
                        <a:buChar char="•"/>
                      </a:pPr>
                      <a:endParaRPr lang="en-US" sz="900" dirty="0">
                        <a:latin typeface="SVN-Product Sans" panose="020B0403030502040203" pitchFamily="34" charset="0"/>
                      </a:endParaRPr>
                    </a:p>
                  </a:txBody>
                  <a:tcPr marL="91450" marR="91450" marT="45725" marB="45725"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45720" marR="0" lvl="0" indent="-4572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dirty="0" err="1">
                          <a:latin typeface="SVN-Product Sans" panose="020B0403030502040203" pitchFamily="34" charset="0"/>
                        </a:rPr>
                        <a:t>Lỗi</a:t>
                      </a:r>
                      <a:r>
                        <a:rPr lang="en-US" sz="900" dirty="0">
                          <a:latin typeface="SVN-Product Sans" panose="020B0403030502040203" pitchFamily="34" charset="0"/>
                        </a:rPr>
                        <a:t> app banking</a:t>
                      </a:r>
                    </a:p>
                    <a:p>
                      <a:pPr marL="45720" marR="0" lvl="0" indent="-4572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dirty="0" err="1">
                          <a:latin typeface="SVN-Product Sans" panose="020B0403030502040203" pitchFamily="34" charset="0"/>
                        </a:rPr>
                        <a:t>Tình</a:t>
                      </a:r>
                      <a:r>
                        <a:rPr lang="en-US" sz="900" dirty="0">
                          <a:latin typeface="SVN-Product Sans" panose="020B0403030502040203" pitchFamily="34" charset="0"/>
                        </a:rPr>
                        <a:t> </a:t>
                      </a:r>
                      <a:r>
                        <a:rPr lang="en-US" sz="900" dirty="0" err="1">
                          <a:latin typeface="SVN-Product Sans" panose="020B0403030502040203" pitchFamily="34" charset="0"/>
                        </a:rPr>
                        <a:t>hình</a:t>
                      </a:r>
                      <a:r>
                        <a:rPr lang="en-US" sz="900" dirty="0">
                          <a:latin typeface="SVN-Product Sans" panose="020B0403030502040203" pitchFamily="34" charset="0"/>
                        </a:rPr>
                        <a:t> </a:t>
                      </a:r>
                      <a:r>
                        <a:rPr lang="en-US" sz="900" dirty="0" err="1">
                          <a:latin typeface="SVN-Product Sans" panose="020B0403030502040203" pitchFamily="34" charset="0"/>
                        </a:rPr>
                        <a:t>cổ</a:t>
                      </a:r>
                      <a:r>
                        <a:rPr lang="en-US" sz="900" dirty="0">
                          <a:latin typeface="SVN-Product Sans" panose="020B0403030502040203" pitchFamily="34" charset="0"/>
                        </a:rPr>
                        <a:t> </a:t>
                      </a:r>
                      <a:r>
                        <a:rPr lang="en-US" sz="900" dirty="0" err="1">
                          <a:latin typeface="SVN-Product Sans" panose="020B0403030502040203" pitchFamily="34" charset="0"/>
                        </a:rPr>
                        <a:t>phiếu</a:t>
                      </a:r>
                      <a:endParaRPr lang="en-US" sz="900" dirty="0">
                        <a:latin typeface="SVN-Product Sans" panose="020B0403030502040203" pitchFamily="34" charset="0"/>
                      </a:endParaRPr>
                    </a:p>
                  </a:txBody>
                  <a:tcPr marL="91450" marR="91450" marT="45725" marB="45725"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45720" marR="0" lvl="0" indent="-4572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dirty="0" err="1">
                          <a:latin typeface="SVN-Product Sans" panose="020B0403030502040203" pitchFamily="34" charset="0"/>
                        </a:rPr>
                        <a:t>Lỗi</a:t>
                      </a:r>
                      <a:r>
                        <a:rPr lang="en-US" sz="900" dirty="0">
                          <a:latin typeface="SVN-Product Sans" panose="020B0403030502040203" pitchFamily="34" charset="0"/>
                        </a:rPr>
                        <a:t> app Banking</a:t>
                      </a:r>
                    </a:p>
                    <a:p>
                      <a:pPr marL="45720" marR="0" lvl="0" indent="-4572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dirty="0" err="1">
                          <a:latin typeface="SVN-Product Sans" panose="020B0403030502040203" pitchFamily="34" charset="0"/>
                        </a:rPr>
                        <a:t>Giả</a:t>
                      </a:r>
                      <a:r>
                        <a:rPr lang="en-US" sz="900" dirty="0">
                          <a:latin typeface="SVN-Product Sans" panose="020B0403030502040203" pitchFamily="34" charset="0"/>
                        </a:rPr>
                        <a:t> </a:t>
                      </a:r>
                      <a:r>
                        <a:rPr lang="en-US" sz="900" dirty="0" err="1">
                          <a:latin typeface="SVN-Product Sans" panose="020B0403030502040203" pitchFamily="34" charset="0"/>
                        </a:rPr>
                        <a:t>nhân</a:t>
                      </a:r>
                      <a:r>
                        <a:rPr lang="en-US" sz="900" dirty="0">
                          <a:latin typeface="SVN-Product Sans" panose="020B0403030502040203" pitchFamily="34" charset="0"/>
                        </a:rPr>
                        <a:t> </a:t>
                      </a:r>
                      <a:r>
                        <a:rPr lang="en-US" sz="900" dirty="0" err="1">
                          <a:latin typeface="SVN-Product Sans" panose="020B0403030502040203" pitchFamily="34" charset="0"/>
                        </a:rPr>
                        <a:t>viên</a:t>
                      </a:r>
                      <a:r>
                        <a:rPr lang="en-US" sz="900" dirty="0">
                          <a:latin typeface="SVN-Product Sans" panose="020B0403030502040203" pitchFamily="34" charset="0"/>
                        </a:rPr>
                        <a:t> </a:t>
                      </a:r>
                      <a:r>
                        <a:rPr lang="en-US" sz="900" dirty="0" err="1">
                          <a:latin typeface="SVN-Product Sans" panose="020B0403030502040203" pitchFamily="34" charset="0"/>
                        </a:rPr>
                        <a:t>VPBank</a:t>
                      </a:r>
                      <a:r>
                        <a:rPr lang="en-US" sz="900" dirty="0">
                          <a:latin typeface="SVN-Product Sans" panose="020B0403030502040203" pitchFamily="34" charset="0"/>
                        </a:rPr>
                        <a:t> </a:t>
                      </a:r>
                      <a:r>
                        <a:rPr lang="en-US" sz="900" dirty="0" err="1">
                          <a:latin typeface="SVN-Product Sans" panose="020B0403030502040203" pitchFamily="34" charset="0"/>
                        </a:rPr>
                        <a:t>để</a:t>
                      </a:r>
                      <a:r>
                        <a:rPr lang="en-US" sz="900" dirty="0">
                          <a:latin typeface="SVN-Product Sans" panose="020B0403030502040203" pitchFamily="34" charset="0"/>
                        </a:rPr>
                        <a:t> </a:t>
                      </a:r>
                      <a:r>
                        <a:rPr lang="en-US" sz="900" dirty="0" err="1">
                          <a:latin typeface="SVN-Product Sans" panose="020B0403030502040203" pitchFamily="34" charset="0"/>
                        </a:rPr>
                        <a:t>lừa</a:t>
                      </a:r>
                      <a:r>
                        <a:rPr lang="en-US" sz="900" dirty="0">
                          <a:latin typeface="SVN-Product Sans" panose="020B0403030502040203" pitchFamily="34" charset="0"/>
                        </a:rPr>
                        <a:t> </a:t>
                      </a:r>
                      <a:r>
                        <a:rPr lang="en-US" sz="900" dirty="0" err="1">
                          <a:latin typeface="SVN-Product Sans" panose="020B0403030502040203" pitchFamily="34" charset="0"/>
                        </a:rPr>
                        <a:t>đảo</a:t>
                      </a:r>
                      <a:r>
                        <a:rPr lang="en-US" sz="900" dirty="0">
                          <a:latin typeface="SVN-Product Sans" panose="020B0403030502040203" pitchFamily="34" charset="0"/>
                        </a:rPr>
                        <a:t>.</a:t>
                      </a:r>
                    </a:p>
                  </a:txBody>
                  <a:tcPr marL="91450" marR="91450" marT="45725" marB="45725"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3"/>
                  </a:ext>
                </a:extLst>
              </a:tr>
            </a:tbl>
          </a:graphicData>
        </a:graphic>
      </p:graphicFrame>
      <p:pic>
        <p:nvPicPr>
          <p:cNvPr id="2" name="Google Shape;572;p28">
            <a:extLst>
              <a:ext uri="{FF2B5EF4-FFF2-40B4-BE49-F238E27FC236}">
                <a16:creationId xmlns:a16="http://schemas.microsoft.com/office/drawing/2014/main" id="{7C03DE20-AEF0-48E8-C3C1-6148E1C2DF3B}"/>
              </a:ext>
            </a:extLst>
          </p:cNvPr>
          <p:cNvPicPr preferRelativeResize="0"/>
          <p:nvPr/>
        </p:nvPicPr>
        <p:blipFill rotWithShape="1">
          <a:blip r:embed="rId4">
            <a:alphaModFix/>
          </a:blip>
          <a:srcRect/>
          <a:stretch/>
        </p:blipFill>
        <p:spPr>
          <a:xfrm>
            <a:off x="10841822" y="3721533"/>
            <a:ext cx="972122" cy="206794"/>
          </a:xfrm>
          <a:prstGeom prst="rect">
            <a:avLst/>
          </a:prstGeom>
          <a:noFill/>
          <a:ln>
            <a:noFill/>
          </a:ln>
        </p:spPr>
      </p:pic>
      <p:pic>
        <p:nvPicPr>
          <p:cNvPr id="4" name="Google Shape;573;p28">
            <a:extLst>
              <a:ext uri="{FF2B5EF4-FFF2-40B4-BE49-F238E27FC236}">
                <a16:creationId xmlns:a16="http://schemas.microsoft.com/office/drawing/2014/main" id="{CFD20F57-741C-4566-67C2-7963F749C2DC}"/>
              </a:ext>
            </a:extLst>
          </p:cNvPr>
          <p:cNvPicPr preferRelativeResize="0"/>
          <p:nvPr/>
        </p:nvPicPr>
        <p:blipFill rotWithShape="1">
          <a:blip r:embed="rId5">
            <a:alphaModFix/>
          </a:blip>
          <a:srcRect l="16489" t="37966" r="15703" b="37225"/>
          <a:stretch/>
        </p:blipFill>
        <p:spPr>
          <a:xfrm>
            <a:off x="8253921" y="3690878"/>
            <a:ext cx="728316" cy="266443"/>
          </a:xfrm>
          <a:prstGeom prst="rect">
            <a:avLst/>
          </a:prstGeom>
          <a:noFill/>
          <a:ln>
            <a:noFill/>
          </a:ln>
        </p:spPr>
      </p:pic>
      <p:pic>
        <p:nvPicPr>
          <p:cNvPr id="5" name="Google Shape;574;p28">
            <a:extLst>
              <a:ext uri="{FF2B5EF4-FFF2-40B4-BE49-F238E27FC236}">
                <a16:creationId xmlns:a16="http://schemas.microsoft.com/office/drawing/2014/main" id="{649598C1-79B1-7E6C-8001-58492E31990A}"/>
              </a:ext>
            </a:extLst>
          </p:cNvPr>
          <p:cNvPicPr preferRelativeResize="0"/>
          <p:nvPr/>
        </p:nvPicPr>
        <p:blipFill rotWithShape="1">
          <a:blip r:embed="rId6">
            <a:alphaModFix/>
          </a:blip>
          <a:srcRect/>
          <a:stretch/>
        </p:blipFill>
        <p:spPr>
          <a:xfrm>
            <a:off x="5450753" y="3717587"/>
            <a:ext cx="633747" cy="284093"/>
          </a:xfrm>
          <a:prstGeom prst="rect">
            <a:avLst/>
          </a:prstGeom>
          <a:noFill/>
          <a:ln>
            <a:noFill/>
          </a:ln>
        </p:spPr>
      </p:pic>
      <p:pic>
        <p:nvPicPr>
          <p:cNvPr id="6" name="Google Shape;575;p28">
            <a:extLst>
              <a:ext uri="{FF2B5EF4-FFF2-40B4-BE49-F238E27FC236}">
                <a16:creationId xmlns:a16="http://schemas.microsoft.com/office/drawing/2014/main" id="{0889F690-3BA5-45B6-0D56-AF6DD8BF140F}"/>
              </a:ext>
            </a:extLst>
          </p:cNvPr>
          <p:cNvPicPr preferRelativeResize="0"/>
          <p:nvPr/>
        </p:nvPicPr>
        <p:blipFill rotWithShape="1">
          <a:blip r:embed="rId7">
            <a:alphaModFix/>
          </a:blip>
          <a:srcRect/>
          <a:stretch/>
        </p:blipFill>
        <p:spPr>
          <a:xfrm>
            <a:off x="6886909" y="3709502"/>
            <a:ext cx="521326" cy="230857"/>
          </a:xfrm>
          <a:prstGeom prst="rect">
            <a:avLst/>
          </a:prstGeom>
          <a:noFill/>
          <a:ln>
            <a:noFill/>
          </a:ln>
        </p:spPr>
      </p:pic>
      <p:pic>
        <p:nvPicPr>
          <p:cNvPr id="7" name="Google Shape;576;p28">
            <a:extLst>
              <a:ext uri="{FF2B5EF4-FFF2-40B4-BE49-F238E27FC236}">
                <a16:creationId xmlns:a16="http://schemas.microsoft.com/office/drawing/2014/main" id="{5C908B71-86DA-9AEF-1664-C202AAB37CED}"/>
              </a:ext>
            </a:extLst>
          </p:cNvPr>
          <p:cNvPicPr preferRelativeResize="0"/>
          <p:nvPr/>
        </p:nvPicPr>
        <p:blipFill rotWithShape="1">
          <a:blip r:embed="rId8">
            <a:alphaModFix/>
          </a:blip>
          <a:srcRect/>
          <a:stretch/>
        </p:blipFill>
        <p:spPr>
          <a:xfrm>
            <a:off x="1286103" y="3641922"/>
            <a:ext cx="776561" cy="359758"/>
          </a:xfrm>
          <a:prstGeom prst="rect">
            <a:avLst/>
          </a:prstGeom>
          <a:noFill/>
          <a:ln>
            <a:noFill/>
          </a:ln>
        </p:spPr>
      </p:pic>
      <p:pic>
        <p:nvPicPr>
          <p:cNvPr id="8" name="Google Shape;577;p28">
            <a:extLst>
              <a:ext uri="{FF2B5EF4-FFF2-40B4-BE49-F238E27FC236}">
                <a16:creationId xmlns:a16="http://schemas.microsoft.com/office/drawing/2014/main" id="{2323B47E-7098-BF24-B480-BC4E40E3B6EE}"/>
              </a:ext>
            </a:extLst>
          </p:cNvPr>
          <p:cNvPicPr preferRelativeResize="0"/>
          <p:nvPr/>
        </p:nvPicPr>
        <p:blipFill rotWithShape="1">
          <a:blip r:embed="rId9">
            <a:alphaModFix/>
          </a:blip>
          <a:srcRect t="39624" b="41312"/>
          <a:stretch/>
        </p:blipFill>
        <p:spPr>
          <a:xfrm>
            <a:off x="3993189" y="3732510"/>
            <a:ext cx="872643" cy="166360"/>
          </a:xfrm>
          <a:prstGeom prst="rect">
            <a:avLst/>
          </a:prstGeom>
          <a:noFill/>
          <a:ln>
            <a:noFill/>
          </a:ln>
        </p:spPr>
      </p:pic>
      <p:pic>
        <p:nvPicPr>
          <p:cNvPr id="9" name="Google Shape;578;p28">
            <a:extLst>
              <a:ext uri="{FF2B5EF4-FFF2-40B4-BE49-F238E27FC236}">
                <a16:creationId xmlns:a16="http://schemas.microsoft.com/office/drawing/2014/main" id="{538E3F73-A8E3-F013-F881-AE59FA507D5D}"/>
              </a:ext>
            </a:extLst>
          </p:cNvPr>
          <p:cNvPicPr preferRelativeResize="0"/>
          <p:nvPr/>
        </p:nvPicPr>
        <p:blipFill rotWithShape="1">
          <a:blip r:embed="rId10">
            <a:alphaModFix/>
          </a:blip>
          <a:srcRect/>
          <a:stretch/>
        </p:blipFill>
        <p:spPr>
          <a:xfrm>
            <a:off x="2741257" y="3742467"/>
            <a:ext cx="521326" cy="206794"/>
          </a:xfrm>
          <a:prstGeom prst="rect">
            <a:avLst/>
          </a:prstGeom>
          <a:noFill/>
          <a:ln>
            <a:noFill/>
          </a:ln>
        </p:spPr>
      </p:pic>
      <p:pic>
        <p:nvPicPr>
          <p:cNvPr id="10" name="Google Shape;579;p28">
            <a:extLst>
              <a:ext uri="{FF2B5EF4-FFF2-40B4-BE49-F238E27FC236}">
                <a16:creationId xmlns:a16="http://schemas.microsoft.com/office/drawing/2014/main" id="{B16C9EFA-91A4-A18B-B8AE-86BE9FB15204}"/>
              </a:ext>
            </a:extLst>
          </p:cNvPr>
          <p:cNvPicPr preferRelativeResize="0"/>
          <p:nvPr/>
        </p:nvPicPr>
        <p:blipFill rotWithShape="1">
          <a:blip r:embed="rId11">
            <a:alphaModFix/>
          </a:blip>
          <a:srcRect/>
          <a:stretch/>
        </p:blipFill>
        <p:spPr>
          <a:xfrm>
            <a:off x="9680063" y="3673643"/>
            <a:ext cx="777009" cy="284093"/>
          </a:xfrm>
          <a:prstGeom prst="rect">
            <a:avLst/>
          </a:prstGeom>
          <a:noFill/>
          <a:ln>
            <a:noFill/>
          </a:ln>
        </p:spPr>
      </p:pic>
    </p:spTree>
    <p:extLst>
      <p:ext uri="{BB962C8B-B14F-4D97-AF65-F5344CB8AC3E}">
        <p14:creationId xmlns:p14="http://schemas.microsoft.com/office/powerpoint/2010/main" val="3986235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6F9B3-2159-4780-152B-DDD5E505B85C}"/>
              </a:ext>
            </a:extLst>
          </p:cNvPr>
          <p:cNvSpPr>
            <a:spLocks noGrp="1"/>
          </p:cNvSpPr>
          <p:nvPr>
            <p:ph type="title"/>
          </p:nvPr>
        </p:nvSpPr>
        <p:spPr/>
        <p:txBody>
          <a:bodyPr/>
          <a:lstStyle/>
          <a:p>
            <a:r>
              <a:rPr lang="en-US"/>
              <a:t>TOP BÀI ĐĂNG CÓ BÌNH LUẬN CAO NHẤT</a:t>
            </a:r>
            <a:endParaRPr lang="en-US" dirty="0">
              <a:solidFill>
                <a:srgbClr val="C00000"/>
              </a:solidFill>
            </a:endParaRPr>
          </a:p>
        </p:txBody>
      </p:sp>
      <p:graphicFrame>
        <p:nvGraphicFramePr>
          <p:cNvPr id="9" name="Table 8">
            <a:extLst>
              <a:ext uri="{FF2B5EF4-FFF2-40B4-BE49-F238E27FC236}">
                <a16:creationId xmlns:a16="http://schemas.microsoft.com/office/drawing/2014/main" id="{301A3670-B1CF-FA37-2B2A-1EF75B9FE50C}"/>
              </a:ext>
            </a:extLst>
          </p:cNvPr>
          <p:cNvGraphicFramePr>
            <a:graphicFrameLocks noGrp="1"/>
          </p:cNvGraphicFramePr>
          <p:nvPr>
            <p:extLst>
              <p:ext uri="{D42A27DB-BD31-4B8C-83A1-F6EECF244321}">
                <p14:modId xmlns:p14="http://schemas.microsoft.com/office/powerpoint/2010/main" val="2636120579"/>
              </p:ext>
            </p:extLst>
          </p:nvPr>
        </p:nvGraphicFramePr>
        <p:xfrm>
          <a:off x="457200" y="702461"/>
          <a:ext cx="11231214" cy="5612033"/>
        </p:xfrm>
        <a:graphic>
          <a:graphicData uri="http://schemas.openxmlformats.org/drawingml/2006/table">
            <a:tbl>
              <a:tblPr firstRow="1" bandRow="1">
                <a:tableStyleId>{5C22544A-7EE6-4342-B048-85BDC9FD1C3A}</a:tableStyleId>
              </a:tblPr>
              <a:tblGrid>
                <a:gridCol w="581297">
                  <a:extLst>
                    <a:ext uri="{9D8B030D-6E8A-4147-A177-3AD203B41FA5}">
                      <a16:colId xmlns:a16="http://schemas.microsoft.com/office/drawing/2014/main" val="3679831698"/>
                    </a:ext>
                  </a:extLst>
                </a:gridCol>
                <a:gridCol w="1377790">
                  <a:extLst>
                    <a:ext uri="{9D8B030D-6E8A-4147-A177-3AD203B41FA5}">
                      <a16:colId xmlns:a16="http://schemas.microsoft.com/office/drawing/2014/main" val="4183502362"/>
                    </a:ext>
                  </a:extLst>
                </a:gridCol>
                <a:gridCol w="5156301">
                  <a:extLst>
                    <a:ext uri="{9D8B030D-6E8A-4147-A177-3AD203B41FA5}">
                      <a16:colId xmlns:a16="http://schemas.microsoft.com/office/drawing/2014/main" val="3131488588"/>
                    </a:ext>
                  </a:extLst>
                </a:gridCol>
                <a:gridCol w="1647805">
                  <a:extLst>
                    <a:ext uri="{9D8B030D-6E8A-4147-A177-3AD203B41FA5}">
                      <a16:colId xmlns:a16="http://schemas.microsoft.com/office/drawing/2014/main" val="1562796657"/>
                    </a:ext>
                  </a:extLst>
                </a:gridCol>
                <a:gridCol w="1647805">
                  <a:extLst>
                    <a:ext uri="{9D8B030D-6E8A-4147-A177-3AD203B41FA5}">
                      <a16:colId xmlns:a16="http://schemas.microsoft.com/office/drawing/2014/main" val="3294577228"/>
                    </a:ext>
                  </a:extLst>
                </a:gridCol>
                <a:gridCol w="820216">
                  <a:extLst>
                    <a:ext uri="{9D8B030D-6E8A-4147-A177-3AD203B41FA5}">
                      <a16:colId xmlns:a16="http://schemas.microsoft.com/office/drawing/2014/main" val="1510005114"/>
                    </a:ext>
                  </a:extLst>
                </a:gridCol>
              </a:tblGrid>
              <a:tr h="370785">
                <a:tc>
                  <a:txBody>
                    <a:bodyPr/>
                    <a:lstStyle/>
                    <a:p>
                      <a:pPr algn="ctr"/>
                      <a:r>
                        <a:rPr lang="en-US" sz="1200" b="1" i="0" u="none" strike="noStrike" kern="1200" cap="none" dirty="0">
                          <a:solidFill>
                            <a:schemeClr val="bg1"/>
                          </a:solidFill>
                          <a:latin typeface="SVN-Product Sans" panose="020B0403030502040203" pitchFamily="34" charset="0"/>
                          <a:ea typeface="+mn-ea"/>
                          <a:cs typeface="Arial" panose="020B0604020202020204" pitchFamily="34" charset="0"/>
                          <a:sym typeface="Josefin Sans Medium"/>
                        </a:rPr>
                        <a:t>STT</a:t>
                      </a:r>
                    </a:p>
                  </a:txBody>
                  <a:tcPr anchor="ctr"/>
                </a:tc>
                <a:tc>
                  <a:txBody>
                    <a:bodyPr/>
                    <a:lstStyle/>
                    <a:p>
                      <a:pPr algn="ctr"/>
                      <a:r>
                        <a:rPr lang="en-US" sz="1200" b="1" i="0" u="none" strike="noStrike" kern="1200" cap="none">
                          <a:solidFill>
                            <a:schemeClr val="bg1"/>
                          </a:solidFill>
                          <a:latin typeface="SVN-Product Sans" panose="020B0403030502040203" pitchFamily="34" charset="0"/>
                          <a:ea typeface="+mn-ea"/>
                          <a:cs typeface="Arial" panose="020B0604020202020204" pitchFamily="34" charset="0"/>
                          <a:sym typeface="Josefin Sans Medium"/>
                        </a:rPr>
                        <a:t>Thương hiệu</a:t>
                      </a:r>
                      <a:endParaRPr lang="en-US" sz="1200" b="1" i="0" u="none" strike="noStrike" kern="1200" cap="none" dirty="0">
                        <a:solidFill>
                          <a:schemeClr val="bg1"/>
                        </a:solidFill>
                        <a:latin typeface="SVN-Product Sans" panose="020B0403030502040203" pitchFamily="34" charset="0"/>
                        <a:ea typeface="+mn-ea"/>
                        <a:cs typeface="Arial" panose="020B0604020202020204" pitchFamily="34" charset="0"/>
                        <a:sym typeface="Josefin Sans Medium"/>
                      </a:endParaRPr>
                    </a:p>
                  </a:txBody>
                  <a:tcPr anchor="ctr"/>
                </a:tc>
                <a:tc>
                  <a:txBody>
                    <a:bodyPr/>
                    <a:lstStyle/>
                    <a:p>
                      <a:pPr algn="ctr"/>
                      <a:r>
                        <a:rPr lang="en-US" sz="1200" b="1" i="0" u="none" strike="noStrike" kern="1200" cap="none">
                          <a:solidFill>
                            <a:schemeClr val="bg1"/>
                          </a:solidFill>
                          <a:latin typeface="SVN-Product Sans" panose="020B0403030502040203" pitchFamily="34" charset="0"/>
                          <a:ea typeface="+mn-ea"/>
                          <a:cs typeface="Arial" panose="020B0604020202020204" pitchFamily="34" charset="0"/>
                          <a:sym typeface="Josefin Sans Medium"/>
                        </a:rPr>
                        <a:t>Bài đăng</a:t>
                      </a:r>
                      <a:endParaRPr lang="en-US" sz="1200" b="1" i="0" u="none" strike="noStrike" kern="1200" cap="none" dirty="0">
                        <a:solidFill>
                          <a:schemeClr val="bg1"/>
                        </a:solidFill>
                        <a:latin typeface="SVN-Product Sans" panose="020B0403030502040203" pitchFamily="34" charset="0"/>
                        <a:ea typeface="+mn-ea"/>
                        <a:cs typeface="Arial" panose="020B0604020202020204" pitchFamily="34" charset="0"/>
                        <a:sym typeface="Josefin Sans Medium"/>
                      </a:endParaRPr>
                    </a:p>
                  </a:txBody>
                  <a:tcPr anchor="ctr"/>
                </a:tc>
                <a:tc>
                  <a:txBody>
                    <a:bodyPr/>
                    <a:lstStyle/>
                    <a:p>
                      <a:pPr algn="ctr"/>
                      <a:r>
                        <a:rPr lang="en-US" sz="1200" b="1" i="0" u="none" strike="noStrike" kern="1200" cap="none">
                          <a:solidFill>
                            <a:schemeClr val="bg1"/>
                          </a:solidFill>
                          <a:latin typeface="SVN-Product Sans" panose="020B0403030502040203" pitchFamily="34" charset="0"/>
                          <a:ea typeface="+mn-ea"/>
                          <a:cs typeface="Arial" panose="020B0604020202020204" pitchFamily="34" charset="0"/>
                          <a:sym typeface="Josefin Sans Medium"/>
                        </a:rPr>
                        <a:t>Kênh</a:t>
                      </a:r>
                      <a:endParaRPr lang="en-US" sz="1200" b="1" i="0" u="none" strike="noStrike" kern="1200" cap="none" dirty="0">
                        <a:solidFill>
                          <a:schemeClr val="bg1"/>
                        </a:solidFill>
                        <a:latin typeface="SVN-Product Sans" panose="020B0403030502040203" pitchFamily="34" charset="0"/>
                        <a:ea typeface="+mn-ea"/>
                        <a:cs typeface="Arial" panose="020B0604020202020204" pitchFamily="34" charset="0"/>
                        <a:sym typeface="Josefin Sans Medium"/>
                      </a:endParaRPr>
                    </a:p>
                  </a:txBody>
                  <a:tcPr anchor="ctr"/>
                </a:tc>
                <a:tc>
                  <a:txBody>
                    <a:bodyPr/>
                    <a:lstStyle/>
                    <a:p>
                      <a:pPr algn="ctr"/>
                      <a:r>
                        <a:rPr lang="en-US" sz="1200" b="1" i="0" u="none" strike="noStrike" kern="1200" cap="none">
                          <a:solidFill>
                            <a:schemeClr val="bg1"/>
                          </a:solidFill>
                          <a:latin typeface="SVN-Product Sans" panose="020B0403030502040203" pitchFamily="34" charset="0"/>
                          <a:ea typeface="+mn-ea"/>
                          <a:cs typeface="Arial" panose="020B0604020202020204" pitchFamily="34" charset="0"/>
                          <a:sym typeface="Josefin Sans Medium"/>
                        </a:rPr>
                        <a:t>Nguồn</a:t>
                      </a:r>
                      <a:endParaRPr lang="en-US" sz="1200" b="1" i="0" u="none" strike="noStrike" kern="1200" cap="none" dirty="0">
                        <a:solidFill>
                          <a:schemeClr val="bg1"/>
                        </a:solidFill>
                        <a:latin typeface="SVN-Product Sans" panose="020B0403030502040203" pitchFamily="34" charset="0"/>
                        <a:ea typeface="+mn-ea"/>
                        <a:cs typeface="Arial" panose="020B0604020202020204" pitchFamily="34" charset="0"/>
                        <a:sym typeface="Josefin Sans Medium"/>
                      </a:endParaRPr>
                    </a:p>
                  </a:txBody>
                  <a:tcPr anchor="ctr"/>
                </a:tc>
                <a:tc>
                  <a:txBody>
                    <a:bodyPr/>
                    <a:lstStyle/>
                    <a:p>
                      <a:pPr algn="ctr"/>
                      <a:r>
                        <a:rPr lang="en-US" sz="1200" b="1" i="0" u="none" strike="noStrike" kern="1200" cap="none">
                          <a:solidFill>
                            <a:schemeClr val="bg1"/>
                          </a:solidFill>
                          <a:latin typeface="SVN-Product Sans" panose="020B0403030502040203" pitchFamily="34" charset="0"/>
                          <a:ea typeface="+mn-ea"/>
                          <a:cs typeface="Arial" panose="020B0604020202020204" pitchFamily="34" charset="0"/>
                          <a:sym typeface="Josefin Sans Medium"/>
                        </a:rPr>
                        <a:t>Bình luận</a:t>
                      </a:r>
                      <a:endParaRPr lang="en-US" sz="1200" b="1" i="0" u="none" strike="noStrike" kern="1200" cap="none" dirty="0">
                        <a:solidFill>
                          <a:schemeClr val="bg1"/>
                        </a:solidFill>
                        <a:latin typeface="SVN-Product Sans" panose="020B0403030502040203" pitchFamily="34" charset="0"/>
                        <a:ea typeface="+mn-ea"/>
                        <a:cs typeface="Arial" panose="020B0604020202020204" pitchFamily="34" charset="0"/>
                        <a:sym typeface="Josefin Sans Medium"/>
                      </a:endParaRPr>
                    </a:p>
                  </a:txBody>
                  <a:tcPr anchor="ctr"/>
                </a:tc>
                <a:extLst>
                  <a:ext uri="{0D108BD9-81ED-4DB2-BD59-A6C34878D82A}">
                    <a16:rowId xmlns:a16="http://schemas.microsoft.com/office/drawing/2014/main" val="2039937836"/>
                  </a:ext>
                </a:extLst>
              </a:tr>
              <a:tr h="503504">
                <a:tc>
                  <a:txBody>
                    <a:bodyPr/>
                    <a:lstStyle/>
                    <a:p>
                      <a:pPr algn="ctr"/>
                      <a:r>
                        <a:rPr lang="en-US" sz="1100" b="0" i="0" u="none" strike="noStrike" kern="1200" cap="none" dirty="0">
                          <a:solidFill>
                            <a:schemeClr val="tx1">
                              <a:lumMod val="95000"/>
                              <a:lumOff val="5000"/>
                            </a:schemeClr>
                          </a:solidFill>
                          <a:latin typeface="SVN-Product Sans" panose="020B0403030502040203" pitchFamily="34" charset="0"/>
                          <a:ea typeface="+mn-ea"/>
                          <a:cs typeface="Arial" panose="020B0604020202020204" pitchFamily="34" charset="0"/>
                          <a:sym typeface="Josefin Sans Medium"/>
                        </a:rPr>
                        <a:t>1</a:t>
                      </a:r>
                    </a:p>
                  </a:txBody>
                  <a:tcPr anchor="ctr"/>
                </a:tc>
                <a:tc>
                  <a:txBody>
                    <a:bodyPr/>
                    <a:lstStyle/>
                    <a:p>
                      <a:pPr marR="0" algn="ctr" rtl="0" fontAlgn="ctr">
                        <a:lnSpc>
                          <a:spcPct val="100000"/>
                        </a:lnSpc>
                        <a:spcBef>
                          <a:spcPts val="0"/>
                        </a:spcBef>
                        <a:spcAft>
                          <a:spcPts val="0"/>
                        </a:spcAft>
                        <a:buClr>
                          <a:srgbClr val="000000"/>
                        </a:buClr>
                        <a:buFont typeface="Arial"/>
                      </a:pPr>
                      <a:r>
                        <a:rPr lang="en-US" sz="1100" b="0" i="0" u="none" strike="noStrike" cap="none">
                          <a:solidFill>
                            <a:srgbClr val="000000"/>
                          </a:solidFill>
                          <a:effectLst/>
                          <a:latin typeface="SVN-Product Sans" panose="020B0403030502040203" pitchFamily="34" charset="0"/>
                          <a:ea typeface="+mn-ea"/>
                          <a:cs typeface="+mn-cs"/>
                          <a:sym typeface="Arial"/>
                        </a:rPr>
                        <a:t>BIDV</a:t>
                      </a:r>
                      <a:endParaRPr lang="en-US" sz="1100" b="0" i="0" u="none" strike="noStrike" cap="none" dirty="0">
                        <a:solidFill>
                          <a:srgbClr val="000000"/>
                        </a:solidFill>
                        <a:effectLst/>
                        <a:latin typeface="SVN-Product Sans" panose="020B0403030502040203" pitchFamily="34" charset="0"/>
                        <a:ea typeface="+mn-ea"/>
                        <a:cs typeface="+mn-cs"/>
                        <a:sym typeface="Arial"/>
                      </a:endParaRPr>
                    </a:p>
                  </a:txBody>
                  <a:tcPr marL="7620" marR="7620" marT="7620" marB="0" anchor="ctr"/>
                </a:tc>
                <a:tc>
                  <a:txBody>
                    <a:bodyPr/>
                    <a:lstStyle/>
                    <a:p>
                      <a:pPr marR="0" algn="l" rtl="0" fontAlgn="ctr">
                        <a:lnSpc>
                          <a:spcPct val="100000"/>
                        </a:lnSpc>
                        <a:spcBef>
                          <a:spcPts val="0"/>
                        </a:spcBef>
                        <a:spcAft>
                          <a:spcPts val="0"/>
                        </a:spcAft>
                        <a:buClr>
                          <a:srgbClr val="000000"/>
                        </a:buClr>
                        <a:buFont typeface="Arial"/>
                      </a:pPr>
                      <a:r>
                        <a:rPr lang="vi-VN" sz="1100" b="0" i="0" u="none" strike="noStrike" cap="none" dirty="0">
                          <a:solidFill>
                            <a:srgbClr val="000000"/>
                          </a:solidFill>
                          <a:effectLst/>
                          <a:latin typeface="SVN-Product Sans" panose="020B0403030502040203" pitchFamily="34" charset="0"/>
                          <a:ea typeface="+mn-ea"/>
                          <a:cs typeface="+mn-cs"/>
                          <a:sym typeface="Arial"/>
                        </a:rPr>
                        <a:t>Bùng nổ! Dàn line up đỉnh cao của BIDV MUSIC FESTIVAL đã lộ diện</a:t>
                      </a:r>
                      <a:endParaRPr lang="en-US" sz="1100" b="0" i="0" u="none" strike="noStrike" cap="none" dirty="0">
                        <a:solidFill>
                          <a:srgbClr val="000000"/>
                        </a:solidFill>
                        <a:effectLst/>
                        <a:latin typeface="SVN-Product Sans" panose="020B0403030502040203" pitchFamily="34" charset="0"/>
                        <a:ea typeface="+mn-ea"/>
                        <a:cs typeface="+mn-cs"/>
                        <a:sym typeface="Arial"/>
                      </a:endParaRPr>
                    </a:p>
                  </a:txBody>
                  <a:tcPr marL="7620" marR="7620" marT="7620" marB="0" anchor="ctr"/>
                </a:tc>
                <a:tc>
                  <a:txBody>
                    <a:bodyPr/>
                    <a:lstStyle/>
                    <a:p>
                      <a:pPr marR="0" algn="ctr" rtl="0" fontAlgn="ctr">
                        <a:lnSpc>
                          <a:spcPct val="100000"/>
                        </a:lnSpc>
                        <a:spcBef>
                          <a:spcPts val="0"/>
                        </a:spcBef>
                        <a:spcAft>
                          <a:spcPts val="0"/>
                        </a:spcAft>
                        <a:buClr>
                          <a:srgbClr val="000000"/>
                        </a:buClr>
                        <a:buFont typeface="Arial"/>
                      </a:pPr>
                      <a:r>
                        <a:rPr lang="en-US" sz="1100" b="0" i="0" u="none" strike="noStrike" cap="none">
                          <a:solidFill>
                            <a:srgbClr val="000000"/>
                          </a:solidFill>
                          <a:effectLst/>
                          <a:latin typeface="SVN-Product Sans" panose="020B0403030502040203" pitchFamily="34" charset="0"/>
                          <a:ea typeface="+mn-ea"/>
                          <a:cs typeface="+mn-cs"/>
                          <a:sym typeface="Arial"/>
                        </a:rPr>
                        <a:t>Facebook</a:t>
                      </a:r>
                      <a:endParaRPr lang="en-US" sz="1100" b="0" i="0" u="none" strike="noStrike" cap="none" dirty="0">
                        <a:solidFill>
                          <a:srgbClr val="000000"/>
                        </a:solidFill>
                        <a:effectLst/>
                        <a:latin typeface="SVN-Product Sans" panose="020B0403030502040203" pitchFamily="34" charset="0"/>
                        <a:ea typeface="+mn-ea"/>
                        <a:cs typeface="+mn-cs"/>
                        <a:sym typeface="Arial"/>
                      </a:endParaRPr>
                    </a:p>
                  </a:txBody>
                  <a:tcPr marL="7620" marR="7620" marT="7620" marB="0" anchor="ctr"/>
                </a:tc>
                <a:tc>
                  <a:txBody>
                    <a:bodyPr/>
                    <a:lstStyle/>
                    <a:p>
                      <a:pPr marR="0" algn="ctr" rtl="0" fontAlgn="ctr">
                        <a:lnSpc>
                          <a:spcPct val="100000"/>
                        </a:lnSpc>
                        <a:spcBef>
                          <a:spcPts val="0"/>
                        </a:spcBef>
                        <a:spcAft>
                          <a:spcPts val="0"/>
                        </a:spcAft>
                        <a:buClr>
                          <a:srgbClr val="000000"/>
                        </a:buClr>
                        <a:buFont typeface="Arial"/>
                      </a:pPr>
                      <a:r>
                        <a:rPr lang="vi-VN" sz="1100" b="0" i="0" u="sng" strike="noStrike" cap="none" dirty="0">
                          <a:solidFill>
                            <a:srgbClr val="0000FF"/>
                          </a:solidFill>
                          <a:effectLst/>
                          <a:latin typeface="SVN-Product Sans" panose="020B0403030502040203" pitchFamily="34" charset="0"/>
                          <a:ea typeface="+mn-ea"/>
                          <a:cs typeface="+mn-cs"/>
                          <a:sym typeface="Arial"/>
                        </a:rPr>
                        <a:t>BIDV - Ngân hàng TMCP Đầu Tư &amp; Phát Triển Việt Nam</a:t>
                      </a:r>
                      <a:endParaRPr lang="en-US" sz="1100" b="0" i="0" u="sng" strike="noStrike" cap="none" dirty="0">
                        <a:solidFill>
                          <a:srgbClr val="0000FF"/>
                        </a:solidFill>
                        <a:effectLst/>
                        <a:latin typeface="SVN-Product Sans" panose="020B0403030502040203" pitchFamily="34" charset="0"/>
                        <a:ea typeface="+mn-ea"/>
                        <a:cs typeface="+mn-cs"/>
                        <a:sym typeface="Arial"/>
                      </a:endParaRPr>
                    </a:p>
                  </a:txBody>
                  <a:tcPr marL="7620" marR="7620" marT="7620" marB="0" anchor="ctr"/>
                </a:tc>
                <a:tc>
                  <a:txBody>
                    <a:bodyPr/>
                    <a:lstStyle/>
                    <a:p>
                      <a:pPr algn="ctr" fontAlgn="b"/>
                      <a:r>
                        <a:rPr lang="en-US" sz="1100" b="0" i="0" u="none" strike="noStrike" cap="none" dirty="0">
                          <a:solidFill>
                            <a:srgbClr val="000000"/>
                          </a:solidFill>
                          <a:effectLst/>
                          <a:latin typeface="SVN-Product Sans" panose="020B0403030502040203" pitchFamily="34" charset="0"/>
                          <a:ea typeface="+mn-ea"/>
                          <a:cs typeface="+mn-cs"/>
                          <a:sym typeface="Arial"/>
                        </a:rPr>
                        <a:t>617</a:t>
                      </a:r>
                    </a:p>
                  </a:txBody>
                  <a:tcPr marL="9525" marR="9525" marT="9525" marB="0" anchor="ctr"/>
                </a:tc>
                <a:extLst>
                  <a:ext uri="{0D108BD9-81ED-4DB2-BD59-A6C34878D82A}">
                    <a16:rowId xmlns:a16="http://schemas.microsoft.com/office/drawing/2014/main" val="224517152"/>
                  </a:ext>
                </a:extLst>
              </a:tr>
              <a:tr h="484804">
                <a:tc>
                  <a:txBody>
                    <a:bodyPr/>
                    <a:lstStyle/>
                    <a:p>
                      <a:pPr algn="ctr"/>
                      <a:r>
                        <a:rPr lang="en-US" sz="1100" b="0" i="0" u="none" strike="noStrike" kern="1200" cap="none" dirty="0">
                          <a:solidFill>
                            <a:schemeClr val="tx1">
                              <a:lumMod val="95000"/>
                              <a:lumOff val="5000"/>
                            </a:schemeClr>
                          </a:solidFill>
                          <a:latin typeface="SVN-Product Sans" panose="020B0403030502040203" pitchFamily="34" charset="0"/>
                          <a:ea typeface="+mn-ea"/>
                          <a:cs typeface="Arial" panose="020B0604020202020204" pitchFamily="34" charset="0"/>
                          <a:sym typeface="Josefin Sans Medium"/>
                        </a:rPr>
                        <a:t>2</a:t>
                      </a:r>
                    </a:p>
                  </a:txBody>
                  <a:tcPr anchor="ctr"/>
                </a:tc>
                <a:tc>
                  <a:txBody>
                    <a:bodyPr/>
                    <a:lstStyle/>
                    <a:p>
                      <a:pPr marR="0" algn="ctr" rtl="0" fontAlgn="ctr">
                        <a:lnSpc>
                          <a:spcPct val="100000"/>
                        </a:lnSpc>
                        <a:spcBef>
                          <a:spcPts val="0"/>
                        </a:spcBef>
                        <a:spcAft>
                          <a:spcPts val="0"/>
                        </a:spcAft>
                        <a:buClr>
                          <a:srgbClr val="000000"/>
                        </a:buClr>
                        <a:buFont typeface="Arial"/>
                      </a:pPr>
                      <a:r>
                        <a:rPr lang="en-US" sz="1100" b="0" i="0" u="none" strike="noStrike" cap="none">
                          <a:solidFill>
                            <a:srgbClr val="000000"/>
                          </a:solidFill>
                          <a:effectLst/>
                          <a:latin typeface="SVN-Product Sans" panose="020B0403030502040203" pitchFamily="34" charset="0"/>
                          <a:ea typeface="+mn-ea"/>
                          <a:cs typeface="+mn-cs"/>
                          <a:sym typeface="Arial"/>
                        </a:rPr>
                        <a:t>SHB</a:t>
                      </a:r>
                    </a:p>
                  </a:txBody>
                  <a:tcPr marL="7620" marR="7620" marT="7620" marB="0" anchor="ctr"/>
                </a:tc>
                <a:tc>
                  <a:txBody>
                    <a:bodyPr/>
                    <a:lstStyle/>
                    <a:p>
                      <a:pPr marR="0" algn="l" rtl="0" fontAlgn="ctr">
                        <a:lnSpc>
                          <a:spcPct val="100000"/>
                        </a:lnSpc>
                        <a:spcBef>
                          <a:spcPts val="0"/>
                        </a:spcBef>
                        <a:spcAft>
                          <a:spcPts val="0"/>
                        </a:spcAft>
                        <a:buClr>
                          <a:srgbClr val="000000"/>
                        </a:buClr>
                        <a:buFont typeface="Arial"/>
                      </a:pPr>
                      <a:r>
                        <a:rPr lang="vi-VN" sz="1100" b="0" i="0" u="none" strike="noStrike" cap="none" dirty="0">
                          <a:solidFill>
                            <a:srgbClr val="000000"/>
                          </a:solidFill>
                          <a:effectLst/>
                          <a:latin typeface="SVN-Product Sans" panose="020B0403030502040203" pitchFamily="34" charset="0"/>
                          <a:ea typeface="+mn-ea"/>
                          <a:cs typeface="+mn-cs"/>
                          <a:sym typeface="Arial"/>
                        </a:rPr>
                        <a:t>BIDV (BID) đang ‘ôm’ hơn 28.700 tỷ đồng nợ xấu có khả năng mất vốn</a:t>
                      </a:r>
                      <a:endParaRPr lang="en-US" sz="1100" b="0" i="0" u="none" strike="noStrike" cap="none" dirty="0">
                        <a:solidFill>
                          <a:srgbClr val="000000"/>
                        </a:solidFill>
                        <a:effectLst/>
                        <a:latin typeface="SVN-Product Sans" panose="020B0403030502040203" pitchFamily="34" charset="0"/>
                        <a:ea typeface="+mn-ea"/>
                        <a:cs typeface="+mn-cs"/>
                        <a:sym typeface="Arial"/>
                      </a:endParaRPr>
                    </a:p>
                  </a:txBody>
                  <a:tcPr marL="7620" marR="7620" marT="7620" marB="0" anchor="ct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SVN-Product Sans" panose="020B0403030502040203" pitchFamily="34" charset="0"/>
                          <a:ea typeface="+mn-ea"/>
                          <a:cs typeface="+mn-cs"/>
                          <a:sym typeface="Arial"/>
                        </a:rPr>
                        <a:t>Facebook</a:t>
                      </a:r>
                      <a:endPar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ea typeface="+mn-ea"/>
                        <a:cs typeface="+mn-cs"/>
                        <a:sym typeface="Arial"/>
                      </a:endParaRPr>
                    </a:p>
                  </a:txBody>
                  <a:tcPr marL="9525" marR="9525" marT="9525" marB="0" anchor="ctr"/>
                </a:tc>
                <a:tc>
                  <a:txBody>
                    <a:bodyPr/>
                    <a:lstStyle/>
                    <a:p>
                      <a:pPr marR="0" algn="ctr" rtl="0" fontAlgn="ctr">
                        <a:lnSpc>
                          <a:spcPct val="100000"/>
                        </a:lnSpc>
                        <a:spcBef>
                          <a:spcPts val="0"/>
                        </a:spcBef>
                        <a:spcAft>
                          <a:spcPts val="0"/>
                        </a:spcAft>
                        <a:buClr>
                          <a:srgbClr val="000000"/>
                        </a:buClr>
                        <a:buFont typeface="Arial"/>
                      </a:pPr>
                      <a:r>
                        <a:rPr lang="en-US" sz="1100" b="0" i="0" u="sng" strike="noStrike" cap="none" dirty="0" err="1">
                          <a:solidFill>
                            <a:srgbClr val="0000FF"/>
                          </a:solidFill>
                          <a:effectLst/>
                          <a:latin typeface="SVN-Product Sans" panose="020B0403030502040203" pitchFamily="34" charset="0"/>
                          <a:ea typeface="+mn-ea"/>
                          <a:cs typeface="+mn-cs"/>
                          <a:sym typeface="Arial"/>
                          <a:hlinkClick r:id="rId2"/>
                        </a:rPr>
                        <a:t>Bản</a:t>
                      </a:r>
                      <a:r>
                        <a:rPr lang="en-US" sz="1100" b="0" i="0" u="sng" strike="noStrike" cap="none" dirty="0">
                          <a:solidFill>
                            <a:srgbClr val="0000FF"/>
                          </a:solidFill>
                          <a:effectLst/>
                          <a:latin typeface="SVN-Product Sans" panose="020B0403030502040203" pitchFamily="34" charset="0"/>
                          <a:ea typeface="+mn-ea"/>
                          <a:cs typeface="+mn-cs"/>
                          <a:sym typeface="Arial"/>
                          <a:hlinkClick r:id="rId2"/>
                        </a:rPr>
                        <a:t> tin </a:t>
                      </a:r>
                      <a:r>
                        <a:rPr lang="en-US" sz="1100" b="0" i="0" u="sng" strike="noStrike" cap="none" dirty="0" err="1">
                          <a:solidFill>
                            <a:srgbClr val="0000FF"/>
                          </a:solidFill>
                          <a:effectLst/>
                          <a:latin typeface="SVN-Product Sans" panose="020B0403030502040203" pitchFamily="34" charset="0"/>
                          <a:ea typeface="+mn-ea"/>
                          <a:cs typeface="+mn-cs"/>
                          <a:sym typeface="Arial"/>
                          <a:hlinkClick r:id="rId2"/>
                        </a:rPr>
                        <a:t>Tài</a:t>
                      </a:r>
                      <a:r>
                        <a:rPr lang="en-US" sz="1100" b="0" i="0" u="sng" strike="noStrike" cap="none" dirty="0">
                          <a:solidFill>
                            <a:srgbClr val="0000FF"/>
                          </a:solidFill>
                          <a:effectLst/>
                          <a:latin typeface="SVN-Product Sans" panose="020B0403030502040203" pitchFamily="34" charset="0"/>
                          <a:ea typeface="+mn-ea"/>
                          <a:cs typeface="+mn-cs"/>
                          <a:sym typeface="Arial"/>
                          <a:hlinkClick r:id="rId2"/>
                        </a:rPr>
                        <a:t> </a:t>
                      </a:r>
                      <a:r>
                        <a:rPr lang="en-US" sz="1100" b="0" i="0" u="sng" strike="noStrike" cap="none" dirty="0" err="1">
                          <a:solidFill>
                            <a:srgbClr val="0000FF"/>
                          </a:solidFill>
                          <a:effectLst/>
                          <a:latin typeface="SVN-Product Sans" panose="020B0403030502040203" pitchFamily="34" charset="0"/>
                          <a:ea typeface="+mn-ea"/>
                          <a:cs typeface="+mn-cs"/>
                          <a:sym typeface="Arial"/>
                          <a:hlinkClick r:id="rId2"/>
                        </a:rPr>
                        <a:t>chính</a:t>
                      </a:r>
                      <a:endParaRPr lang="en-US" sz="1100" b="0" i="0" u="sng" strike="noStrike" cap="none" dirty="0">
                        <a:solidFill>
                          <a:srgbClr val="0000FF"/>
                        </a:solidFill>
                        <a:effectLst/>
                        <a:latin typeface="SVN-Product Sans" panose="020B0403030502040203" pitchFamily="34" charset="0"/>
                        <a:ea typeface="+mn-ea"/>
                        <a:cs typeface="+mn-cs"/>
                        <a:sym typeface="Arial"/>
                      </a:endParaRPr>
                    </a:p>
                  </a:txBody>
                  <a:tcPr marL="9525" marR="9525" marT="9525" marB="0" anchor="ctr"/>
                </a:tc>
                <a:tc>
                  <a:txBody>
                    <a:bodyPr/>
                    <a:lstStyle/>
                    <a:p>
                      <a:pPr marR="0" algn="ctr" rtl="0" fontAlgn="b">
                        <a:lnSpc>
                          <a:spcPct val="100000"/>
                        </a:lnSpc>
                        <a:spcBef>
                          <a:spcPts val="0"/>
                        </a:spcBef>
                        <a:spcAft>
                          <a:spcPts val="0"/>
                        </a:spcAft>
                        <a:buClr>
                          <a:srgbClr val="000000"/>
                        </a:buClr>
                        <a:buFont typeface="Arial"/>
                      </a:pPr>
                      <a:r>
                        <a:rPr lang="en-VN" sz="1100" b="0" i="0" u="none" strike="noStrike" cap="none" dirty="0">
                          <a:solidFill>
                            <a:srgbClr val="000000"/>
                          </a:solidFill>
                          <a:effectLst/>
                          <a:latin typeface="SVN-Product Sans" panose="020B0403030502040203" pitchFamily="34" charset="0"/>
                          <a:ea typeface="+mn-ea"/>
                          <a:cs typeface="+mn-cs"/>
                          <a:sym typeface="Arial"/>
                        </a:rPr>
                        <a:t>3,091</a:t>
                      </a:r>
                    </a:p>
                  </a:txBody>
                  <a:tcPr marL="9525" marR="9525" marT="9525" marB="0" anchor="ctr"/>
                </a:tc>
                <a:extLst>
                  <a:ext uri="{0D108BD9-81ED-4DB2-BD59-A6C34878D82A}">
                    <a16:rowId xmlns:a16="http://schemas.microsoft.com/office/drawing/2014/main" val="48222524"/>
                  </a:ext>
                </a:extLst>
              </a:tr>
              <a:tr h="547184">
                <a:tc>
                  <a:txBody>
                    <a:bodyPr/>
                    <a:lstStyle/>
                    <a:p>
                      <a:pPr algn="ctr"/>
                      <a:r>
                        <a:rPr lang="en-US" sz="1100" b="0" i="0" u="none" strike="noStrike" kern="1200" cap="none" dirty="0">
                          <a:solidFill>
                            <a:schemeClr val="tx1">
                              <a:lumMod val="95000"/>
                              <a:lumOff val="5000"/>
                            </a:schemeClr>
                          </a:solidFill>
                          <a:latin typeface="SVN-Product Sans" panose="020B0403030502040203" pitchFamily="34" charset="0"/>
                          <a:ea typeface="+mn-ea"/>
                          <a:cs typeface="Arial" panose="020B0604020202020204" pitchFamily="34" charset="0"/>
                          <a:sym typeface="Josefin Sans Medium"/>
                        </a:rPr>
                        <a:t>3</a:t>
                      </a:r>
                    </a:p>
                  </a:txBody>
                  <a:tcPr anchor="ctr"/>
                </a:tc>
                <a:tc>
                  <a:txBody>
                    <a:bodyPr/>
                    <a:lstStyle/>
                    <a:p>
                      <a:pPr marR="0" algn="ctr" rtl="0" fontAlgn="ctr">
                        <a:lnSpc>
                          <a:spcPct val="100000"/>
                        </a:lnSpc>
                        <a:spcBef>
                          <a:spcPts val="0"/>
                        </a:spcBef>
                        <a:spcAft>
                          <a:spcPts val="0"/>
                        </a:spcAft>
                        <a:buClr>
                          <a:srgbClr val="000000"/>
                        </a:buClr>
                        <a:buFont typeface="Arial"/>
                      </a:pPr>
                      <a:r>
                        <a:rPr lang="en-US" sz="1100" b="0" i="0" u="none" strike="noStrike" cap="none">
                          <a:solidFill>
                            <a:srgbClr val="000000"/>
                          </a:solidFill>
                          <a:effectLst/>
                          <a:latin typeface="SVN-Product Sans" panose="020B0403030502040203" pitchFamily="34" charset="0"/>
                          <a:ea typeface="+mn-ea"/>
                          <a:cs typeface="+mn-cs"/>
                          <a:sym typeface="Arial"/>
                        </a:rPr>
                        <a:t>HDBank</a:t>
                      </a:r>
                      <a:endParaRPr lang="vi-VN" sz="1100" b="0" i="0" u="none" strike="noStrike" cap="none" dirty="0">
                        <a:solidFill>
                          <a:srgbClr val="000000"/>
                        </a:solidFill>
                        <a:effectLst/>
                        <a:latin typeface="SVN-Product Sans" panose="020B0403030502040203" pitchFamily="34" charset="0"/>
                        <a:ea typeface="+mn-ea"/>
                        <a:cs typeface="+mn-cs"/>
                        <a:sym typeface="Arial"/>
                      </a:endParaRPr>
                    </a:p>
                  </a:txBody>
                  <a:tcPr marL="7620" marR="7620" marT="7620" marB="0" anchor="ctr"/>
                </a:tc>
                <a:tc>
                  <a:txBody>
                    <a:bodyPr/>
                    <a:lstStyle/>
                    <a:p>
                      <a:pPr marR="0" algn="l" rtl="0" fontAlgn="ctr">
                        <a:lnSpc>
                          <a:spcPct val="100000"/>
                        </a:lnSpc>
                        <a:spcBef>
                          <a:spcPts val="0"/>
                        </a:spcBef>
                        <a:spcAft>
                          <a:spcPts val="0"/>
                        </a:spcAft>
                        <a:buClr>
                          <a:srgbClr val="000000"/>
                        </a:buClr>
                        <a:buFont typeface="Arial"/>
                      </a:pPr>
                      <a:r>
                        <a:rPr lang="vi-VN" sz="1100" b="0" i="0" u="none" strike="noStrike" cap="none" dirty="0">
                          <a:solidFill>
                            <a:srgbClr val="000000"/>
                          </a:solidFill>
                          <a:effectLst/>
                          <a:latin typeface="SVN-Product Sans" panose="020B0403030502040203" pitchFamily="34" charset="0"/>
                          <a:ea typeface="+mn-ea"/>
                          <a:cs typeface="+mn-cs"/>
                          <a:sym typeface="Arial"/>
                        </a:rPr>
                        <a:t>CHÍNH THỨC: CHÍNH PHỦ TẶNG 100.000 đồng cho toàn bộ người dân Việt Nam nhân dịp 80 năm Quốc Khánh 2/9</a:t>
                      </a:r>
                    </a:p>
                  </a:txBody>
                  <a:tcPr marL="7620" marR="7620" marT="7620" marB="0" anchor="ct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SVN-Product Sans" panose="020B0403030502040203" pitchFamily="34" charset="0"/>
                          <a:ea typeface="+mn-ea"/>
                          <a:cs typeface="+mn-cs"/>
                          <a:sym typeface="Arial"/>
                        </a:rPr>
                        <a:t>Facebook</a:t>
                      </a:r>
                      <a:endPar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ea typeface="+mn-ea"/>
                        <a:cs typeface="+mn-cs"/>
                        <a:sym typeface="Arial"/>
                      </a:endParaRPr>
                    </a:p>
                  </a:txBody>
                  <a:tcPr marL="9525" marR="9525" marT="9525" marB="0" anchor="ctr"/>
                </a:tc>
                <a:tc>
                  <a:txBody>
                    <a:bodyPr/>
                    <a:lstStyle/>
                    <a:p>
                      <a:pPr marR="0" algn="ctr" rtl="0" fontAlgn="ctr">
                        <a:lnSpc>
                          <a:spcPct val="100000"/>
                        </a:lnSpc>
                        <a:spcBef>
                          <a:spcPts val="0"/>
                        </a:spcBef>
                        <a:spcAft>
                          <a:spcPts val="0"/>
                        </a:spcAft>
                        <a:buClr>
                          <a:srgbClr val="000000"/>
                        </a:buClr>
                        <a:buFont typeface="Arial"/>
                      </a:pPr>
                      <a:r>
                        <a:rPr lang="vi-VN" sz="1100" b="0" i="0" u="sng" strike="noStrike" cap="none" dirty="0">
                          <a:solidFill>
                            <a:srgbClr val="0000FF"/>
                          </a:solidFill>
                          <a:effectLst/>
                          <a:latin typeface="SVN-Product Sans" panose="020B0403030502040203" pitchFamily="34" charset="0"/>
                          <a:ea typeface="+mn-ea"/>
                          <a:cs typeface="+mn-cs"/>
                          <a:sym typeface="Arial"/>
                          <a:hlinkClick r:id="rId3"/>
                        </a:rPr>
                        <a:t>BIDV - Ngân hàng TMCP Đầu Tư &amp; Phát Triển Việt Nam</a:t>
                      </a:r>
                      <a:endParaRPr lang="vi-VN" sz="1100" b="0" i="0" u="sng" strike="noStrike" cap="none" dirty="0">
                        <a:solidFill>
                          <a:srgbClr val="0000FF"/>
                        </a:solidFill>
                        <a:effectLst/>
                        <a:latin typeface="SVN-Product Sans" panose="020B0403030502040203" pitchFamily="34" charset="0"/>
                        <a:ea typeface="+mn-ea"/>
                        <a:cs typeface="+mn-cs"/>
                        <a:sym typeface="Arial"/>
                      </a:endParaRPr>
                    </a:p>
                  </a:txBody>
                  <a:tcPr marL="9525" marR="9525" marT="9525" marB="0" anchor="ctr"/>
                </a:tc>
                <a:tc>
                  <a:txBody>
                    <a:bodyPr/>
                    <a:lstStyle/>
                    <a:p>
                      <a:pPr marR="0" algn="ctr" rtl="0" fontAlgn="b">
                        <a:lnSpc>
                          <a:spcPct val="100000"/>
                        </a:lnSpc>
                        <a:spcBef>
                          <a:spcPts val="0"/>
                        </a:spcBef>
                        <a:spcAft>
                          <a:spcPts val="0"/>
                        </a:spcAft>
                        <a:buClr>
                          <a:srgbClr val="000000"/>
                        </a:buClr>
                        <a:buFont typeface="Arial"/>
                      </a:pPr>
                      <a:r>
                        <a:rPr lang="en-VN" sz="1100" b="0" i="0" u="none" strike="noStrike" cap="none" dirty="0">
                          <a:solidFill>
                            <a:srgbClr val="000000"/>
                          </a:solidFill>
                          <a:effectLst/>
                          <a:latin typeface="SVN-Product Sans" panose="020B0403030502040203" pitchFamily="34" charset="0"/>
                          <a:ea typeface="+mn-ea"/>
                          <a:cs typeface="+mn-cs"/>
                          <a:sym typeface="Arial"/>
                        </a:rPr>
                        <a:t>2,317</a:t>
                      </a:r>
                    </a:p>
                  </a:txBody>
                  <a:tcPr marL="9525" marR="9525" marT="9525" marB="0" anchor="ctr"/>
                </a:tc>
                <a:extLst>
                  <a:ext uri="{0D108BD9-81ED-4DB2-BD59-A6C34878D82A}">
                    <a16:rowId xmlns:a16="http://schemas.microsoft.com/office/drawing/2014/main" val="3678380097"/>
                  </a:ext>
                </a:extLst>
              </a:tr>
              <a:tr h="503504">
                <a:tc>
                  <a:txBody>
                    <a:bodyPr/>
                    <a:lstStyle/>
                    <a:p>
                      <a:pPr algn="ctr"/>
                      <a:r>
                        <a:rPr lang="en-US" sz="1100" b="0" i="0" u="none" strike="noStrike" kern="1200" cap="none" dirty="0">
                          <a:solidFill>
                            <a:schemeClr val="tx1">
                              <a:lumMod val="95000"/>
                              <a:lumOff val="5000"/>
                            </a:schemeClr>
                          </a:solidFill>
                          <a:latin typeface="SVN-Product Sans" panose="020B0403030502040203" pitchFamily="34" charset="0"/>
                          <a:ea typeface="+mn-ea"/>
                          <a:cs typeface="Arial" panose="020B0604020202020204" pitchFamily="34" charset="0"/>
                          <a:sym typeface="Josefin Sans Medium"/>
                        </a:rPr>
                        <a:t>4</a:t>
                      </a:r>
                    </a:p>
                  </a:txBody>
                  <a:tcPr anchor="ct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100" b="0" i="0" u="none" strike="noStrike" cap="none">
                          <a:solidFill>
                            <a:srgbClr val="000000"/>
                          </a:solidFill>
                          <a:effectLst/>
                          <a:latin typeface="SVN-Product Sans" panose="020B0403030502040203" pitchFamily="34" charset="0"/>
                          <a:ea typeface="+mn-ea"/>
                          <a:cs typeface="+mn-cs"/>
                          <a:sym typeface="Arial"/>
                        </a:rPr>
                        <a:t>HDBank</a:t>
                      </a:r>
                      <a:endParaRPr lang="vi-VN" sz="1100" b="0" i="0" u="none" strike="noStrike" cap="none">
                        <a:solidFill>
                          <a:srgbClr val="000000"/>
                        </a:solidFill>
                        <a:effectLst/>
                        <a:latin typeface="SVN-Product Sans" panose="020B0403030502040203" pitchFamily="34" charset="0"/>
                        <a:ea typeface="+mn-ea"/>
                        <a:cs typeface="+mn-cs"/>
                        <a:sym typeface="Arial"/>
                      </a:endParaRPr>
                    </a:p>
                  </a:txBody>
                  <a:tcPr marL="7620" marR="7620" marT="7620" marB="0" anchor="ctr"/>
                </a:tc>
                <a:tc>
                  <a:txBody>
                    <a:bodyPr/>
                    <a:lstStyle/>
                    <a:p>
                      <a:pPr marR="0" algn="l" rtl="0" fontAlgn="ctr">
                        <a:lnSpc>
                          <a:spcPct val="100000"/>
                        </a:lnSpc>
                        <a:spcBef>
                          <a:spcPts val="0"/>
                        </a:spcBef>
                        <a:spcAft>
                          <a:spcPts val="0"/>
                        </a:spcAft>
                        <a:buClr>
                          <a:srgbClr val="000000"/>
                        </a:buClr>
                        <a:buFont typeface="Arial"/>
                      </a:pPr>
                      <a:r>
                        <a:rPr lang="vi-VN" sz="1100" b="0" i="0" u="none" strike="noStrike" cap="none" dirty="0">
                          <a:solidFill>
                            <a:srgbClr val="000000"/>
                          </a:solidFill>
                          <a:effectLst/>
                          <a:latin typeface="SVN-Product Sans" panose="020B0403030502040203" pitchFamily="34" charset="0"/>
                          <a:ea typeface="+mn-ea"/>
                          <a:cs typeface="+mn-cs"/>
                          <a:sym typeface="Arial"/>
                        </a:rPr>
                        <a:t>Ngân hàng BIDV (BID) đang ‘ôm’ hơn 28.700 tỷ đồng nợ</a:t>
                      </a:r>
                    </a:p>
                  </a:txBody>
                  <a:tcPr marL="7620" marR="7620" marT="7620" marB="0" anchor="ct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SVN-Product Sans" panose="020B0403030502040203" pitchFamily="34" charset="0"/>
                          <a:ea typeface="+mn-ea"/>
                          <a:cs typeface="+mn-cs"/>
                          <a:sym typeface="Arial"/>
                        </a:rPr>
                        <a:t>Facebook</a:t>
                      </a:r>
                      <a:endPar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ea typeface="+mn-ea"/>
                        <a:cs typeface="+mn-cs"/>
                        <a:sym typeface="Arial"/>
                      </a:endParaRPr>
                    </a:p>
                  </a:txBody>
                  <a:tcPr marL="9525" marR="9525" marT="9525" marB="0" anchor="ctr"/>
                </a:tc>
                <a:tc>
                  <a:txBody>
                    <a:bodyPr/>
                    <a:lstStyle/>
                    <a:p>
                      <a:pPr marR="0" algn="ctr" rtl="0" fontAlgn="ctr">
                        <a:lnSpc>
                          <a:spcPct val="100000"/>
                        </a:lnSpc>
                        <a:spcBef>
                          <a:spcPts val="0"/>
                        </a:spcBef>
                        <a:spcAft>
                          <a:spcPts val="0"/>
                        </a:spcAft>
                        <a:buClr>
                          <a:srgbClr val="000000"/>
                        </a:buClr>
                        <a:buFont typeface="Arial"/>
                      </a:pPr>
                      <a:r>
                        <a:rPr lang="en-US" sz="1100" b="0" i="0" u="sng" strike="noStrike" cap="none" dirty="0" err="1">
                          <a:solidFill>
                            <a:srgbClr val="0000FF"/>
                          </a:solidFill>
                          <a:effectLst/>
                          <a:latin typeface="SVN-Product Sans" panose="020B0403030502040203" pitchFamily="34" charset="0"/>
                          <a:ea typeface="+mn-ea"/>
                          <a:cs typeface="+mn-cs"/>
                          <a:sym typeface="Arial"/>
                          <a:hlinkClick r:id="rId4"/>
                        </a:rPr>
                        <a:t>Hà</a:t>
                      </a:r>
                      <a:r>
                        <a:rPr lang="en-US" sz="1100" b="0" i="0" u="sng" strike="noStrike" cap="none" dirty="0">
                          <a:solidFill>
                            <a:srgbClr val="0000FF"/>
                          </a:solidFill>
                          <a:effectLst/>
                          <a:latin typeface="SVN-Product Sans" panose="020B0403030502040203" pitchFamily="34" charset="0"/>
                          <a:ea typeface="+mn-ea"/>
                          <a:cs typeface="+mn-cs"/>
                          <a:sym typeface="Arial"/>
                          <a:hlinkClick r:id="rId4"/>
                        </a:rPr>
                        <a:t> </a:t>
                      </a:r>
                      <a:r>
                        <a:rPr lang="en-US" sz="1100" b="0" i="0" u="sng" strike="noStrike" cap="none" dirty="0" err="1">
                          <a:solidFill>
                            <a:srgbClr val="0000FF"/>
                          </a:solidFill>
                          <a:effectLst/>
                          <a:latin typeface="SVN-Product Sans" panose="020B0403030502040203" pitchFamily="34" charset="0"/>
                          <a:ea typeface="+mn-ea"/>
                          <a:cs typeface="+mn-cs"/>
                          <a:sym typeface="Arial"/>
                          <a:hlinkClick r:id="rId4"/>
                        </a:rPr>
                        <a:t>Nội</a:t>
                      </a:r>
                      <a:r>
                        <a:rPr lang="en-US" sz="1100" b="0" i="0" u="sng" strike="noStrike" cap="none" dirty="0">
                          <a:solidFill>
                            <a:srgbClr val="0000FF"/>
                          </a:solidFill>
                          <a:effectLst/>
                          <a:latin typeface="SVN-Product Sans" panose="020B0403030502040203" pitchFamily="34" charset="0"/>
                          <a:ea typeface="+mn-ea"/>
                          <a:cs typeface="+mn-cs"/>
                          <a:sym typeface="Arial"/>
                          <a:hlinkClick r:id="rId4"/>
                        </a:rPr>
                        <a:t> Deus</a:t>
                      </a:r>
                      <a:endParaRPr lang="en-US" sz="1100" b="0" i="0" u="sng" strike="noStrike" cap="none" dirty="0">
                        <a:solidFill>
                          <a:srgbClr val="0000FF"/>
                        </a:solidFill>
                        <a:effectLst/>
                        <a:latin typeface="SVN-Product Sans" panose="020B0403030502040203" pitchFamily="34" charset="0"/>
                        <a:ea typeface="+mn-ea"/>
                        <a:cs typeface="+mn-cs"/>
                        <a:sym typeface="Arial"/>
                      </a:endParaRPr>
                    </a:p>
                  </a:txBody>
                  <a:tcPr marL="9525" marR="9525" marT="9525" marB="0" anchor="ctr"/>
                </a:tc>
                <a:tc>
                  <a:txBody>
                    <a:bodyPr/>
                    <a:lstStyle/>
                    <a:p>
                      <a:pPr marR="0" algn="ctr" rtl="0" fontAlgn="b">
                        <a:lnSpc>
                          <a:spcPct val="100000"/>
                        </a:lnSpc>
                        <a:spcBef>
                          <a:spcPts val="0"/>
                        </a:spcBef>
                        <a:spcAft>
                          <a:spcPts val="0"/>
                        </a:spcAft>
                        <a:buClr>
                          <a:srgbClr val="000000"/>
                        </a:buClr>
                        <a:buFont typeface="Arial"/>
                      </a:pPr>
                      <a:r>
                        <a:rPr lang="en-VN" sz="1100" b="0" i="0" u="none" strike="noStrike" cap="none" dirty="0">
                          <a:solidFill>
                            <a:srgbClr val="000000"/>
                          </a:solidFill>
                          <a:effectLst/>
                          <a:latin typeface="SVN-Product Sans" panose="020B0403030502040203" pitchFamily="34" charset="0"/>
                          <a:ea typeface="+mn-ea"/>
                          <a:cs typeface="+mn-cs"/>
                          <a:sym typeface="Arial"/>
                        </a:rPr>
                        <a:t>1,889</a:t>
                      </a:r>
                    </a:p>
                  </a:txBody>
                  <a:tcPr marL="9525" marR="9525" marT="9525" marB="0" anchor="ctr"/>
                </a:tc>
                <a:extLst>
                  <a:ext uri="{0D108BD9-81ED-4DB2-BD59-A6C34878D82A}">
                    <a16:rowId xmlns:a16="http://schemas.microsoft.com/office/drawing/2014/main" val="3309361045"/>
                  </a:ext>
                </a:extLst>
              </a:tr>
              <a:tr h="503504">
                <a:tc>
                  <a:txBody>
                    <a:bodyPr/>
                    <a:lstStyle/>
                    <a:p>
                      <a:pPr algn="ctr"/>
                      <a:r>
                        <a:rPr lang="en-US" sz="1100" b="0" i="0" u="none" strike="noStrike" kern="1200" cap="none" dirty="0">
                          <a:solidFill>
                            <a:schemeClr val="tx1">
                              <a:lumMod val="95000"/>
                              <a:lumOff val="5000"/>
                            </a:schemeClr>
                          </a:solidFill>
                          <a:latin typeface="SVN-Product Sans" panose="020B0403030502040203" pitchFamily="34" charset="0"/>
                          <a:ea typeface="+mn-ea"/>
                          <a:cs typeface="Arial" panose="020B0604020202020204" pitchFamily="34" charset="0"/>
                          <a:sym typeface="Josefin Sans Medium"/>
                        </a:rPr>
                        <a:t>5</a:t>
                      </a:r>
                    </a:p>
                  </a:txBody>
                  <a:tcPr anchor="ctr"/>
                </a:tc>
                <a:tc>
                  <a:txBody>
                    <a:bodyPr/>
                    <a:lstStyle/>
                    <a:p>
                      <a:pPr marR="0" algn="ctr" rtl="0" fontAlgn="ctr">
                        <a:lnSpc>
                          <a:spcPct val="100000"/>
                        </a:lnSpc>
                        <a:spcBef>
                          <a:spcPts val="0"/>
                        </a:spcBef>
                        <a:spcAft>
                          <a:spcPts val="0"/>
                        </a:spcAft>
                        <a:buClr>
                          <a:srgbClr val="000000"/>
                        </a:buClr>
                        <a:buFont typeface="Arial"/>
                      </a:pPr>
                      <a:r>
                        <a:rPr lang="en-US" sz="1100" b="0" i="0" u="none" strike="noStrike" cap="none">
                          <a:solidFill>
                            <a:srgbClr val="000000"/>
                          </a:solidFill>
                          <a:effectLst/>
                          <a:latin typeface="SVN-Product Sans" panose="020B0403030502040203" pitchFamily="34" charset="0"/>
                          <a:ea typeface="+mn-ea"/>
                          <a:cs typeface="+mn-cs"/>
                          <a:sym typeface="Arial"/>
                        </a:rPr>
                        <a:t>MBBank</a:t>
                      </a:r>
                      <a:endParaRPr lang="vi-VN" sz="1100" b="0" i="0" u="none" strike="noStrike" cap="none" dirty="0">
                        <a:solidFill>
                          <a:srgbClr val="000000"/>
                        </a:solidFill>
                        <a:effectLst/>
                        <a:latin typeface="SVN-Product Sans" panose="020B0403030502040203" pitchFamily="34" charset="0"/>
                        <a:ea typeface="+mn-ea"/>
                        <a:cs typeface="+mn-cs"/>
                        <a:sym typeface="Arial"/>
                      </a:endParaRPr>
                    </a:p>
                  </a:txBody>
                  <a:tcPr marL="7620" marR="7620" marT="7620" marB="0" anchor="ctr"/>
                </a:tc>
                <a:tc>
                  <a:txBody>
                    <a:bodyPr/>
                    <a:lstStyle/>
                    <a:p>
                      <a:pPr marR="0" algn="l" rtl="0" fontAlgn="ctr">
                        <a:lnSpc>
                          <a:spcPct val="100000"/>
                        </a:lnSpc>
                        <a:spcBef>
                          <a:spcPts val="0"/>
                        </a:spcBef>
                        <a:spcAft>
                          <a:spcPts val="0"/>
                        </a:spcAft>
                        <a:buClr>
                          <a:srgbClr val="000000"/>
                        </a:buClr>
                        <a:buFont typeface="Arial"/>
                      </a:pPr>
                      <a:r>
                        <a:rPr lang="vi-VN" sz="1100" b="0" i="0" u="none" strike="noStrike" cap="none" dirty="0">
                          <a:solidFill>
                            <a:srgbClr val="000000"/>
                          </a:solidFill>
                          <a:effectLst/>
                          <a:latin typeface="SVN-Product Sans" panose="020B0403030502040203" pitchFamily="34" charset="0"/>
                          <a:ea typeface="+mn-ea"/>
                          <a:cs typeface="+mn-cs"/>
                          <a:sym typeface="Arial"/>
                        </a:rPr>
                        <a:t>Săn vé Fanzone MIỄN PHÍ cùng BIDV SmartBanking X</a:t>
                      </a:r>
                    </a:p>
                  </a:txBody>
                  <a:tcPr marL="7620" marR="7620" marT="7620" marB="0" anchor="ct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SVN-Product Sans" panose="020B0403030502040203" pitchFamily="34" charset="0"/>
                          <a:ea typeface="+mn-ea"/>
                          <a:cs typeface="+mn-cs"/>
                          <a:sym typeface="Arial"/>
                        </a:rPr>
                        <a:t>Facebook</a:t>
                      </a:r>
                      <a:endPar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ea typeface="+mn-ea"/>
                        <a:cs typeface="+mn-cs"/>
                        <a:sym typeface="Arial"/>
                      </a:endParaRPr>
                    </a:p>
                  </a:txBody>
                  <a:tcPr marL="9525" marR="9525" marT="9525" marB="0" anchor="ctr"/>
                </a:tc>
                <a:tc>
                  <a:txBody>
                    <a:bodyPr/>
                    <a:lstStyle/>
                    <a:p>
                      <a:pPr marR="0" algn="ctr" rtl="0" fontAlgn="ctr">
                        <a:lnSpc>
                          <a:spcPct val="100000"/>
                        </a:lnSpc>
                        <a:spcBef>
                          <a:spcPts val="0"/>
                        </a:spcBef>
                        <a:spcAft>
                          <a:spcPts val="0"/>
                        </a:spcAft>
                        <a:buClr>
                          <a:srgbClr val="000000"/>
                        </a:buClr>
                        <a:buFont typeface="Arial"/>
                      </a:pPr>
                      <a:r>
                        <a:rPr lang="vi-VN" sz="1100" b="0" i="0" u="sng" strike="noStrike" cap="none" dirty="0">
                          <a:solidFill>
                            <a:srgbClr val="0000FF"/>
                          </a:solidFill>
                          <a:effectLst/>
                          <a:latin typeface="SVN-Product Sans" panose="020B0403030502040203" pitchFamily="34" charset="0"/>
                          <a:ea typeface="+mn-ea"/>
                          <a:cs typeface="+mn-cs"/>
                          <a:sym typeface="Arial"/>
                          <a:hlinkClick r:id="rId5"/>
                        </a:rPr>
                        <a:t>BIDV - Ngân hàng TMCP Đầu Tư &amp; Phát Triển Việt Nam</a:t>
                      </a:r>
                      <a:endParaRPr lang="vi-VN" sz="1100" b="0" i="0" u="sng" strike="noStrike" cap="none" dirty="0">
                        <a:solidFill>
                          <a:srgbClr val="0000FF"/>
                        </a:solidFill>
                        <a:effectLst/>
                        <a:latin typeface="SVN-Product Sans" panose="020B0403030502040203" pitchFamily="34" charset="0"/>
                        <a:ea typeface="+mn-ea"/>
                        <a:cs typeface="+mn-cs"/>
                        <a:sym typeface="Arial"/>
                      </a:endParaRPr>
                    </a:p>
                  </a:txBody>
                  <a:tcPr marL="9525" marR="9525" marT="9525" marB="0" anchor="ctr"/>
                </a:tc>
                <a:tc>
                  <a:txBody>
                    <a:bodyPr/>
                    <a:lstStyle/>
                    <a:p>
                      <a:pPr marR="0" algn="ctr" rtl="0" fontAlgn="b">
                        <a:lnSpc>
                          <a:spcPct val="100000"/>
                        </a:lnSpc>
                        <a:spcBef>
                          <a:spcPts val="0"/>
                        </a:spcBef>
                        <a:spcAft>
                          <a:spcPts val="0"/>
                        </a:spcAft>
                        <a:buClr>
                          <a:srgbClr val="000000"/>
                        </a:buClr>
                        <a:buFont typeface="Arial"/>
                      </a:pPr>
                      <a:r>
                        <a:rPr lang="en-VN" sz="1100" b="0" i="0" u="none" strike="noStrike" cap="none">
                          <a:solidFill>
                            <a:srgbClr val="000000"/>
                          </a:solidFill>
                          <a:effectLst/>
                          <a:latin typeface="SVN-Product Sans" panose="020B0403030502040203" pitchFamily="34" charset="0"/>
                          <a:ea typeface="+mn-ea"/>
                          <a:cs typeface="+mn-cs"/>
                          <a:sym typeface="Arial"/>
                        </a:rPr>
                        <a:t>201</a:t>
                      </a:r>
                    </a:p>
                  </a:txBody>
                  <a:tcPr marL="9525" marR="9525" marT="9525" marB="0" anchor="ctr"/>
                </a:tc>
                <a:extLst>
                  <a:ext uri="{0D108BD9-81ED-4DB2-BD59-A6C34878D82A}">
                    <a16:rowId xmlns:a16="http://schemas.microsoft.com/office/drawing/2014/main" val="3472373572"/>
                  </a:ext>
                </a:extLst>
              </a:tr>
              <a:tr h="485521">
                <a:tc>
                  <a:txBody>
                    <a:bodyPr/>
                    <a:lstStyle/>
                    <a:p>
                      <a:pPr algn="ctr"/>
                      <a:r>
                        <a:rPr lang="en-US" sz="1100" b="0" i="0" u="none" strike="noStrike" kern="1200" cap="none" dirty="0">
                          <a:solidFill>
                            <a:schemeClr val="tx1">
                              <a:lumMod val="95000"/>
                              <a:lumOff val="5000"/>
                            </a:schemeClr>
                          </a:solidFill>
                          <a:latin typeface="SVN-Product Sans" panose="020B0403030502040203" pitchFamily="34" charset="0"/>
                          <a:ea typeface="+mn-ea"/>
                          <a:cs typeface="Arial" panose="020B0604020202020204" pitchFamily="34" charset="0"/>
                          <a:sym typeface="Josefin Sans Medium"/>
                        </a:rPr>
                        <a:t>6</a:t>
                      </a:r>
                    </a:p>
                  </a:txBody>
                  <a:tcPr anchor="ctr"/>
                </a:tc>
                <a:tc>
                  <a:txBody>
                    <a:bodyPr/>
                    <a:lstStyle/>
                    <a:p>
                      <a:pPr marR="0" algn="ctr" rtl="0" fontAlgn="ctr">
                        <a:lnSpc>
                          <a:spcPct val="100000"/>
                        </a:lnSpc>
                        <a:spcBef>
                          <a:spcPts val="0"/>
                        </a:spcBef>
                        <a:spcAft>
                          <a:spcPts val="0"/>
                        </a:spcAft>
                        <a:buClr>
                          <a:srgbClr val="000000"/>
                        </a:buClr>
                        <a:buFont typeface="Arial"/>
                      </a:pPr>
                      <a:r>
                        <a:rPr lang="en-US" sz="1100" b="0" i="0" u="none" strike="noStrike" cap="none">
                          <a:solidFill>
                            <a:srgbClr val="000000"/>
                          </a:solidFill>
                          <a:effectLst/>
                          <a:latin typeface="SVN-Product Sans" panose="020B0403030502040203" pitchFamily="34" charset="0"/>
                          <a:ea typeface="+mn-ea"/>
                          <a:cs typeface="+mn-cs"/>
                          <a:sym typeface="Arial"/>
                        </a:rPr>
                        <a:t>Techcombank</a:t>
                      </a:r>
                      <a:endParaRPr lang="vi-VN" sz="1100" b="0" i="0" u="none" strike="noStrike" cap="none" dirty="0">
                        <a:solidFill>
                          <a:srgbClr val="000000"/>
                        </a:solidFill>
                        <a:effectLst/>
                        <a:latin typeface="SVN-Product Sans" panose="020B0403030502040203" pitchFamily="34" charset="0"/>
                        <a:ea typeface="+mn-ea"/>
                        <a:cs typeface="+mn-cs"/>
                        <a:sym typeface="Arial"/>
                      </a:endParaRPr>
                    </a:p>
                  </a:txBody>
                  <a:tcPr marL="7620" marR="7620" marT="7620" marB="0" anchor="ctr"/>
                </a:tc>
                <a:tc>
                  <a:txBody>
                    <a:bodyPr/>
                    <a:lstStyle/>
                    <a:p>
                      <a:pPr marR="0" algn="l" rtl="0" fontAlgn="ctr">
                        <a:lnSpc>
                          <a:spcPct val="100000"/>
                        </a:lnSpc>
                        <a:spcBef>
                          <a:spcPts val="0"/>
                        </a:spcBef>
                        <a:spcAft>
                          <a:spcPts val="0"/>
                        </a:spcAft>
                        <a:buClr>
                          <a:srgbClr val="000000"/>
                        </a:buClr>
                        <a:buFont typeface="Arial"/>
                      </a:pPr>
                      <a:r>
                        <a:rPr lang="vi-VN" sz="1100" b="0" i="0" u="none" strike="noStrike" cap="none" dirty="0">
                          <a:solidFill>
                            <a:srgbClr val="000000"/>
                          </a:solidFill>
                          <a:effectLst/>
                          <a:latin typeface="SVN-Product Sans" panose="020B0403030502040203" pitchFamily="34" charset="0"/>
                          <a:ea typeface="+mn-ea"/>
                          <a:cs typeface="+mn-cs"/>
                          <a:sym typeface="Arial"/>
                        </a:rPr>
                        <a:t>BIDV SmartBanking phiên bản X - Trải nghiệm ngân hàng số hoàn toàn mới</a:t>
                      </a:r>
                    </a:p>
                  </a:txBody>
                  <a:tcPr marL="7620" marR="7620" marT="7620" marB="0" anchor="ct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SVN-Product Sans" panose="020B0403030502040203" pitchFamily="34" charset="0"/>
                          <a:ea typeface="+mn-ea"/>
                          <a:cs typeface="+mn-cs"/>
                          <a:sym typeface="Arial"/>
                        </a:rPr>
                        <a:t>Facebook</a:t>
                      </a:r>
                      <a:endPar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ea typeface="+mn-ea"/>
                        <a:cs typeface="+mn-cs"/>
                        <a:sym typeface="Arial"/>
                      </a:endParaRPr>
                    </a:p>
                  </a:txBody>
                  <a:tcPr marL="9525" marR="9525" marT="9525" marB="0" anchor="ctr"/>
                </a:tc>
                <a:tc>
                  <a:txBody>
                    <a:bodyPr/>
                    <a:lstStyle/>
                    <a:p>
                      <a:pPr marR="0" algn="ctr" rtl="0" fontAlgn="ctr">
                        <a:lnSpc>
                          <a:spcPct val="100000"/>
                        </a:lnSpc>
                        <a:spcBef>
                          <a:spcPts val="0"/>
                        </a:spcBef>
                        <a:spcAft>
                          <a:spcPts val="0"/>
                        </a:spcAft>
                        <a:buClr>
                          <a:srgbClr val="000000"/>
                        </a:buClr>
                        <a:buFont typeface="Arial"/>
                      </a:pPr>
                      <a:r>
                        <a:rPr lang="vi-VN" sz="1100" b="0" i="0" u="sng" strike="noStrike" cap="none" dirty="0">
                          <a:solidFill>
                            <a:srgbClr val="0000FF"/>
                          </a:solidFill>
                          <a:effectLst/>
                          <a:latin typeface="SVN-Product Sans" panose="020B0403030502040203" pitchFamily="34" charset="0"/>
                          <a:ea typeface="+mn-ea"/>
                          <a:cs typeface="+mn-cs"/>
                          <a:sym typeface="Arial"/>
                          <a:hlinkClick r:id="rId6"/>
                        </a:rPr>
                        <a:t>BIDV - Ngân hàng TMCP Đầu Tư &amp; Phát Triển Việt Nam</a:t>
                      </a:r>
                      <a:endParaRPr lang="vi-VN" sz="1100" b="0" i="0" u="sng" strike="noStrike" cap="none" dirty="0">
                        <a:solidFill>
                          <a:srgbClr val="0000FF"/>
                        </a:solidFill>
                        <a:effectLst/>
                        <a:latin typeface="SVN-Product Sans" panose="020B0403030502040203" pitchFamily="34" charset="0"/>
                        <a:ea typeface="+mn-ea"/>
                        <a:cs typeface="+mn-cs"/>
                        <a:sym typeface="Arial"/>
                      </a:endParaRPr>
                    </a:p>
                  </a:txBody>
                  <a:tcPr marL="9525" marR="9525" marT="9525" marB="0" anchor="ctr"/>
                </a:tc>
                <a:tc>
                  <a:txBody>
                    <a:bodyPr/>
                    <a:lstStyle/>
                    <a:p>
                      <a:pPr marR="0" algn="ctr" rtl="0" fontAlgn="b">
                        <a:lnSpc>
                          <a:spcPct val="100000"/>
                        </a:lnSpc>
                        <a:spcBef>
                          <a:spcPts val="0"/>
                        </a:spcBef>
                        <a:spcAft>
                          <a:spcPts val="0"/>
                        </a:spcAft>
                        <a:buClr>
                          <a:srgbClr val="000000"/>
                        </a:buClr>
                        <a:buFont typeface="Arial"/>
                      </a:pPr>
                      <a:r>
                        <a:rPr lang="en-VN" sz="1100" b="0" i="0" u="none" strike="noStrike" cap="none">
                          <a:solidFill>
                            <a:srgbClr val="000000"/>
                          </a:solidFill>
                          <a:effectLst/>
                          <a:latin typeface="SVN-Product Sans" panose="020B0403030502040203" pitchFamily="34" charset="0"/>
                          <a:ea typeface="+mn-ea"/>
                          <a:cs typeface="+mn-cs"/>
                          <a:sym typeface="Arial"/>
                        </a:rPr>
                        <a:t>194</a:t>
                      </a:r>
                    </a:p>
                  </a:txBody>
                  <a:tcPr marL="9525" marR="9525" marT="9525" marB="0" anchor="ctr"/>
                </a:tc>
                <a:extLst>
                  <a:ext uri="{0D108BD9-81ED-4DB2-BD59-A6C34878D82A}">
                    <a16:rowId xmlns:a16="http://schemas.microsoft.com/office/drawing/2014/main" val="3616125211"/>
                  </a:ext>
                </a:extLst>
              </a:tr>
              <a:tr h="485521">
                <a:tc>
                  <a:txBody>
                    <a:bodyPr/>
                    <a:lstStyle/>
                    <a:p>
                      <a:pPr algn="ctr"/>
                      <a:r>
                        <a:rPr lang="en-US" sz="1100" b="0" i="0" u="none" strike="noStrike" kern="1200" cap="none" dirty="0">
                          <a:solidFill>
                            <a:schemeClr val="tx1">
                              <a:lumMod val="95000"/>
                              <a:lumOff val="5000"/>
                            </a:schemeClr>
                          </a:solidFill>
                          <a:latin typeface="SVN-Product Sans" panose="020B0403030502040203" pitchFamily="34" charset="0"/>
                          <a:ea typeface="+mn-ea"/>
                          <a:cs typeface="Arial" panose="020B0604020202020204" pitchFamily="34" charset="0"/>
                          <a:sym typeface="Josefin Sans Medium"/>
                        </a:rPr>
                        <a:t>7</a:t>
                      </a:r>
                    </a:p>
                  </a:txBody>
                  <a:tcPr anchor="ctr"/>
                </a:tc>
                <a:tc>
                  <a:txBody>
                    <a:bodyPr/>
                    <a:lstStyle/>
                    <a:p>
                      <a:pPr marR="0" algn="ctr" rtl="0" fontAlgn="ctr">
                        <a:lnSpc>
                          <a:spcPct val="100000"/>
                        </a:lnSpc>
                        <a:spcBef>
                          <a:spcPts val="0"/>
                        </a:spcBef>
                        <a:spcAft>
                          <a:spcPts val="0"/>
                        </a:spcAft>
                        <a:buClr>
                          <a:srgbClr val="000000"/>
                        </a:buClr>
                        <a:buFont typeface="Arial"/>
                      </a:pPr>
                      <a:r>
                        <a:rPr lang="en-US" sz="1100" b="0" i="0" u="none" strike="noStrike" cap="none">
                          <a:solidFill>
                            <a:srgbClr val="000000"/>
                          </a:solidFill>
                          <a:effectLst/>
                          <a:latin typeface="SVN-Product Sans" panose="020B0403030502040203" pitchFamily="34" charset="0"/>
                          <a:ea typeface="+mn-ea"/>
                          <a:cs typeface="+mn-cs"/>
                          <a:sym typeface="Arial"/>
                        </a:rPr>
                        <a:t>VPBank</a:t>
                      </a:r>
                      <a:endParaRPr lang="vi-VN" sz="1100" b="0" i="0" u="none" strike="noStrike" cap="none" dirty="0">
                        <a:solidFill>
                          <a:srgbClr val="000000"/>
                        </a:solidFill>
                        <a:effectLst/>
                        <a:latin typeface="SVN-Product Sans" panose="020B0403030502040203" pitchFamily="34" charset="0"/>
                        <a:ea typeface="+mn-ea"/>
                        <a:cs typeface="+mn-cs"/>
                        <a:sym typeface="Arial"/>
                      </a:endParaRPr>
                    </a:p>
                  </a:txBody>
                  <a:tcPr marL="7620" marR="7620" marT="7620" marB="0" anchor="ctr"/>
                </a:tc>
                <a:tc>
                  <a:txBody>
                    <a:bodyPr/>
                    <a:lstStyle/>
                    <a:p>
                      <a:pPr marR="0" algn="l" rtl="0" fontAlgn="ctr">
                        <a:lnSpc>
                          <a:spcPct val="100000"/>
                        </a:lnSpc>
                        <a:spcBef>
                          <a:spcPts val="0"/>
                        </a:spcBef>
                        <a:spcAft>
                          <a:spcPts val="0"/>
                        </a:spcAft>
                        <a:buClr>
                          <a:srgbClr val="000000"/>
                        </a:buClr>
                        <a:buFont typeface="Arial"/>
                      </a:pPr>
                      <a:r>
                        <a:rPr lang="vi-VN" sz="1100" b="0" i="0" u="none" strike="noStrike" cap="none" dirty="0">
                          <a:solidFill>
                            <a:srgbClr val="000000"/>
                          </a:solidFill>
                          <a:effectLst/>
                          <a:latin typeface="SVN-Product Sans" panose="020B0403030502040203" pitchFamily="34" charset="0"/>
                          <a:ea typeface="+mn-ea"/>
                          <a:cs typeface="+mn-cs"/>
                          <a:sym typeface="Arial"/>
                        </a:rPr>
                        <a:t>CHÍNH THỨC CÔNG BỐ: FULL LINE-UP TẠI 8WONDER SUMMER 2025 – MOMENTS OF WONDER</a:t>
                      </a:r>
                    </a:p>
                  </a:txBody>
                  <a:tcPr marL="7620" marR="7620" marT="7620" marB="0" anchor="ct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SVN-Product Sans" panose="020B0403030502040203" pitchFamily="34" charset="0"/>
                          <a:ea typeface="+mn-ea"/>
                          <a:cs typeface="+mn-cs"/>
                          <a:sym typeface="Arial"/>
                        </a:rPr>
                        <a:t>Facebook</a:t>
                      </a:r>
                      <a:endPar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ea typeface="+mn-ea"/>
                        <a:cs typeface="+mn-cs"/>
                        <a:sym typeface="Arial"/>
                      </a:endParaRPr>
                    </a:p>
                  </a:txBody>
                  <a:tcPr marL="9525" marR="9525" marT="9525" marB="0" anchor="ctr"/>
                </a:tc>
                <a:tc>
                  <a:txBody>
                    <a:bodyPr/>
                    <a:lstStyle/>
                    <a:p>
                      <a:pPr marR="0" algn="ctr" rtl="0" fontAlgn="ctr">
                        <a:lnSpc>
                          <a:spcPct val="100000"/>
                        </a:lnSpc>
                        <a:spcBef>
                          <a:spcPts val="0"/>
                        </a:spcBef>
                        <a:spcAft>
                          <a:spcPts val="0"/>
                        </a:spcAft>
                        <a:buClr>
                          <a:srgbClr val="000000"/>
                        </a:buClr>
                        <a:buFont typeface="Arial"/>
                      </a:pPr>
                      <a:r>
                        <a:rPr lang="en-US" sz="1100" b="0" i="0" u="sng" strike="noStrike" cap="none" dirty="0">
                          <a:solidFill>
                            <a:srgbClr val="0000FF"/>
                          </a:solidFill>
                          <a:effectLst/>
                          <a:latin typeface="SVN-Product Sans" panose="020B0403030502040203" pitchFamily="34" charset="0"/>
                          <a:ea typeface="+mn-ea"/>
                          <a:cs typeface="+mn-cs"/>
                          <a:sym typeface="Arial"/>
                          <a:hlinkClick r:id="rId7"/>
                        </a:rPr>
                        <a:t>8Wonder</a:t>
                      </a:r>
                      <a:endParaRPr lang="en-US" sz="1100" b="0" i="0" u="sng" strike="noStrike" cap="none" dirty="0">
                        <a:solidFill>
                          <a:srgbClr val="0000FF"/>
                        </a:solidFill>
                        <a:effectLst/>
                        <a:latin typeface="SVN-Product Sans" panose="020B0403030502040203" pitchFamily="34" charset="0"/>
                        <a:ea typeface="+mn-ea"/>
                        <a:cs typeface="+mn-cs"/>
                        <a:sym typeface="Arial"/>
                      </a:endParaRPr>
                    </a:p>
                  </a:txBody>
                  <a:tcPr marL="9525" marR="9525" marT="9525" marB="0" anchor="ctr"/>
                </a:tc>
                <a:tc>
                  <a:txBody>
                    <a:bodyPr/>
                    <a:lstStyle/>
                    <a:p>
                      <a:pPr marR="0" algn="ctr" rtl="0" fontAlgn="b">
                        <a:lnSpc>
                          <a:spcPct val="100000"/>
                        </a:lnSpc>
                        <a:spcBef>
                          <a:spcPts val="0"/>
                        </a:spcBef>
                        <a:spcAft>
                          <a:spcPts val="0"/>
                        </a:spcAft>
                        <a:buClr>
                          <a:srgbClr val="000000"/>
                        </a:buClr>
                        <a:buFont typeface="Arial"/>
                      </a:pPr>
                      <a:r>
                        <a:rPr lang="en-VN" sz="1100" b="0" i="0" u="none" strike="noStrike" cap="none">
                          <a:solidFill>
                            <a:srgbClr val="000000"/>
                          </a:solidFill>
                          <a:effectLst/>
                          <a:latin typeface="SVN-Product Sans" panose="020B0403030502040203" pitchFamily="34" charset="0"/>
                          <a:ea typeface="+mn-ea"/>
                          <a:cs typeface="+mn-cs"/>
                          <a:sym typeface="Arial"/>
                        </a:rPr>
                        <a:t>608</a:t>
                      </a:r>
                    </a:p>
                  </a:txBody>
                  <a:tcPr marL="9525" marR="9525" marT="9525" marB="0" anchor="ctr"/>
                </a:tc>
                <a:extLst>
                  <a:ext uri="{0D108BD9-81ED-4DB2-BD59-A6C34878D82A}">
                    <a16:rowId xmlns:a16="http://schemas.microsoft.com/office/drawing/2014/main" val="3229811523"/>
                  </a:ext>
                </a:extLst>
              </a:tr>
              <a:tr h="663901">
                <a:tc>
                  <a:txBody>
                    <a:bodyPr/>
                    <a:lstStyle/>
                    <a:p>
                      <a:pPr algn="ctr"/>
                      <a:r>
                        <a:rPr lang="en-US" sz="1100" b="0" i="0" u="none" strike="noStrike" kern="1200" cap="none" dirty="0">
                          <a:solidFill>
                            <a:schemeClr val="tx1">
                              <a:lumMod val="95000"/>
                              <a:lumOff val="5000"/>
                            </a:schemeClr>
                          </a:solidFill>
                          <a:latin typeface="SVN-Product Sans" panose="020B0403030502040203" pitchFamily="34" charset="0"/>
                          <a:ea typeface="+mn-ea"/>
                          <a:cs typeface="Arial" panose="020B0604020202020204" pitchFamily="34" charset="0"/>
                          <a:sym typeface="Josefin Sans Medium"/>
                        </a:rPr>
                        <a:t>8</a:t>
                      </a:r>
                    </a:p>
                  </a:txBody>
                  <a:tcPr anchor="ct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SVN-Product Sans" panose="020B0403030502040203" pitchFamily="34" charset="0"/>
                          <a:ea typeface="+mn-ea"/>
                          <a:cs typeface="+mn-cs"/>
                          <a:sym typeface="Arial"/>
                        </a:rPr>
                        <a:t>VPBank</a:t>
                      </a:r>
                      <a:endParaRPr kumimoji="0" lang="vi-VN" sz="1100" b="0" i="0" u="none" strike="noStrike" kern="0" cap="none" spc="0" normalizeH="0" baseline="0" noProof="0" dirty="0">
                        <a:ln>
                          <a:noFill/>
                        </a:ln>
                        <a:solidFill>
                          <a:srgbClr val="000000"/>
                        </a:solidFill>
                        <a:effectLst/>
                        <a:uLnTx/>
                        <a:uFillTx/>
                        <a:latin typeface="SVN-Product Sans" panose="020B0403030502040203" pitchFamily="34" charset="0"/>
                        <a:ea typeface="+mn-ea"/>
                        <a:cs typeface="+mn-cs"/>
                        <a:sym typeface="Arial"/>
                      </a:endParaRPr>
                    </a:p>
                  </a:txBody>
                  <a:tcPr marL="7620" marR="7620" marT="7620" marB="0" anchor="ctr"/>
                </a:tc>
                <a:tc>
                  <a:txBody>
                    <a:bodyPr/>
                    <a:lstStyle/>
                    <a:p>
                      <a:pPr marR="0" algn="l" rtl="0" fontAlgn="ctr">
                        <a:lnSpc>
                          <a:spcPct val="100000"/>
                        </a:lnSpc>
                        <a:spcBef>
                          <a:spcPts val="0"/>
                        </a:spcBef>
                        <a:spcAft>
                          <a:spcPts val="0"/>
                        </a:spcAft>
                        <a:buClr>
                          <a:srgbClr val="000000"/>
                        </a:buClr>
                        <a:buFont typeface="Arial"/>
                      </a:pPr>
                      <a:r>
                        <a:rPr lang="vi-VN" sz="1100" b="0" i="0" u="none" strike="noStrike" cap="none" dirty="0">
                          <a:solidFill>
                            <a:srgbClr val="000000"/>
                          </a:solidFill>
                          <a:effectLst/>
                          <a:latin typeface="SVN-Product Sans" panose="020B0403030502040203" pitchFamily="34" charset="0"/>
                          <a:ea typeface="+mn-ea"/>
                          <a:cs typeface="+mn-cs"/>
                          <a:sym typeface="Arial"/>
                        </a:rPr>
                        <a:t>Chị Nguyễn Thị Thái Linh - Chuyên viên tại Ban Quản lý rủi ro toàn hàng, Ngân hàng TMCP Đầu tư và Phát triển Việt Nam (BIDV) vừa trở thành cán bộ đầu tiên trong ngành Ngân hàng đạt chứng chỉ quốc tế GARP SCR về quản lý rủi ro ESG</a:t>
                      </a:r>
                      <a:endParaRPr lang="en-US" sz="1100" b="0" i="0" u="none" strike="noStrike" cap="none" dirty="0">
                        <a:solidFill>
                          <a:srgbClr val="000000"/>
                        </a:solidFill>
                        <a:effectLst/>
                        <a:latin typeface="SVN-Product Sans" panose="020B0403030502040203" pitchFamily="34" charset="0"/>
                        <a:ea typeface="+mn-ea"/>
                        <a:cs typeface="+mn-cs"/>
                        <a:sym typeface="Arial"/>
                      </a:endParaRPr>
                    </a:p>
                  </a:txBody>
                  <a:tcPr marL="7620" marR="7620" marT="7620" marB="0" anchor="ct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SVN-Product Sans" panose="020B0403030502040203" pitchFamily="34" charset="0"/>
                          <a:ea typeface="+mn-ea"/>
                          <a:cs typeface="+mn-cs"/>
                          <a:sym typeface="Arial"/>
                        </a:rPr>
                        <a:t>Facebook</a:t>
                      </a:r>
                      <a:endPar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ea typeface="+mn-ea"/>
                        <a:cs typeface="+mn-cs"/>
                        <a:sym typeface="Arial"/>
                      </a:endParaRPr>
                    </a:p>
                  </a:txBody>
                  <a:tcPr marL="9525" marR="9525" marT="9525" marB="0" anchor="ctr"/>
                </a:tc>
                <a:tc>
                  <a:txBody>
                    <a:bodyPr/>
                    <a:lstStyle/>
                    <a:p>
                      <a:pPr marR="0" algn="ctr" rtl="0" fontAlgn="ctr">
                        <a:lnSpc>
                          <a:spcPct val="100000"/>
                        </a:lnSpc>
                        <a:spcBef>
                          <a:spcPts val="0"/>
                        </a:spcBef>
                        <a:spcAft>
                          <a:spcPts val="0"/>
                        </a:spcAft>
                        <a:buClr>
                          <a:srgbClr val="000000"/>
                        </a:buClr>
                        <a:buFont typeface="Arial"/>
                      </a:pPr>
                      <a:r>
                        <a:rPr lang="en-US" sz="1100" b="0" i="0" u="sng" strike="noStrike" cap="none" dirty="0" err="1">
                          <a:solidFill>
                            <a:srgbClr val="0000FF"/>
                          </a:solidFill>
                          <a:effectLst/>
                          <a:latin typeface="SVN-Product Sans" panose="020B0403030502040203" pitchFamily="34" charset="0"/>
                          <a:ea typeface="+mn-ea"/>
                          <a:cs typeface="+mn-cs"/>
                          <a:sym typeface="Arial"/>
                          <a:hlinkClick r:id="rId8"/>
                        </a:rPr>
                        <a:t>Thời</a:t>
                      </a:r>
                      <a:r>
                        <a:rPr lang="en-US" sz="1100" b="0" i="0" u="sng" strike="noStrike" cap="none" dirty="0">
                          <a:solidFill>
                            <a:srgbClr val="0000FF"/>
                          </a:solidFill>
                          <a:effectLst/>
                          <a:latin typeface="SVN-Product Sans" panose="020B0403030502040203" pitchFamily="34" charset="0"/>
                          <a:ea typeface="+mn-ea"/>
                          <a:cs typeface="+mn-cs"/>
                          <a:sym typeface="Arial"/>
                          <a:hlinkClick r:id="rId8"/>
                        </a:rPr>
                        <a:t> </a:t>
                      </a:r>
                      <a:r>
                        <a:rPr lang="en-US" sz="1100" b="0" i="0" u="sng" strike="noStrike" cap="none" dirty="0" err="1">
                          <a:solidFill>
                            <a:srgbClr val="0000FF"/>
                          </a:solidFill>
                          <a:effectLst/>
                          <a:latin typeface="SVN-Product Sans" panose="020B0403030502040203" pitchFamily="34" charset="0"/>
                          <a:ea typeface="+mn-ea"/>
                          <a:cs typeface="+mn-cs"/>
                          <a:sym typeface="Arial"/>
                          <a:hlinkClick r:id="rId8"/>
                        </a:rPr>
                        <a:t>báo</a:t>
                      </a:r>
                      <a:r>
                        <a:rPr lang="en-US" sz="1100" b="0" i="0" u="sng" strike="noStrike" cap="none" dirty="0">
                          <a:solidFill>
                            <a:srgbClr val="0000FF"/>
                          </a:solidFill>
                          <a:effectLst/>
                          <a:latin typeface="SVN-Product Sans" panose="020B0403030502040203" pitchFamily="34" charset="0"/>
                          <a:ea typeface="+mn-ea"/>
                          <a:cs typeface="+mn-cs"/>
                          <a:sym typeface="Arial"/>
                          <a:hlinkClick r:id="rId8"/>
                        </a:rPr>
                        <a:t> </a:t>
                      </a:r>
                      <a:r>
                        <a:rPr lang="en-US" sz="1100" b="0" i="0" u="sng" strike="noStrike" cap="none" dirty="0" err="1">
                          <a:solidFill>
                            <a:srgbClr val="0000FF"/>
                          </a:solidFill>
                          <a:effectLst/>
                          <a:latin typeface="SVN-Product Sans" panose="020B0403030502040203" pitchFamily="34" charset="0"/>
                          <a:ea typeface="+mn-ea"/>
                          <a:cs typeface="+mn-cs"/>
                          <a:sym typeface="Arial"/>
                          <a:hlinkClick r:id="rId8"/>
                        </a:rPr>
                        <a:t>Ngân</a:t>
                      </a:r>
                      <a:r>
                        <a:rPr lang="en-US" sz="1100" b="0" i="0" u="sng" strike="noStrike" cap="none" dirty="0">
                          <a:solidFill>
                            <a:srgbClr val="0000FF"/>
                          </a:solidFill>
                          <a:effectLst/>
                          <a:latin typeface="SVN-Product Sans" panose="020B0403030502040203" pitchFamily="34" charset="0"/>
                          <a:ea typeface="+mn-ea"/>
                          <a:cs typeface="+mn-cs"/>
                          <a:sym typeface="Arial"/>
                          <a:hlinkClick r:id="rId8"/>
                        </a:rPr>
                        <a:t> </a:t>
                      </a:r>
                      <a:r>
                        <a:rPr lang="en-US" sz="1100" b="0" i="0" u="sng" strike="noStrike" cap="none" dirty="0" err="1">
                          <a:solidFill>
                            <a:srgbClr val="0000FF"/>
                          </a:solidFill>
                          <a:effectLst/>
                          <a:latin typeface="SVN-Product Sans" panose="020B0403030502040203" pitchFamily="34" charset="0"/>
                          <a:ea typeface="+mn-ea"/>
                          <a:cs typeface="+mn-cs"/>
                          <a:sym typeface="Arial"/>
                          <a:hlinkClick r:id="rId8"/>
                        </a:rPr>
                        <a:t>hàng</a:t>
                      </a:r>
                      <a:endParaRPr lang="en-US" sz="1100" b="0" i="0" u="sng" strike="noStrike" cap="none" dirty="0">
                        <a:solidFill>
                          <a:srgbClr val="0000FF"/>
                        </a:solidFill>
                        <a:effectLst/>
                        <a:latin typeface="SVN-Product Sans" panose="020B0403030502040203" pitchFamily="34" charset="0"/>
                        <a:ea typeface="+mn-ea"/>
                        <a:cs typeface="+mn-cs"/>
                        <a:sym typeface="Arial"/>
                      </a:endParaRPr>
                    </a:p>
                  </a:txBody>
                  <a:tcPr marL="9525" marR="9525" marT="9525" marB="0" anchor="ctr"/>
                </a:tc>
                <a:tc>
                  <a:txBody>
                    <a:bodyPr/>
                    <a:lstStyle/>
                    <a:p>
                      <a:pPr marR="0" algn="ctr" rtl="0" fontAlgn="b">
                        <a:lnSpc>
                          <a:spcPct val="100000"/>
                        </a:lnSpc>
                        <a:spcBef>
                          <a:spcPts val="0"/>
                        </a:spcBef>
                        <a:spcAft>
                          <a:spcPts val="0"/>
                        </a:spcAft>
                        <a:buClr>
                          <a:srgbClr val="000000"/>
                        </a:buClr>
                        <a:buFont typeface="Arial"/>
                      </a:pPr>
                      <a:r>
                        <a:rPr lang="en-VN" sz="1100" b="0" i="0" u="none" strike="noStrike" cap="none">
                          <a:solidFill>
                            <a:srgbClr val="000000"/>
                          </a:solidFill>
                          <a:effectLst/>
                          <a:latin typeface="SVN-Product Sans" panose="020B0403030502040203" pitchFamily="34" charset="0"/>
                          <a:ea typeface="+mn-ea"/>
                          <a:cs typeface="+mn-cs"/>
                          <a:sym typeface="Arial"/>
                        </a:rPr>
                        <a:t>226</a:t>
                      </a:r>
                    </a:p>
                  </a:txBody>
                  <a:tcPr marL="9525" marR="9525" marT="9525" marB="0" anchor="ctr"/>
                </a:tc>
                <a:extLst>
                  <a:ext uri="{0D108BD9-81ED-4DB2-BD59-A6C34878D82A}">
                    <a16:rowId xmlns:a16="http://schemas.microsoft.com/office/drawing/2014/main" val="1801580665"/>
                  </a:ext>
                </a:extLst>
              </a:tr>
              <a:tr h="647672">
                <a:tc>
                  <a:txBody>
                    <a:bodyPr/>
                    <a:lstStyle/>
                    <a:p>
                      <a:pPr algn="ctr"/>
                      <a:r>
                        <a:rPr lang="en-US" sz="1100" b="0" i="0" u="none" strike="noStrike" kern="1200" cap="none" dirty="0">
                          <a:solidFill>
                            <a:schemeClr val="tx1">
                              <a:lumMod val="95000"/>
                              <a:lumOff val="5000"/>
                            </a:schemeClr>
                          </a:solidFill>
                          <a:latin typeface="SVN-Product Sans" panose="020B0403030502040203" pitchFamily="34" charset="0"/>
                          <a:ea typeface="+mn-ea"/>
                          <a:cs typeface="Arial" panose="020B0604020202020204" pitchFamily="34" charset="0"/>
                          <a:sym typeface="Josefin Sans Medium"/>
                        </a:rPr>
                        <a:t>9</a:t>
                      </a:r>
                    </a:p>
                  </a:txBody>
                  <a:tcPr anchor="ct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SVN-Product Sans" panose="020B0403030502040203" pitchFamily="34" charset="0"/>
                          <a:ea typeface="+mn-ea"/>
                          <a:cs typeface="+mn-cs"/>
                          <a:sym typeface="Arial"/>
                        </a:rPr>
                        <a:t>VPBank</a:t>
                      </a:r>
                      <a:endParaRPr kumimoji="0" lang="vi-VN" sz="1100" b="0" i="0" u="none" strike="noStrike" kern="0" cap="none" spc="0" normalizeH="0" baseline="0" noProof="0" dirty="0">
                        <a:ln>
                          <a:noFill/>
                        </a:ln>
                        <a:solidFill>
                          <a:srgbClr val="000000"/>
                        </a:solidFill>
                        <a:effectLst/>
                        <a:uLnTx/>
                        <a:uFillTx/>
                        <a:latin typeface="SVN-Product Sans" panose="020B0403030502040203" pitchFamily="34" charset="0"/>
                        <a:ea typeface="+mn-ea"/>
                        <a:cs typeface="+mn-cs"/>
                        <a:sym typeface="Arial"/>
                      </a:endParaRPr>
                    </a:p>
                  </a:txBody>
                  <a:tcPr marL="7620" marR="7620" marT="7620" marB="0" anchor="ctr"/>
                </a:tc>
                <a:tc>
                  <a:txBody>
                    <a:bodyPr/>
                    <a:lstStyle/>
                    <a:p>
                      <a:pPr marR="0" algn="l" rtl="0" fontAlgn="ctr">
                        <a:lnSpc>
                          <a:spcPct val="100000"/>
                        </a:lnSpc>
                        <a:spcBef>
                          <a:spcPts val="0"/>
                        </a:spcBef>
                        <a:spcAft>
                          <a:spcPts val="0"/>
                        </a:spcAft>
                        <a:buClr>
                          <a:srgbClr val="000000"/>
                        </a:buClr>
                        <a:buFont typeface="Arial"/>
                      </a:pPr>
                      <a:r>
                        <a:rPr lang="vi-VN" sz="1100" b="0" i="0" u="none" strike="noStrike" cap="none" dirty="0">
                          <a:solidFill>
                            <a:srgbClr val="000000"/>
                          </a:solidFill>
                          <a:effectLst/>
                          <a:latin typeface="SVN-Product Sans" panose="020B0403030502040203" pitchFamily="34" charset="0"/>
                          <a:ea typeface="+mn-ea"/>
                          <a:cs typeface="+mn-cs"/>
                          <a:sym typeface="Arial"/>
                        </a:rPr>
                        <a:t>Mong muốn trong nghề ở sự kiện cùng Tiktok, Cục thuế, và Cục Thương mại điện tử &amp; Kinh tế số và ngân hàng BIDV.</a:t>
                      </a:r>
                    </a:p>
                  </a:txBody>
                  <a:tcPr marL="7620" marR="7620" marT="7620" marB="0" anchor="ct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SVN-Product Sans" panose="020B0403030502040203" pitchFamily="34" charset="0"/>
                          <a:ea typeface="+mn-ea"/>
                          <a:cs typeface="+mn-cs"/>
                          <a:sym typeface="Arial"/>
                        </a:rPr>
                        <a:t>Facebook</a:t>
                      </a:r>
                      <a:endPar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ea typeface="+mn-ea"/>
                        <a:cs typeface="+mn-cs"/>
                        <a:sym typeface="Arial"/>
                      </a:endParaRPr>
                    </a:p>
                  </a:txBody>
                  <a:tcPr marL="9525" marR="9525" marT="9525" marB="0" anchor="ctr"/>
                </a:tc>
                <a:tc>
                  <a:txBody>
                    <a:bodyPr/>
                    <a:lstStyle/>
                    <a:p>
                      <a:pPr marR="0" algn="ctr" rtl="0" fontAlgn="ctr">
                        <a:lnSpc>
                          <a:spcPct val="100000"/>
                        </a:lnSpc>
                        <a:spcBef>
                          <a:spcPts val="0"/>
                        </a:spcBef>
                        <a:spcAft>
                          <a:spcPts val="0"/>
                        </a:spcAft>
                        <a:buClr>
                          <a:srgbClr val="000000"/>
                        </a:buClr>
                        <a:buFont typeface="Arial"/>
                      </a:pPr>
                      <a:r>
                        <a:rPr lang="en-US" sz="1100" b="0" i="0" u="sng" strike="noStrike" cap="none" dirty="0" err="1">
                          <a:solidFill>
                            <a:srgbClr val="0000FF"/>
                          </a:solidFill>
                          <a:effectLst/>
                          <a:latin typeface="SVN-Product Sans" panose="020B0403030502040203" pitchFamily="34" charset="0"/>
                          <a:ea typeface="+mn-ea"/>
                          <a:cs typeface="+mn-cs"/>
                          <a:sym typeface="Arial"/>
                          <a:hlinkClick r:id="rId9"/>
                        </a:rPr>
                        <a:t>PewPew</a:t>
                      </a:r>
                      <a:endParaRPr lang="en-US" sz="1100" b="0" i="0" u="sng" strike="noStrike" cap="none" dirty="0">
                        <a:solidFill>
                          <a:srgbClr val="0000FF"/>
                        </a:solidFill>
                        <a:effectLst/>
                        <a:latin typeface="SVN-Product Sans" panose="020B0403030502040203" pitchFamily="34" charset="0"/>
                        <a:ea typeface="+mn-ea"/>
                        <a:cs typeface="+mn-cs"/>
                        <a:sym typeface="Arial"/>
                      </a:endParaRPr>
                    </a:p>
                  </a:txBody>
                  <a:tcPr marL="9525" marR="9525" marT="9525" marB="0" anchor="ctr"/>
                </a:tc>
                <a:tc>
                  <a:txBody>
                    <a:bodyPr/>
                    <a:lstStyle/>
                    <a:p>
                      <a:pPr marR="0" algn="ctr" rtl="0" fontAlgn="b">
                        <a:lnSpc>
                          <a:spcPct val="100000"/>
                        </a:lnSpc>
                        <a:spcBef>
                          <a:spcPts val="0"/>
                        </a:spcBef>
                        <a:spcAft>
                          <a:spcPts val="0"/>
                        </a:spcAft>
                        <a:buClr>
                          <a:srgbClr val="000000"/>
                        </a:buClr>
                        <a:buFont typeface="Arial"/>
                      </a:pPr>
                      <a:r>
                        <a:rPr lang="en-VN" sz="1100" b="0" i="0" u="none" strike="noStrike" cap="none" dirty="0">
                          <a:solidFill>
                            <a:srgbClr val="000000"/>
                          </a:solidFill>
                          <a:effectLst/>
                          <a:latin typeface="SVN-Product Sans" panose="020B0403030502040203" pitchFamily="34" charset="0"/>
                          <a:ea typeface="+mn-ea"/>
                          <a:cs typeface="+mn-cs"/>
                          <a:sym typeface="Arial"/>
                        </a:rPr>
                        <a:t>211</a:t>
                      </a:r>
                    </a:p>
                  </a:txBody>
                  <a:tcPr marL="9525" marR="9525" marT="9525" marB="0" anchor="ctr"/>
                </a:tc>
                <a:extLst>
                  <a:ext uri="{0D108BD9-81ED-4DB2-BD59-A6C34878D82A}">
                    <a16:rowId xmlns:a16="http://schemas.microsoft.com/office/drawing/2014/main" val="1167825626"/>
                  </a:ext>
                </a:extLst>
              </a:tr>
              <a:tr h="373232">
                <a:tc>
                  <a:txBody>
                    <a:bodyPr/>
                    <a:lstStyle/>
                    <a:p>
                      <a:pPr algn="ctr"/>
                      <a:r>
                        <a:rPr lang="en-US" sz="1100" b="0" i="0" u="none" strike="noStrike" kern="1200" cap="none" dirty="0">
                          <a:solidFill>
                            <a:schemeClr val="tx1">
                              <a:lumMod val="95000"/>
                              <a:lumOff val="5000"/>
                            </a:schemeClr>
                          </a:solidFill>
                          <a:latin typeface="SVN-Product Sans" panose="020B0403030502040203" pitchFamily="34" charset="0"/>
                          <a:ea typeface="+mn-ea"/>
                          <a:cs typeface="Arial" panose="020B0604020202020204" pitchFamily="34" charset="0"/>
                          <a:sym typeface="Josefin Sans Medium"/>
                        </a:rPr>
                        <a:t>10</a:t>
                      </a:r>
                    </a:p>
                  </a:txBody>
                  <a:tcPr anchor="ct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SVN-Product Sans" panose="020B0403030502040203" pitchFamily="34" charset="0"/>
                          <a:ea typeface="+mn-ea"/>
                          <a:cs typeface="+mn-cs"/>
                          <a:sym typeface="Arial"/>
                        </a:rPr>
                        <a:t>VPBank</a:t>
                      </a:r>
                      <a:endParaRPr kumimoji="0" lang="vi-VN" sz="1100" b="0" i="0" u="none" strike="noStrike" kern="0" cap="none" spc="0" normalizeH="0" baseline="0" noProof="0" dirty="0">
                        <a:ln>
                          <a:noFill/>
                        </a:ln>
                        <a:solidFill>
                          <a:srgbClr val="000000"/>
                        </a:solidFill>
                        <a:effectLst/>
                        <a:uLnTx/>
                        <a:uFillTx/>
                        <a:latin typeface="SVN-Product Sans" panose="020B0403030502040203" pitchFamily="34" charset="0"/>
                        <a:ea typeface="+mn-ea"/>
                        <a:cs typeface="+mn-cs"/>
                        <a:sym typeface="Arial"/>
                      </a:endParaRPr>
                    </a:p>
                  </a:txBody>
                  <a:tcPr marL="7620" marR="7620" marT="7620" marB="0" anchor="ctr"/>
                </a:tc>
                <a:tc>
                  <a:txBody>
                    <a:bodyPr/>
                    <a:lstStyle/>
                    <a:p>
                      <a:pPr marR="0" algn="l" rtl="0" fontAlgn="ctr">
                        <a:lnSpc>
                          <a:spcPct val="100000"/>
                        </a:lnSpc>
                        <a:spcBef>
                          <a:spcPts val="0"/>
                        </a:spcBef>
                        <a:spcAft>
                          <a:spcPts val="0"/>
                        </a:spcAft>
                        <a:buClr>
                          <a:srgbClr val="000000"/>
                        </a:buClr>
                        <a:buFont typeface="Arial"/>
                      </a:pPr>
                      <a:r>
                        <a:rPr lang="en-US" sz="1100" b="0" i="0" u="none" strike="noStrike" cap="none" dirty="0">
                          <a:solidFill>
                            <a:srgbClr val="000000"/>
                          </a:solidFill>
                          <a:effectLst/>
                          <a:latin typeface="SVN-Product Sans" panose="020B0403030502040203" pitchFamily="34" charset="0"/>
                          <a:ea typeface="+mn-ea"/>
                          <a:cs typeface="+mn-cs"/>
                          <a:sym typeface="Arial"/>
                        </a:rPr>
                        <a:t>Sau </a:t>
                      </a:r>
                      <a:r>
                        <a:rPr lang="en-US" sz="1100" b="0" i="0" u="none" strike="noStrike" cap="none" dirty="0" err="1">
                          <a:solidFill>
                            <a:srgbClr val="000000"/>
                          </a:solidFill>
                          <a:effectLst/>
                          <a:latin typeface="SVN-Product Sans" panose="020B0403030502040203" pitchFamily="34" charset="0"/>
                          <a:ea typeface="+mn-ea"/>
                          <a:cs typeface="+mn-cs"/>
                          <a:sym typeface="Arial"/>
                        </a:rPr>
                        <a:t>sự</a:t>
                      </a:r>
                      <a:r>
                        <a:rPr lang="en-US" sz="1100" b="0" i="0" u="none" strike="noStrike" cap="none" dirty="0">
                          <a:solidFill>
                            <a:srgbClr val="000000"/>
                          </a:solidFill>
                          <a:effectLst/>
                          <a:latin typeface="SVN-Product Sans" panose="020B0403030502040203" pitchFamily="34" charset="0"/>
                          <a:ea typeface="+mn-ea"/>
                          <a:cs typeface="+mn-cs"/>
                          <a:sym typeface="Arial"/>
                        </a:rPr>
                        <a:t> </a:t>
                      </a:r>
                      <a:r>
                        <a:rPr lang="en-US" sz="1100" b="0" i="0" u="none" strike="noStrike" cap="none" dirty="0" err="1">
                          <a:solidFill>
                            <a:srgbClr val="000000"/>
                          </a:solidFill>
                          <a:effectLst/>
                          <a:latin typeface="SVN-Product Sans" panose="020B0403030502040203" pitchFamily="34" charset="0"/>
                          <a:ea typeface="+mn-ea"/>
                          <a:cs typeface="+mn-cs"/>
                          <a:sym typeface="Arial"/>
                        </a:rPr>
                        <a:t>cố</a:t>
                      </a:r>
                      <a:r>
                        <a:rPr lang="en-US" sz="1100" b="0" i="0" u="none" strike="noStrike" cap="none" dirty="0">
                          <a:solidFill>
                            <a:srgbClr val="000000"/>
                          </a:solidFill>
                          <a:effectLst/>
                          <a:latin typeface="SVN-Product Sans" panose="020B0403030502040203" pitchFamily="34" charset="0"/>
                          <a:ea typeface="+mn-ea"/>
                          <a:cs typeface="+mn-cs"/>
                          <a:sym typeface="Arial"/>
                        </a:rPr>
                        <a:t> an </a:t>
                      </a:r>
                      <a:r>
                        <a:rPr lang="en-US" sz="1100" b="0" i="0" u="none" strike="noStrike" cap="none" dirty="0" err="1">
                          <a:solidFill>
                            <a:srgbClr val="000000"/>
                          </a:solidFill>
                          <a:effectLst/>
                          <a:latin typeface="SVN-Product Sans" panose="020B0403030502040203" pitchFamily="34" charset="0"/>
                          <a:ea typeface="+mn-ea"/>
                          <a:cs typeface="+mn-cs"/>
                          <a:sym typeface="Arial"/>
                        </a:rPr>
                        <a:t>ninh</a:t>
                      </a:r>
                      <a:r>
                        <a:rPr lang="en-US" sz="1100" b="0" i="0" u="none" strike="noStrike" cap="none" dirty="0">
                          <a:solidFill>
                            <a:srgbClr val="000000"/>
                          </a:solidFill>
                          <a:effectLst/>
                          <a:latin typeface="SVN-Product Sans" panose="020B0403030502040203" pitchFamily="34" charset="0"/>
                          <a:ea typeface="+mn-ea"/>
                          <a:cs typeface="+mn-cs"/>
                          <a:sym typeface="Arial"/>
                        </a:rPr>
                        <a:t> </a:t>
                      </a:r>
                      <a:r>
                        <a:rPr lang="en-US" sz="1100" b="0" i="0" u="none" strike="noStrike" cap="none" dirty="0" err="1">
                          <a:solidFill>
                            <a:srgbClr val="000000"/>
                          </a:solidFill>
                          <a:effectLst/>
                          <a:latin typeface="SVN-Product Sans" panose="020B0403030502040203" pitchFamily="34" charset="0"/>
                          <a:ea typeface="+mn-ea"/>
                          <a:cs typeface="+mn-cs"/>
                          <a:sym typeface="Arial"/>
                        </a:rPr>
                        <a:t>mạng</a:t>
                      </a:r>
                      <a:r>
                        <a:rPr lang="en-US" sz="1100" b="0" i="0" u="none" strike="noStrike" cap="none" dirty="0">
                          <a:solidFill>
                            <a:srgbClr val="000000"/>
                          </a:solidFill>
                          <a:effectLst/>
                          <a:latin typeface="SVN-Product Sans" panose="020B0403030502040203" pitchFamily="34" charset="0"/>
                          <a:ea typeface="+mn-ea"/>
                          <a:cs typeface="+mn-cs"/>
                          <a:sym typeface="Arial"/>
                        </a:rPr>
                        <a:t> </a:t>
                      </a:r>
                      <a:r>
                        <a:rPr lang="en-US" sz="1100" b="0" i="0" u="none" strike="noStrike" cap="none" dirty="0" err="1">
                          <a:solidFill>
                            <a:srgbClr val="000000"/>
                          </a:solidFill>
                          <a:effectLst/>
                          <a:latin typeface="SVN-Product Sans" panose="020B0403030502040203" pitchFamily="34" charset="0"/>
                          <a:ea typeface="+mn-ea"/>
                          <a:cs typeface="+mn-cs"/>
                          <a:sym typeface="Arial"/>
                        </a:rPr>
                        <a:t>tại</a:t>
                      </a:r>
                      <a:r>
                        <a:rPr lang="en-US" sz="1100" b="0" i="0" u="none" strike="noStrike" cap="none" dirty="0">
                          <a:solidFill>
                            <a:srgbClr val="000000"/>
                          </a:solidFill>
                          <a:effectLst/>
                          <a:latin typeface="SVN-Product Sans" panose="020B0403030502040203" pitchFamily="34" charset="0"/>
                          <a:ea typeface="+mn-ea"/>
                          <a:cs typeface="+mn-cs"/>
                          <a:sym typeface="Arial"/>
                        </a:rPr>
                        <a:t> </a:t>
                      </a:r>
                      <a:r>
                        <a:rPr lang="en-US" sz="1100" b="0" i="0" u="none" strike="noStrike" cap="none" dirty="0" err="1">
                          <a:solidFill>
                            <a:srgbClr val="000000"/>
                          </a:solidFill>
                          <a:effectLst/>
                          <a:latin typeface="SVN-Product Sans" panose="020B0403030502040203" pitchFamily="34" charset="0"/>
                          <a:ea typeface="+mn-ea"/>
                          <a:cs typeface="+mn-cs"/>
                          <a:sym typeface="Arial"/>
                        </a:rPr>
                        <a:t>Trung</a:t>
                      </a:r>
                      <a:r>
                        <a:rPr lang="en-US" sz="1100" b="0" i="0" u="none" strike="noStrike" cap="none" dirty="0">
                          <a:solidFill>
                            <a:srgbClr val="000000"/>
                          </a:solidFill>
                          <a:effectLst/>
                          <a:latin typeface="SVN-Product Sans" panose="020B0403030502040203" pitchFamily="34" charset="0"/>
                          <a:ea typeface="+mn-ea"/>
                          <a:cs typeface="+mn-cs"/>
                          <a:sym typeface="Arial"/>
                        </a:rPr>
                        <a:t> </a:t>
                      </a:r>
                      <a:r>
                        <a:rPr lang="en-US" sz="1100" b="0" i="0" u="none" strike="noStrike" cap="none" dirty="0" err="1">
                          <a:solidFill>
                            <a:srgbClr val="000000"/>
                          </a:solidFill>
                          <a:effectLst/>
                          <a:latin typeface="SVN-Product Sans" panose="020B0403030502040203" pitchFamily="34" charset="0"/>
                          <a:ea typeface="+mn-ea"/>
                          <a:cs typeface="+mn-cs"/>
                          <a:sym typeface="Arial"/>
                        </a:rPr>
                        <a:t>tâm</a:t>
                      </a:r>
                      <a:r>
                        <a:rPr lang="en-US" sz="1100" b="0" i="0" u="none" strike="noStrike" cap="none" dirty="0">
                          <a:solidFill>
                            <a:srgbClr val="000000"/>
                          </a:solidFill>
                          <a:effectLst/>
                          <a:latin typeface="SVN-Product Sans" panose="020B0403030502040203" pitchFamily="34" charset="0"/>
                          <a:ea typeface="+mn-ea"/>
                          <a:cs typeface="+mn-cs"/>
                          <a:sym typeface="Arial"/>
                        </a:rPr>
                        <a:t> </a:t>
                      </a:r>
                      <a:r>
                        <a:rPr lang="en-US" sz="1100" b="0" i="0" u="none" strike="noStrike" cap="none" dirty="0" err="1">
                          <a:solidFill>
                            <a:srgbClr val="000000"/>
                          </a:solidFill>
                          <a:effectLst/>
                          <a:latin typeface="SVN-Product Sans" panose="020B0403030502040203" pitchFamily="34" charset="0"/>
                          <a:ea typeface="+mn-ea"/>
                          <a:cs typeface="+mn-cs"/>
                          <a:sym typeface="Arial"/>
                        </a:rPr>
                        <a:t>Thông</a:t>
                      </a:r>
                      <a:r>
                        <a:rPr lang="en-US" sz="1100" b="0" i="0" u="none" strike="noStrike" cap="none" dirty="0">
                          <a:solidFill>
                            <a:srgbClr val="000000"/>
                          </a:solidFill>
                          <a:effectLst/>
                          <a:latin typeface="SVN-Product Sans" panose="020B0403030502040203" pitchFamily="34" charset="0"/>
                          <a:ea typeface="+mn-ea"/>
                          <a:cs typeface="+mn-cs"/>
                          <a:sym typeface="Arial"/>
                        </a:rPr>
                        <a:t> tin </a:t>
                      </a:r>
                      <a:r>
                        <a:rPr lang="en-US" sz="1100" b="0" i="0" u="none" strike="noStrike" cap="none" dirty="0" err="1">
                          <a:solidFill>
                            <a:srgbClr val="000000"/>
                          </a:solidFill>
                          <a:effectLst/>
                          <a:latin typeface="SVN-Product Sans" panose="020B0403030502040203" pitchFamily="34" charset="0"/>
                          <a:ea typeface="+mn-ea"/>
                          <a:cs typeface="+mn-cs"/>
                          <a:sym typeface="Arial"/>
                        </a:rPr>
                        <a:t>tín</a:t>
                      </a:r>
                      <a:r>
                        <a:rPr lang="en-US" sz="1100" b="0" i="0" u="none" strike="noStrike" cap="none" dirty="0">
                          <a:solidFill>
                            <a:srgbClr val="000000"/>
                          </a:solidFill>
                          <a:effectLst/>
                          <a:latin typeface="SVN-Product Sans" panose="020B0403030502040203" pitchFamily="34" charset="0"/>
                          <a:ea typeface="+mn-ea"/>
                          <a:cs typeface="+mn-cs"/>
                          <a:sym typeface="Arial"/>
                        </a:rPr>
                        <a:t> </a:t>
                      </a:r>
                      <a:r>
                        <a:rPr lang="en-US" sz="1100" b="0" i="0" u="none" strike="noStrike" cap="none" dirty="0" err="1">
                          <a:solidFill>
                            <a:srgbClr val="000000"/>
                          </a:solidFill>
                          <a:effectLst/>
                          <a:latin typeface="SVN-Product Sans" panose="020B0403030502040203" pitchFamily="34" charset="0"/>
                          <a:ea typeface="+mn-ea"/>
                          <a:cs typeface="+mn-cs"/>
                          <a:sym typeface="Arial"/>
                        </a:rPr>
                        <a:t>dụng</a:t>
                      </a:r>
                      <a:r>
                        <a:rPr lang="en-US" sz="1100" b="0" i="0" u="none" strike="noStrike" cap="none" dirty="0">
                          <a:solidFill>
                            <a:srgbClr val="000000"/>
                          </a:solidFill>
                          <a:effectLst/>
                          <a:latin typeface="SVN-Product Sans" panose="020B0403030502040203" pitchFamily="34" charset="0"/>
                          <a:ea typeface="+mn-ea"/>
                          <a:cs typeface="+mn-cs"/>
                          <a:sym typeface="Arial"/>
                        </a:rPr>
                        <a:t> </a:t>
                      </a:r>
                      <a:r>
                        <a:rPr lang="en-US" sz="1100" b="0" i="0" u="none" strike="noStrike" cap="none" dirty="0" err="1">
                          <a:solidFill>
                            <a:srgbClr val="000000"/>
                          </a:solidFill>
                          <a:effectLst/>
                          <a:latin typeface="SVN-Product Sans" panose="020B0403030502040203" pitchFamily="34" charset="0"/>
                          <a:ea typeface="+mn-ea"/>
                          <a:cs typeface="+mn-cs"/>
                          <a:sym typeface="Arial"/>
                        </a:rPr>
                        <a:t>Quốc</a:t>
                      </a:r>
                      <a:r>
                        <a:rPr lang="en-US" sz="1100" b="0" i="0" u="none" strike="noStrike" cap="none" dirty="0">
                          <a:solidFill>
                            <a:srgbClr val="000000"/>
                          </a:solidFill>
                          <a:effectLst/>
                          <a:latin typeface="SVN-Product Sans" panose="020B0403030502040203" pitchFamily="34" charset="0"/>
                          <a:ea typeface="+mn-ea"/>
                          <a:cs typeface="+mn-cs"/>
                          <a:sym typeface="Arial"/>
                        </a:rPr>
                        <a:t> </a:t>
                      </a:r>
                      <a:r>
                        <a:rPr lang="en-US" sz="1100" b="0" i="0" u="none" strike="noStrike" cap="none" dirty="0" err="1">
                          <a:solidFill>
                            <a:srgbClr val="000000"/>
                          </a:solidFill>
                          <a:effectLst/>
                          <a:latin typeface="SVN-Product Sans" panose="020B0403030502040203" pitchFamily="34" charset="0"/>
                          <a:ea typeface="+mn-ea"/>
                          <a:cs typeface="+mn-cs"/>
                          <a:sym typeface="Arial"/>
                        </a:rPr>
                        <a:t>gia</a:t>
                      </a:r>
                      <a:r>
                        <a:rPr lang="en-US" sz="1100" b="0" i="0" u="none" strike="noStrike" cap="none" dirty="0">
                          <a:solidFill>
                            <a:srgbClr val="000000"/>
                          </a:solidFill>
                          <a:effectLst/>
                          <a:latin typeface="SVN-Product Sans" panose="020B0403030502040203" pitchFamily="34" charset="0"/>
                          <a:ea typeface="+mn-ea"/>
                          <a:cs typeface="+mn-cs"/>
                          <a:sym typeface="Arial"/>
                        </a:rPr>
                        <a:t> CIC, 4 </a:t>
                      </a:r>
                      <a:r>
                        <a:rPr lang="en-US" sz="1100" b="0" i="0" u="none" strike="noStrike" cap="none" dirty="0" err="1">
                          <a:solidFill>
                            <a:srgbClr val="000000"/>
                          </a:solidFill>
                          <a:effectLst/>
                          <a:latin typeface="SVN-Product Sans" panose="020B0403030502040203" pitchFamily="34" charset="0"/>
                          <a:ea typeface="+mn-ea"/>
                          <a:cs typeface="+mn-cs"/>
                          <a:sym typeface="Arial"/>
                        </a:rPr>
                        <a:t>ngân</a:t>
                      </a:r>
                      <a:r>
                        <a:rPr lang="en-US" sz="1100" b="0" i="0" u="none" strike="noStrike" cap="none" dirty="0">
                          <a:solidFill>
                            <a:srgbClr val="000000"/>
                          </a:solidFill>
                          <a:effectLst/>
                          <a:latin typeface="SVN-Product Sans" panose="020B0403030502040203" pitchFamily="34" charset="0"/>
                          <a:ea typeface="+mn-ea"/>
                          <a:cs typeface="+mn-cs"/>
                          <a:sym typeface="Arial"/>
                        </a:rPr>
                        <a:t> </a:t>
                      </a:r>
                      <a:r>
                        <a:rPr lang="en-US" sz="1100" b="0" i="0" u="none" strike="noStrike" cap="none" dirty="0" err="1">
                          <a:solidFill>
                            <a:srgbClr val="000000"/>
                          </a:solidFill>
                          <a:effectLst/>
                          <a:latin typeface="SVN-Product Sans" panose="020B0403030502040203" pitchFamily="34" charset="0"/>
                          <a:ea typeface="+mn-ea"/>
                          <a:cs typeface="+mn-cs"/>
                          <a:sym typeface="Arial"/>
                        </a:rPr>
                        <a:t>hàng</a:t>
                      </a:r>
                      <a:r>
                        <a:rPr lang="en-US" sz="1100" b="0" i="0" u="none" strike="noStrike" cap="none" dirty="0">
                          <a:solidFill>
                            <a:srgbClr val="000000"/>
                          </a:solidFill>
                          <a:effectLst/>
                          <a:latin typeface="SVN-Product Sans" panose="020B0403030502040203" pitchFamily="34" charset="0"/>
                          <a:ea typeface="+mn-ea"/>
                          <a:cs typeface="+mn-cs"/>
                          <a:sym typeface="Arial"/>
                        </a:rPr>
                        <a:t> </a:t>
                      </a:r>
                      <a:r>
                        <a:rPr lang="en-US" sz="1100" b="0" i="0" u="none" strike="noStrike" cap="none" dirty="0" err="1">
                          <a:solidFill>
                            <a:srgbClr val="000000"/>
                          </a:solidFill>
                          <a:effectLst/>
                          <a:latin typeface="SVN-Product Sans" panose="020B0403030502040203" pitchFamily="34" charset="0"/>
                          <a:ea typeface="+mn-ea"/>
                          <a:cs typeface="+mn-cs"/>
                          <a:sym typeface="Arial"/>
                        </a:rPr>
                        <a:t>lớn</a:t>
                      </a:r>
                      <a:r>
                        <a:rPr lang="en-US" sz="1100" b="0" i="0" u="none" strike="noStrike" cap="none" dirty="0">
                          <a:solidFill>
                            <a:srgbClr val="000000"/>
                          </a:solidFill>
                          <a:effectLst/>
                          <a:latin typeface="SVN-Product Sans" panose="020B0403030502040203" pitchFamily="34" charset="0"/>
                          <a:ea typeface="+mn-ea"/>
                          <a:cs typeface="+mn-cs"/>
                          <a:sym typeface="Arial"/>
                        </a:rPr>
                        <a:t> </a:t>
                      </a:r>
                      <a:r>
                        <a:rPr lang="en-US" sz="1100" b="0" i="0" u="none" strike="noStrike" cap="none" dirty="0" err="1">
                          <a:solidFill>
                            <a:srgbClr val="000000"/>
                          </a:solidFill>
                          <a:effectLst/>
                          <a:latin typeface="SVN-Product Sans" panose="020B0403030502040203" pitchFamily="34" charset="0"/>
                          <a:ea typeface="+mn-ea"/>
                          <a:cs typeface="+mn-cs"/>
                          <a:sym typeface="Arial"/>
                        </a:rPr>
                        <a:t>gồm</a:t>
                      </a:r>
                      <a:r>
                        <a:rPr lang="en-US" sz="1100" b="0" i="0" u="none" strike="noStrike" cap="none" dirty="0">
                          <a:solidFill>
                            <a:srgbClr val="000000"/>
                          </a:solidFill>
                          <a:effectLst/>
                          <a:latin typeface="SVN-Product Sans" panose="020B0403030502040203" pitchFamily="34" charset="0"/>
                          <a:ea typeface="+mn-ea"/>
                          <a:cs typeface="+mn-cs"/>
                          <a:sym typeface="Arial"/>
                        </a:rPr>
                        <a:t> </a:t>
                      </a:r>
                      <a:r>
                        <a:rPr lang="en-US" sz="1100" b="0" i="0" u="none" strike="noStrike" cap="none" dirty="0" err="1">
                          <a:solidFill>
                            <a:srgbClr val="000000"/>
                          </a:solidFill>
                          <a:effectLst/>
                          <a:latin typeface="SVN-Product Sans" panose="020B0403030502040203" pitchFamily="34" charset="0"/>
                          <a:ea typeface="+mn-ea"/>
                          <a:cs typeface="+mn-cs"/>
                          <a:sym typeface="Arial"/>
                        </a:rPr>
                        <a:t>Vietcombank</a:t>
                      </a:r>
                      <a:r>
                        <a:rPr lang="en-US" sz="1100" b="0" i="0" u="none" strike="noStrike" cap="none" dirty="0">
                          <a:solidFill>
                            <a:srgbClr val="000000"/>
                          </a:solidFill>
                          <a:effectLst/>
                          <a:latin typeface="SVN-Product Sans" panose="020B0403030502040203" pitchFamily="34" charset="0"/>
                          <a:ea typeface="+mn-ea"/>
                          <a:cs typeface="+mn-cs"/>
                          <a:sym typeface="Arial"/>
                        </a:rPr>
                        <a:t>, </a:t>
                      </a:r>
                      <a:r>
                        <a:rPr lang="en-US" sz="1100" b="0" i="0" u="none" strike="noStrike" cap="none" dirty="0" err="1">
                          <a:solidFill>
                            <a:srgbClr val="000000"/>
                          </a:solidFill>
                          <a:effectLst/>
                          <a:latin typeface="SVN-Product Sans" panose="020B0403030502040203" pitchFamily="34" charset="0"/>
                          <a:ea typeface="+mn-ea"/>
                          <a:cs typeface="+mn-cs"/>
                          <a:sym typeface="Arial"/>
                        </a:rPr>
                        <a:t>VietinBank</a:t>
                      </a:r>
                      <a:r>
                        <a:rPr lang="en-US" sz="1100" b="0" i="0" u="none" strike="noStrike" cap="none" dirty="0">
                          <a:solidFill>
                            <a:srgbClr val="000000"/>
                          </a:solidFill>
                          <a:effectLst/>
                          <a:latin typeface="SVN-Product Sans" panose="020B0403030502040203" pitchFamily="34" charset="0"/>
                          <a:ea typeface="+mn-ea"/>
                          <a:cs typeface="+mn-cs"/>
                          <a:sym typeface="Arial"/>
                        </a:rPr>
                        <a:t>, </a:t>
                      </a:r>
                      <a:r>
                        <a:rPr lang="en-US" sz="1100" b="0" i="0" u="none" strike="noStrike" cap="none" dirty="0" err="1">
                          <a:solidFill>
                            <a:srgbClr val="000000"/>
                          </a:solidFill>
                          <a:effectLst/>
                          <a:latin typeface="SVN-Product Sans" panose="020B0403030502040203" pitchFamily="34" charset="0"/>
                          <a:ea typeface="+mn-ea"/>
                          <a:cs typeface="+mn-cs"/>
                          <a:sym typeface="Arial"/>
                        </a:rPr>
                        <a:t>Agribank</a:t>
                      </a:r>
                      <a:r>
                        <a:rPr lang="en-US" sz="1100" b="0" i="0" u="none" strike="noStrike" cap="none" dirty="0">
                          <a:solidFill>
                            <a:srgbClr val="000000"/>
                          </a:solidFill>
                          <a:effectLst/>
                          <a:latin typeface="SVN-Product Sans" panose="020B0403030502040203" pitchFamily="34" charset="0"/>
                          <a:ea typeface="+mn-ea"/>
                          <a:cs typeface="+mn-cs"/>
                          <a:sym typeface="Arial"/>
                        </a:rPr>
                        <a:t> </a:t>
                      </a:r>
                      <a:r>
                        <a:rPr lang="en-US" sz="1100" b="0" i="0" u="none" strike="noStrike" cap="none" dirty="0" err="1">
                          <a:solidFill>
                            <a:srgbClr val="000000"/>
                          </a:solidFill>
                          <a:effectLst/>
                          <a:latin typeface="SVN-Product Sans" panose="020B0403030502040203" pitchFamily="34" charset="0"/>
                          <a:ea typeface="+mn-ea"/>
                          <a:cs typeface="+mn-cs"/>
                          <a:sym typeface="Arial"/>
                        </a:rPr>
                        <a:t>và</a:t>
                      </a:r>
                      <a:r>
                        <a:rPr lang="en-US" sz="1100" b="0" i="0" u="none" strike="noStrike" cap="none" dirty="0">
                          <a:solidFill>
                            <a:srgbClr val="000000"/>
                          </a:solidFill>
                          <a:effectLst/>
                          <a:latin typeface="SVN-Product Sans" panose="020B0403030502040203" pitchFamily="34" charset="0"/>
                          <a:ea typeface="+mn-ea"/>
                          <a:cs typeface="+mn-cs"/>
                          <a:sym typeface="Arial"/>
                        </a:rPr>
                        <a:t> BIDV </a:t>
                      </a:r>
                      <a:r>
                        <a:rPr lang="en-US" sz="1100" b="0" i="0" u="none" strike="noStrike" cap="none" dirty="0" err="1">
                          <a:solidFill>
                            <a:srgbClr val="000000"/>
                          </a:solidFill>
                          <a:effectLst/>
                          <a:latin typeface="SVN-Product Sans" panose="020B0403030502040203" pitchFamily="34" charset="0"/>
                          <a:ea typeface="+mn-ea"/>
                          <a:cs typeface="+mn-cs"/>
                          <a:sym typeface="Arial"/>
                        </a:rPr>
                        <a:t>đã</a:t>
                      </a:r>
                      <a:r>
                        <a:rPr lang="en-US" sz="1100" b="0" i="0" u="none" strike="noStrike" cap="none" dirty="0">
                          <a:solidFill>
                            <a:srgbClr val="000000"/>
                          </a:solidFill>
                          <a:effectLst/>
                          <a:latin typeface="SVN-Product Sans" panose="020B0403030502040203" pitchFamily="34" charset="0"/>
                          <a:ea typeface="+mn-ea"/>
                          <a:cs typeface="+mn-cs"/>
                          <a:sym typeface="Arial"/>
                        </a:rPr>
                        <a:t> </a:t>
                      </a:r>
                      <a:r>
                        <a:rPr lang="en-US" sz="1100" b="0" i="0" u="none" strike="noStrike" cap="none" dirty="0" err="1">
                          <a:solidFill>
                            <a:srgbClr val="000000"/>
                          </a:solidFill>
                          <a:effectLst/>
                          <a:latin typeface="SVN-Product Sans" panose="020B0403030502040203" pitchFamily="34" charset="0"/>
                          <a:ea typeface="+mn-ea"/>
                          <a:cs typeface="+mn-cs"/>
                          <a:sym typeface="Arial"/>
                        </a:rPr>
                        <a:t>phát</a:t>
                      </a:r>
                      <a:r>
                        <a:rPr lang="en-US" sz="1100" b="0" i="0" u="none" strike="noStrike" cap="none" dirty="0">
                          <a:solidFill>
                            <a:srgbClr val="000000"/>
                          </a:solidFill>
                          <a:effectLst/>
                          <a:latin typeface="SVN-Product Sans" panose="020B0403030502040203" pitchFamily="34" charset="0"/>
                          <a:ea typeface="+mn-ea"/>
                          <a:cs typeface="+mn-cs"/>
                          <a:sym typeface="Arial"/>
                        </a:rPr>
                        <a:t> </a:t>
                      </a:r>
                      <a:r>
                        <a:rPr lang="en-US" sz="1100" b="0" i="0" u="none" strike="noStrike" cap="none" dirty="0" err="1">
                          <a:solidFill>
                            <a:srgbClr val="000000"/>
                          </a:solidFill>
                          <a:effectLst/>
                          <a:latin typeface="SVN-Product Sans" panose="020B0403030502040203" pitchFamily="34" charset="0"/>
                          <a:ea typeface="+mn-ea"/>
                          <a:cs typeface="+mn-cs"/>
                          <a:sym typeface="Arial"/>
                        </a:rPr>
                        <a:t>đi</a:t>
                      </a:r>
                      <a:r>
                        <a:rPr lang="en-US" sz="1100" b="0" i="0" u="none" strike="noStrike" cap="none" dirty="0">
                          <a:solidFill>
                            <a:srgbClr val="000000"/>
                          </a:solidFill>
                          <a:effectLst/>
                          <a:latin typeface="SVN-Product Sans" panose="020B0403030502040203" pitchFamily="34" charset="0"/>
                          <a:ea typeface="+mn-ea"/>
                          <a:cs typeface="+mn-cs"/>
                          <a:sym typeface="Arial"/>
                        </a:rPr>
                        <a:t> </a:t>
                      </a:r>
                      <a:r>
                        <a:rPr lang="en-US" sz="1100" b="0" i="0" u="none" strike="noStrike" cap="none" dirty="0" err="1">
                          <a:solidFill>
                            <a:srgbClr val="000000"/>
                          </a:solidFill>
                          <a:effectLst/>
                          <a:latin typeface="SVN-Product Sans" panose="020B0403030502040203" pitchFamily="34" charset="0"/>
                          <a:ea typeface="+mn-ea"/>
                          <a:cs typeface="+mn-cs"/>
                          <a:sym typeface="Arial"/>
                        </a:rPr>
                        <a:t>thông</a:t>
                      </a:r>
                      <a:r>
                        <a:rPr lang="en-US" sz="1100" b="0" i="0" u="none" strike="noStrike" cap="none" dirty="0">
                          <a:solidFill>
                            <a:srgbClr val="000000"/>
                          </a:solidFill>
                          <a:effectLst/>
                          <a:latin typeface="SVN-Product Sans" panose="020B0403030502040203" pitchFamily="34" charset="0"/>
                          <a:ea typeface="+mn-ea"/>
                          <a:cs typeface="+mn-cs"/>
                          <a:sym typeface="Arial"/>
                        </a:rPr>
                        <a:t> </a:t>
                      </a:r>
                      <a:r>
                        <a:rPr lang="en-US" sz="1100" b="0" i="0" u="none" strike="noStrike" cap="none" dirty="0" err="1">
                          <a:solidFill>
                            <a:srgbClr val="000000"/>
                          </a:solidFill>
                          <a:effectLst/>
                          <a:latin typeface="SVN-Product Sans" panose="020B0403030502040203" pitchFamily="34" charset="0"/>
                          <a:ea typeface="+mn-ea"/>
                          <a:cs typeface="+mn-cs"/>
                          <a:sym typeface="Arial"/>
                        </a:rPr>
                        <a:t>báo</a:t>
                      </a:r>
                      <a:r>
                        <a:rPr lang="en-US" sz="1100" b="0" i="0" u="none" strike="noStrike" cap="none" dirty="0">
                          <a:solidFill>
                            <a:srgbClr val="000000"/>
                          </a:solidFill>
                          <a:effectLst/>
                          <a:latin typeface="SVN-Product Sans" panose="020B0403030502040203" pitchFamily="34" charset="0"/>
                          <a:ea typeface="+mn-ea"/>
                          <a:cs typeface="+mn-cs"/>
                          <a:sym typeface="Arial"/>
                        </a:rPr>
                        <a:t> </a:t>
                      </a:r>
                      <a:r>
                        <a:rPr lang="en-US" sz="1100" b="0" i="0" u="none" strike="noStrike" cap="none" dirty="0" err="1">
                          <a:solidFill>
                            <a:srgbClr val="000000"/>
                          </a:solidFill>
                          <a:effectLst/>
                          <a:latin typeface="SVN-Product Sans" panose="020B0403030502040203" pitchFamily="34" charset="0"/>
                          <a:ea typeface="+mn-ea"/>
                          <a:cs typeface="+mn-cs"/>
                          <a:sym typeface="Arial"/>
                        </a:rPr>
                        <a:t>chính</a:t>
                      </a:r>
                      <a:r>
                        <a:rPr lang="en-US" sz="1100" b="0" i="0" u="none" strike="noStrike" cap="none" dirty="0">
                          <a:solidFill>
                            <a:srgbClr val="000000"/>
                          </a:solidFill>
                          <a:effectLst/>
                          <a:latin typeface="SVN-Product Sans" panose="020B0403030502040203" pitchFamily="34" charset="0"/>
                          <a:ea typeface="+mn-ea"/>
                          <a:cs typeface="+mn-cs"/>
                          <a:sym typeface="Arial"/>
                        </a:rPr>
                        <a:t> </a:t>
                      </a:r>
                      <a:r>
                        <a:rPr lang="en-US" sz="1100" b="0" i="0" u="none" strike="noStrike" cap="none" dirty="0" err="1">
                          <a:solidFill>
                            <a:srgbClr val="000000"/>
                          </a:solidFill>
                          <a:effectLst/>
                          <a:latin typeface="SVN-Product Sans" panose="020B0403030502040203" pitchFamily="34" charset="0"/>
                          <a:ea typeface="+mn-ea"/>
                          <a:cs typeface="+mn-cs"/>
                          <a:sym typeface="Arial"/>
                        </a:rPr>
                        <a:t>thức</a:t>
                      </a:r>
                      <a:endParaRPr lang="en-US" sz="1100" b="0" i="0" u="none" strike="noStrike" cap="none" dirty="0">
                        <a:solidFill>
                          <a:srgbClr val="000000"/>
                        </a:solidFill>
                        <a:effectLst/>
                        <a:latin typeface="SVN-Product Sans" panose="020B0403030502040203" pitchFamily="34" charset="0"/>
                        <a:ea typeface="+mn-ea"/>
                        <a:cs typeface="+mn-cs"/>
                        <a:sym typeface="Arial"/>
                      </a:endParaRPr>
                    </a:p>
                  </a:txBody>
                  <a:tcPr marL="7620" marR="7620" marT="7620" marB="0" anchor="ct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SVN-Product Sans" panose="020B0403030502040203" pitchFamily="34" charset="0"/>
                          <a:ea typeface="+mn-ea"/>
                          <a:cs typeface="+mn-cs"/>
                          <a:sym typeface="Arial"/>
                        </a:rPr>
                        <a:t>Facebook</a:t>
                      </a:r>
                      <a:endParaRPr kumimoji="0" lang="en-US" sz="1100" b="0" i="0" u="none" strike="noStrike" kern="0" cap="none" spc="0" normalizeH="0" baseline="0" noProof="0" dirty="0">
                        <a:ln>
                          <a:noFill/>
                        </a:ln>
                        <a:solidFill>
                          <a:srgbClr val="000000"/>
                        </a:solidFill>
                        <a:effectLst/>
                        <a:uLnTx/>
                        <a:uFillTx/>
                        <a:latin typeface="SVN-Product Sans" panose="020B0403030502040203" pitchFamily="34" charset="0"/>
                        <a:ea typeface="+mn-ea"/>
                        <a:cs typeface="+mn-cs"/>
                        <a:sym typeface="Arial"/>
                      </a:endParaRPr>
                    </a:p>
                  </a:txBody>
                  <a:tcPr marL="9525" marR="9525" marT="9525" marB="0" anchor="ctr"/>
                </a:tc>
                <a:tc>
                  <a:txBody>
                    <a:bodyPr/>
                    <a:lstStyle/>
                    <a:p>
                      <a:pPr marR="0" algn="ctr" rtl="0" fontAlgn="ctr">
                        <a:lnSpc>
                          <a:spcPct val="100000"/>
                        </a:lnSpc>
                        <a:spcBef>
                          <a:spcPts val="0"/>
                        </a:spcBef>
                        <a:spcAft>
                          <a:spcPts val="0"/>
                        </a:spcAft>
                        <a:buClr>
                          <a:srgbClr val="000000"/>
                        </a:buClr>
                        <a:buFont typeface="Arial"/>
                      </a:pPr>
                      <a:r>
                        <a:rPr lang="en-US" sz="1100" b="0" i="0" u="sng" strike="noStrike" cap="none" dirty="0">
                          <a:solidFill>
                            <a:srgbClr val="0000FF"/>
                          </a:solidFill>
                          <a:effectLst/>
                          <a:latin typeface="SVN-Product Sans" panose="020B0403030502040203" pitchFamily="34" charset="0"/>
                          <a:ea typeface="+mn-ea"/>
                          <a:cs typeface="+mn-cs"/>
                          <a:sym typeface="Arial"/>
                          <a:hlinkClick r:id="rId10"/>
                        </a:rPr>
                        <a:t>VTV24</a:t>
                      </a:r>
                      <a:endParaRPr lang="en-US" sz="1100" b="0" i="0" u="sng" strike="noStrike" cap="none" dirty="0">
                        <a:solidFill>
                          <a:srgbClr val="0000FF"/>
                        </a:solidFill>
                        <a:effectLst/>
                        <a:latin typeface="SVN-Product Sans" panose="020B0403030502040203" pitchFamily="34" charset="0"/>
                        <a:ea typeface="+mn-ea"/>
                        <a:cs typeface="+mn-cs"/>
                        <a:sym typeface="Arial"/>
                      </a:endParaRPr>
                    </a:p>
                  </a:txBody>
                  <a:tcPr marL="9525" marR="9525" marT="9525" marB="0" anchor="ctr"/>
                </a:tc>
                <a:tc>
                  <a:txBody>
                    <a:bodyPr/>
                    <a:lstStyle/>
                    <a:p>
                      <a:pPr marR="0" algn="ctr" rtl="0" fontAlgn="b">
                        <a:lnSpc>
                          <a:spcPct val="100000"/>
                        </a:lnSpc>
                        <a:spcBef>
                          <a:spcPts val="0"/>
                        </a:spcBef>
                        <a:spcAft>
                          <a:spcPts val="0"/>
                        </a:spcAft>
                        <a:buClr>
                          <a:srgbClr val="000000"/>
                        </a:buClr>
                        <a:buFont typeface="Arial"/>
                      </a:pPr>
                      <a:r>
                        <a:rPr lang="en-VN" sz="1100" b="0" i="0" u="none" strike="noStrike" cap="none">
                          <a:solidFill>
                            <a:srgbClr val="000000"/>
                          </a:solidFill>
                          <a:effectLst/>
                          <a:latin typeface="SVN-Product Sans" panose="020B0403030502040203" pitchFamily="34" charset="0"/>
                          <a:ea typeface="+mn-ea"/>
                          <a:cs typeface="+mn-cs"/>
                          <a:sym typeface="Arial"/>
                        </a:rPr>
                        <a:t>89</a:t>
                      </a:r>
                    </a:p>
                  </a:txBody>
                  <a:tcPr marL="9525" marR="9525" marT="9525" marB="0" anchor="ctr"/>
                </a:tc>
                <a:extLst>
                  <a:ext uri="{0D108BD9-81ED-4DB2-BD59-A6C34878D82A}">
                    <a16:rowId xmlns:a16="http://schemas.microsoft.com/office/drawing/2014/main" val="566348141"/>
                  </a:ext>
                </a:extLst>
              </a:tr>
            </a:tbl>
          </a:graphicData>
        </a:graphic>
      </p:graphicFrame>
    </p:spTree>
    <p:extLst>
      <p:ext uri="{BB962C8B-B14F-4D97-AF65-F5344CB8AC3E}">
        <p14:creationId xmlns:p14="http://schemas.microsoft.com/office/powerpoint/2010/main" val="874434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4673</TotalTime>
  <Words>1858</Words>
  <Application>Microsoft Office PowerPoint</Application>
  <PresentationFormat>Widescreen</PresentationFormat>
  <Paragraphs>273</Paragraphs>
  <Slides>9</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system-ui</vt:lpstr>
      <vt:lpstr>Aptos</vt:lpstr>
      <vt:lpstr>Arial</vt:lpstr>
      <vt:lpstr>Calibri</vt:lpstr>
      <vt:lpstr>Courier New</vt:lpstr>
      <vt:lpstr>Montserrat</vt:lpstr>
      <vt:lpstr>Montserrat SemiBold</vt:lpstr>
      <vt:lpstr>SVN-Product Sans</vt:lpstr>
      <vt:lpstr>1_Office Theme</vt:lpstr>
      <vt:lpstr>PowerPoint Presentation</vt:lpstr>
      <vt:lpstr>PowerPoint Presentation</vt:lpstr>
      <vt:lpstr>TỔNG QUAN ĐỀ CẬP VỀ THƯƠNG HIỆU BIDV VÀ MỘT SỐ NGÂN HÀNG KHÁC</vt:lpstr>
      <vt:lpstr>ĐƯỜNG BIỂU DIỄN XU HƯỚNG ĐỀ CẬP CỦA BIDV VÀ MỘT SỐ NGÂN HÀNG KHÁC</vt:lpstr>
      <vt:lpstr>PHÂN BỐ ĐỀ CẬP TRÊN CÁC KÊNH TRUYỀN THÔNG</vt:lpstr>
      <vt:lpstr>TOP NGUỒN CÓ LƯỢNG THẢO LUẬN CAO NHẤT</vt:lpstr>
      <vt:lpstr>SẮC THÁI ĐỀ CẬP</vt:lpstr>
      <vt:lpstr>TOP BÀI ĐĂNG CÓ BÌNH LUẬN CAO NHẤT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Tran Huu Nghi</dc:creator>
  <cp:lastModifiedBy>Vi Bui</cp:lastModifiedBy>
  <cp:revision>36</cp:revision>
  <dcterms:created xsi:type="dcterms:W3CDTF">2025-06-26T04:26:13Z</dcterms:created>
  <dcterms:modified xsi:type="dcterms:W3CDTF">2026-03-17T07:22:28Z</dcterms:modified>
</cp:coreProperties>
</file>