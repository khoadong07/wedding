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5.xml"/>
  <Override ContentType="application/vnd.ms-office.chartcolorstyle+xml" PartName="/ppt/charts/colors6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ms-office.chartcolorstyle+xml" PartName="/ppt/charts/colors8.xml"/>
  <Override ContentType="application/vnd.ms-office.chartcolorstyle+xml" PartName="/ppt/charts/colors11.xml"/>
  <Override ContentType="application/vnd.ms-office.chartcolorstyle+xml" PartName="/ppt/charts/colors7.xml"/>
  <Override ContentType="application/vnd.ms-office.chartcolorstyle+xml" PartName="/ppt/charts/colors10.xml"/>
  <Override ContentType="application/vnd.ms-office.chartcolorstyle+xml" PartName="/ppt/charts/colors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3.xml"/>
  <Override ContentType="application/vnd.openxmlformats-officedocument.drawingml.chart+xml" PartName="/ppt/charts/chart8.xml"/>
  <Override ContentType="application/vnd.openxmlformats-officedocument.drawingml.chart+xml" PartName="/ppt/charts/chart9.xml"/>
  <Override ContentType="application/vnd.openxmlformats-officedocument.drawingml.chart+xml" PartName="/ppt/charts/chart2.xml"/>
  <Override ContentType="application/vnd.openxmlformats-officedocument.drawingml.chart+xml" PartName="/ppt/charts/chart7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1.xml"/>
  <Override ContentType="application/vnd.openxmlformats-officedocument.drawingml.chart+xml" PartName="/ppt/charts/chart1.xml"/>
  <Override ContentType="application/vnd.openxmlformats-officedocument.drawingml.chart+xml" PartName="/ppt/charts/chart10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9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10.xml"/>
  <Override ContentType="application/vnd.ms-office.chartstyle+xml" PartName="/ppt/charts/style5.xml"/>
  <Override ContentType="application/vnd.ms-office.chartstyle+xml" PartName="/ppt/charts/style7.xml"/>
  <Override ContentType="application/vnd.ms-office.chartstyle+xml" PartName="/ppt/charts/style8.xml"/>
  <Override ContentType="application/vnd.ms-office.chartstyle+xml" PartName="/ppt/charts/style1.xml"/>
  <Override ContentType="application/vnd.ms-office.chartstyle+xml" PartName="/ppt/charts/style6.xml"/>
  <Override ContentType="application/vnd.ms-office.chartstyle+xml" PartName="/ppt/charts/style1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CsbtFnC+0gXSUsBqPO0siiB4m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2F68F5-3DCA-4795-B79B-72268EC39BE3}">
  <a:tblStyle styleId="{9A2F68F5-3DCA-4795-B79B-72268EC39BE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4DAD28D4-AA8B-4B2A-83F1-EB518E37F37C}" styleName="Table_1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 b="off" i="off"/>
      <a:tcStyle>
        <a:fill>
          <a:solidFill>
            <a:srgbClr val="CACA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CACA"/>
          </a:solidFill>
        </a:fill>
      </a:tcStyle>
    </a:band1V>
    <a:band2V>
      <a:tcTxStyle b="off" i="off"/>
    </a:band2V>
    <a:lastCol>
      <a:tcTxStyle b="on" i="off"/>
      <a:tcStyle>
        <a:tcBdr>
          <a:lef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  <a:fill>
          <a:solidFill>
            <a:srgbClr val="A8A8A8"/>
          </a:solidFill>
        </a:fill>
      </a:tcStyle>
    </a:lastCol>
    <a:firstCol>
      <a:tcTxStyle b="on" i="off"/>
      <a:tcStyle>
        <a:tcBdr>
          <a:righ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  <a:fill>
          <a:solidFill>
            <a:srgbClr val="A8A8A8"/>
          </a:solidFill>
        </a:fill>
      </a:tcStyle>
    </a:firstCol>
    <a:lastRow>
      <a:tcTxStyle b="on" i="off"/>
      <a:tcStyle>
        <a:tcBdr>
          <a:top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A8A8A8"/>
          </a:solidFill>
        </a:fill>
      </a:tcStyle>
    </a:lastRow>
    <a:seCell>
      <a:tcTxStyle b="off" i="off"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seCell>
    <a:swCell>
      <a:tcTxStyle b="off" i="off"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swCell>
    <a:firstRow>
      <a:tcTxStyle b="on" i="off"/>
      <a:tcStyle>
        <a:tcBdr>
          <a:bottom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 b="off" i="off"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neCell>
    <a:nwCell>
      <a:tcTxStyle b="off" i="off"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Sheet6.xlsx"/></Relationships>
</file>

<file path=ppt/charts/_rels/chart7.xml.rels><?xml version="1.0" encoding="UTF-8" standalone="yes"?>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Sheet7.xlsx"/></Relationships>
</file>

<file path=ppt/charts/_rels/chart8.xml.rels><?xml version="1.0" encoding="UTF-8" standalone="yes"?>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Sheet8.xlsx"/></Relationships>
</file>

<file path=ppt/charts/_rels/chart9.xml.rels><?xml version="1.0" encoding="UTF-8" standalone="yes"?>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Sheet9.xlsx"/></Relationships>
</file>

<file path=ppt/charts/_rels/chart10.xml.rels><?xml version="1.0" encoding="UTF-8" standalone="yes"?>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Sheet10.xlsx"/></Relationships>
</file>

<file path=ppt/charts/_rels/chart11.xml.rels><?xml version="1.0" encoding="UTF-8" standalone="yes"?>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788364772210735E-2"/>
          <c:y val="0.11268569541448663"/>
          <c:w val="0.59861049450671711"/>
          <c:h val="0.7709781573337918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70C0"/>
              </a:solidFill>
              <a:ln w="9525" cap="flat" cmpd="sng" algn="ctr">
                <a:noFill/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DE63-2649-8C2F-0186FFD50B02}"/>
              </c:ext>
            </c:extLst>
          </c:dPt>
          <c:dPt>
            <c:idx val="1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 w="9525" cap="flat" cmpd="sng" algn="ctr">
                <a:noFill/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E63-2649-8C2F-0186FFD50B02}"/>
              </c:ext>
            </c:extLst>
          </c:dPt>
          <c:dPt>
            <c:idx val="2"/>
            <c:bubble3D val="0"/>
            <c:spPr>
              <a:solidFill>
                <a:srgbClr val="C00000"/>
              </a:solidFill>
              <a:ln w="9525" cap="flat" cmpd="sng" algn="ctr">
                <a:noFill/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DE63-2649-8C2F-0186FFD50B02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9525" cap="flat" cmpd="sng" algn="ctr">
                <a:noFill/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4B8A-E244-A743-52D1E74FE3AD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50000"/>
                      <a:satMod val="300000"/>
                    </a:schemeClr>
                  </a:gs>
                  <a:gs pos="35000">
                    <a:schemeClr val="accent5">
                      <a:tint val="37000"/>
                      <a:satMod val="300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noFill/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B8A-E244-A743-52D1E74FE3AD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tint val="50000"/>
                      <a:satMod val="300000"/>
                    </a:schemeClr>
                  </a:gs>
                  <a:gs pos="35000">
                    <a:schemeClr val="accent6">
                      <a:tint val="37000"/>
                      <a:satMod val="300000"/>
                    </a:schemeClr>
                  </a:gs>
                  <a:gs pos="100000">
                    <a:schemeClr val="accent6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 w="9525" cap="flat" cmpd="sng" algn="ctr">
                <a:noFill/>
                <a:round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4B8A-E244-A743-52D1E74FE3AD}"/>
              </c:ext>
            </c:extLst>
          </c:dPt>
          <c:dLbls>
            <c:dLbl>
              <c:idx val="0"/>
              <c:layout>
                <c:manualLayout>
                  <c:x val="5.0461490862894143E-2"/>
                  <c:y val="-8.5809499635637141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900" b="0" i="0" u="none" strike="noStrike" kern="1200" baseline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fld id="{9340A6D3-05A5-E94C-85B2-EF103721A22E}" type="PERCENTAGE">
                      <a:rPr lang="en-US" sz="900">
                        <a:solidFill>
                          <a:schemeClr val="bg1"/>
                        </a:solidFill>
                      </a:rPr>
                      <a:pPr>
                        <a:defRPr sz="900"/>
                      </a:pPr>
                      <a:t>[PERCENTAGE]</a:t>
                    </a:fld>
                    <a:endParaRPr lang="en-US"/>
                  </a:p>
                </c:rich>
              </c:tx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903565309618992"/>
                      <c:h val="0.1754775609796038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DE63-2649-8C2F-0186FFD50B02}"/>
                </c:ext>
              </c:extLst>
            </c:dLbl>
            <c:dLbl>
              <c:idx val="1"/>
              <c:layout>
                <c:manualLayout>
                  <c:x val="-0.26912795126876882"/>
                  <c:y val="1.5949404055208477E-2"/>
                </c:manualLayout>
              </c:layout>
              <c:tx>
                <c:rich>
                  <a:bodyPr/>
                  <a:lstStyle/>
                  <a:p>
                    <a:fld id="{328C97E9-7BE4-0B4D-A8F7-B58F1B47E8C7}" type="PERCENTAGE">
                      <a:rPr lang="en-US">
                        <a:solidFill>
                          <a:schemeClr val="bg1"/>
                        </a:solidFill>
                      </a:rPr>
                      <a:pPr/>
                      <a:t>[PERCENTAGE]</a:t>
                    </a:fld>
                    <a:endParaRPr lang="en-US"/>
                  </a:p>
                </c:rich>
              </c:tx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76304979184966"/>
                      <c:h val="0.11698504065306925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E63-2649-8C2F-0186FFD50B02}"/>
                </c:ext>
              </c:extLst>
            </c:dLbl>
            <c:dLbl>
              <c:idx val="2"/>
              <c:layout>
                <c:manualLayout>
                  <c:x val="-9.5125605405445623E-2"/>
                  <c:y val="9.984906916889788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E63-2649-8C2F-0186FFD50B0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B8A-E244-A743-52D1E74FE3AD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B8A-E244-A743-52D1E74FE3AD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B8A-E244-A743-52D1E74FE3AD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Facebook</c:v>
                </c:pt>
                <c:pt idx="1">
                  <c:v>Tiktok</c:v>
                </c:pt>
                <c:pt idx="2">
                  <c:v>Youtube</c:v>
                </c:pt>
                <c:pt idx="3">
                  <c:v>News</c:v>
                </c:pt>
                <c:pt idx="4">
                  <c:v>Forum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28492</c:v>
                </c:pt>
                <c:pt idx="1">
                  <c:v>5772</c:v>
                </c:pt>
                <c:pt idx="2">
                  <c:v>1378</c:v>
                </c:pt>
                <c:pt idx="3">
                  <c:v>167</c:v>
                </c:pt>
                <c:pt idx="4">
                  <c:v>88</c:v>
                </c:pt>
                <c:pt idx="5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63-2649-8C2F-0186FFD50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32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69128110202598236"/>
          <c:y val="0.14775459684000511"/>
          <c:w val="0.27680127655651848"/>
          <c:h val="0.704930907522796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58757365318026"/>
          <c:y val="4.4992160027547953E-2"/>
          <c:w val="0.59528724521811482"/>
          <c:h val="0.9509954814100284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ABA-E84A-BD69-DEC44030D46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ABA-E84A-BD69-DEC44030D46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ABA-E84A-BD69-DEC44030D46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ABA-E84A-BD69-DEC44030D4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Driveshaft</c:v>
                </c:pt>
                <c:pt idx="1">
                  <c:v>Safety System</c:v>
                </c:pt>
                <c:pt idx="2">
                  <c:v>Handling</c:v>
                </c:pt>
                <c:pt idx="3">
                  <c:v>Rear suspension</c:v>
                </c:pt>
                <c:pt idx="4">
                  <c:v>2.4L Engine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3.0955637379113162E-2</c:v>
                </c:pt>
                <c:pt idx="1">
                  <c:v>3.6418396916603714E-3</c:v>
                </c:pt>
                <c:pt idx="2">
                  <c:v>5.8269435066565942E-2</c:v>
                </c:pt>
                <c:pt idx="3">
                  <c:v>9.1045992291509305E-3</c:v>
                </c:pt>
                <c:pt idx="4">
                  <c:v>0.29134717533282978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A-E84A-BD69-DEC44030D4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ABA-E84A-BD69-DEC44030D46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ABA-E84A-BD69-DEC44030D46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ABA-E84A-BD69-DEC44030D4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Driveshaft</c:v>
                </c:pt>
                <c:pt idx="1">
                  <c:v>Safety System</c:v>
                </c:pt>
                <c:pt idx="2">
                  <c:v>Handling</c:v>
                </c:pt>
                <c:pt idx="3">
                  <c:v>Rear suspension</c:v>
                </c:pt>
                <c:pt idx="4">
                  <c:v>2.4L Engine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2.0409072114004782E-2</c:v>
                </c:pt>
                <c:pt idx="1">
                  <c:v>4.68208124968345E-2</c:v>
                </c:pt>
                <c:pt idx="2">
                  <c:v>1.4406403845179848E-2</c:v>
                </c:pt>
                <c:pt idx="3">
                  <c:v>0.16927524518086323</c:v>
                </c:pt>
                <c:pt idx="4">
                  <c:v>0.14166297114426848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A-E84A-BD69-DEC44030D4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ABA-E84A-BD69-DEC44030D46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ABA-E84A-BD69-DEC44030D46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ABA-E84A-BD69-DEC44030D463}"/>
                </c:ext>
              </c:extLst>
            </c:dLbl>
            <c:dLbl>
              <c:idx val="3"/>
              <c:layout>
                <c:manualLayout>
                  <c:x val="1.782204005384220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ABA-E84A-BD69-DEC44030D463}"/>
                </c:ext>
              </c:extLst>
            </c:dLbl>
            <c:dLbl>
              <c:idx val="4"/>
              <c:layout>
                <c:manualLayout>
                  <c:x val="6.7723752204600252E-2"/>
                  <c:y val="8.11183862167725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ABA-E84A-BD69-DEC44030D46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Driveshaft</c:v>
                </c:pt>
                <c:pt idx="1">
                  <c:v>Safety System</c:v>
                </c:pt>
                <c:pt idx="2">
                  <c:v>Handling</c:v>
                </c:pt>
                <c:pt idx="3">
                  <c:v>Rear suspension</c:v>
                </c:pt>
                <c:pt idx="4">
                  <c:v>2.4L Engine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2.713897672720371E-3</c:v>
                </c:pt>
                <c:pt idx="1">
                  <c:v>6.7847441818009273E-3</c:v>
                </c:pt>
                <c:pt idx="2">
                  <c:v>1.3569488363601855E-2</c:v>
                </c:pt>
                <c:pt idx="3">
                  <c:v>6.1062697636208342E-2</c:v>
                </c:pt>
                <c:pt idx="4">
                  <c:v>5.1564055781687053E-2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BA-E84A-BD69-DEC44030D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overlap val="100"/>
        <c:axId val="1491295903"/>
        <c:axId val="1491297343"/>
      </c:barChart>
      <c:catAx>
        <c:axId val="1491295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91297343"/>
        <c:crosses val="autoZero"/>
        <c:auto val="1"/>
        <c:lblAlgn val="ctr"/>
        <c:lblOffset val="100"/>
        <c:noMultiLvlLbl val="0"/>
      </c:catAx>
      <c:valAx>
        <c:axId val="1491297343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491295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58757365318026"/>
          <c:y val="4.4992160027547953E-2"/>
          <c:w val="0.59528724521811482"/>
          <c:h val="0.8830203839283753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A2-B44C-8272-EEE1C3F2D7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Door</c:v>
                </c:pt>
                <c:pt idx="1">
                  <c:v>Wheels/Tires</c:v>
                </c:pt>
                <c:pt idx="2">
                  <c:v>Headlight + Tail lights</c:v>
                </c:pt>
                <c:pt idx="3">
                  <c:v>Grille</c:v>
                </c:pt>
                <c:pt idx="4">
                  <c:v>Body and Structure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</c:v>
                </c:pt>
                <c:pt idx="1">
                  <c:v>4.7073541365143749E-3</c:v>
                </c:pt>
                <c:pt idx="2">
                  <c:v>0</c:v>
                </c:pt>
                <c:pt idx="3">
                  <c:v>2.3536770682571874E-3</c:v>
                </c:pt>
                <c:pt idx="4">
                  <c:v>0.48015012192446621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A-E84A-BD69-DEC44030D4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DA2-B44C-8272-EEE1C3F2D7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Door</c:v>
                </c:pt>
                <c:pt idx="1">
                  <c:v>Wheels/Tires</c:v>
                </c:pt>
                <c:pt idx="2">
                  <c:v>Headlight + Tail lights</c:v>
                </c:pt>
                <c:pt idx="3">
                  <c:v>Grille</c:v>
                </c:pt>
                <c:pt idx="4">
                  <c:v>Body and Structure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1.5517808414292934E-3</c:v>
                </c:pt>
                <c:pt idx="3">
                  <c:v>1.5517808414292934E-3</c:v>
                </c:pt>
                <c:pt idx="4">
                  <c:v>0.19242082433723237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A-E84A-BD69-DEC44030D4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A2-B44C-8272-EEE1C3F2D7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Door</c:v>
                </c:pt>
                <c:pt idx="1">
                  <c:v>Wheels/Tires</c:v>
                </c:pt>
                <c:pt idx="2">
                  <c:v>Headlight + Tail lights</c:v>
                </c:pt>
                <c:pt idx="3">
                  <c:v>Grille</c:v>
                </c:pt>
                <c:pt idx="4">
                  <c:v>Body and Structure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7.0158373335387119E-3</c:v>
                </c:pt>
                <c:pt idx="1">
                  <c:v>5.2618780001540341E-3</c:v>
                </c:pt>
                <c:pt idx="2">
                  <c:v>1.5785634000462102E-2</c:v>
                </c:pt>
                <c:pt idx="3">
                  <c:v>1.5785634000462102E-2</c:v>
                </c:pt>
                <c:pt idx="4">
                  <c:v>0.27010973734124039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BA-E84A-BD69-DEC44030D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overlap val="100"/>
        <c:axId val="1491295903"/>
        <c:axId val="1491297343"/>
      </c:barChart>
      <c:catAx>
        <c:axId val="1491295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91297343"/>
        <c:crosses val="autoZero"/>
        <c:auto val="1"/>
        <c:lblAlgn val="ctr"/>
        <c:lblOffset val="100"/>
        <c:noMultiLvlLbl val="0"/>
      </c:catAx>
      <c:valAx>
        <c:axId val="1491297343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491295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58757365318026"/>
          <c:y val="4.4992160027547953E-2"/>
          <c:w val="0.59528724521811482"/>
          <c:h val="0.8830203839283753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2.4950856075379089E-2"/>
                  <c:y val="8.9754999425562502E-1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766-DE4F-AD85-C86D39E880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2WD AT Premium</c:v>
                </c:pt>
                <c:pt idx="1">
                  <c:v>High Price</c:v>
                </c:pt>
                <c:pt idx="2">
                  <c:v>Old Version</c:v>
                </c:pt>
                <c:pt idx="3">
                  <c:v>4WD AT Athlete</c:v>
                </c:pt>
                <c:pt idx="4">
                  <c:v>2WD AT GLX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1.8935606181199747E-2</c:v>
                </c:pt>
                <c:pt idx="4">
                  <c:v>4.1658333598639442E-2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A-E84A-BD69-DEC44030D4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0"/>
                  <c:y val="7.83356247143479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4234449357901366"/>
                      <c:h val="0.131285338307141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9766-DE4F-AD85-C86D39E88005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766-DE4F-AD85-C86D39E880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2WD AT Premium</c:v>
                </c:pt>
                <c:pt idx="1">
                  <c:v>High Price</c:v>
                </c:pt>
                <c:pt idx="2">
                  <c:v>Old Version</c:v>
                </c:pt>
                <c:pt idx="3">
                  <c:v>4WD AT Athlete</c:v>
                </c:pt>
                <c:pt idx="4">
                  <c:v>2WD AT GLX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1.4981109153394737E-2</c:v>
                </c:pt>
                <c:pt idx="1">
                  <c:v>0</c:v>
                </c:pt>
                <c:pt idx="2">
                  <c:v>0.11</c:v>
                </c:pt>
                <c:pt idx="3">
                  <c:v>0.24469144950544738</c:v>
                </c:pt>
                <c:pt idx="4">
                  <c:v>0.47440178985749998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A-E84A-BD69-DEC44030D4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766-DE4F-AD85-C86D39E88005}"/>
                </c:ext>
              </c:extLst>
            </c:dLbl>
            <c:dLbl>
              <c:idx val="4"/>
              <c:layout>
                <c:manualLayout>
                  <c:x val="5.703052817229506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766-DE4F-AD85-C86D39E880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2WD AT Premium</c:v>
                </c:pt>
                <c:pt idx="1">
                  <c:v>High Price</c:v>
                </c:pt>
                <c:pt idx="2">
                  <c:v>Old Version</c:v>
                </c:pt>
                <c:pt idx="3">
                  <c:v>4WD AT Athlete</c:v>
                </c:pt>
                <c:pt idx="4">
                  <c:v>2WD AT GLX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5.6443228585142113E-3</c:v>
                </c:pt>
                <c:pt idx="1">
                  <c:v>3.3865937151085268E-2</c:v>
                </c:pt>
                <c:pt idx="2">
                  <c:v>0</c:v>
                </c:pt>
                <c:pt idx="3">
                  <c:v>3.3865937151085268E-2</c:v>
                </c:pt>
                <c:pt idx="4">
                  <c:v>1.6932968575542634E-2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BA-E84A-BD69-DEC44030D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overlap val="100"/>
        <c:axId val="1491295903"/>
        <c:axId val="1491297343"/>
      </c:barChart>
      <c:catAx>
        <c:axId val="1491295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91297343"/>
        <c:crosses val="autoZero"/>
        <c:auto val="1"/>
        <c:lblAlgn val="ctr"/>
        <c:lblOffset val="100"/>
        <c:noMultiLvlLbl val="0"/>
      </c:catAx>
      <c:valAx>
        <c:axId val="1491297343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491295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58757365318026"/>
          <c:y val="4.4992160027547953E-2"/>
          <c:w val="0.59528724521811482"/>
          <c:h val="0.8830203839283753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C00-C04B-A254-497C5CB624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Back seat</c:v>
                </c:pt>
                <c:pt idx="1">
                  <c:v>Paddle Shifter</c:v>
                </c:pt>
                <c:pt idx="2">
                  <c:v>Steering Wheel</c:v>
                </c:pt>
                <c:pt idx="3">
                  <c:v>Stereo System</c:v>
                </c:pt>
                <c:pt idx="4">
                  <c:v>Interior Space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3.0649066748268238E-2</c:v>
                </c:pt>
                <c:pt idx="1">
                  <c:v>0</c:v>
                </c:pt>
                <c:pt idx="2">
                  <c:v>3.0649066748268238E-2</c:v>
                </c:pt>
                <c:pt idx="3">
                  <c:v>5.1081777913780397E-3</c:v>
                </c:pt>
                <c:pt idx="4">
                  <c:v>0.32692337864819454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BA-E84A-BD69-DEC44030D4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00-C04B-A254-497C5CB624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Back seat</c:v>
                </c:pt>
                <c:pt idx="1">
                  <c:v>Paddle Shifter</c:v>
                </c:pt>
                <c:pt idx="2">
                  <c:v>Steering Wheel</c:v>
                </c:pt>
                <c:pt idx="3">
                  <c:v>Stereo System</c:v>
                </c:pt>
                <c:pt idx="4">
                  <c:v>Interior Space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1.0103474947577917E-2</c:v>
                </c:pt>
                <c:pt idx="1">
                  <c:v>3.3678249825259722E-2</c:v>
                </c:pt>
                <c:pt idx="2">
                  <c:v>5.0517374737889587E-2</c:v>
                </c:pt>
                <c:pt idx="3">
                  <c:v>0.14818429923114276</c:v>
                </c:pt>
                <c:pt idx="4">
                  <c:v>6.7356499650519444E-3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BA-E84A-BD69-DEC44030D4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5.8850634367554E-2"/>
                  <c:y val="-3.590199977022500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C00-C04B-A254-497C5CB624CC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C00-C04B-A254-497C5CB624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Back seat</c:v>
                </c:pt>
                <c:pt idx="1">
                  <c:v>Paddle Shifter</c:v>
                </c:pt>
                <c:pt idx="2">
                  <c:v>Steering Wheel</c:v>
                </c:pt>
                <c:pt idx="3">
                  <c:v>Stereo System</c:v>
                </c:pt>
                <c:pt idx="4">
                  <c:v>Interior Space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2.2839673890547921E-2</c:v>
                </c:pt>
                <c:pt idx="1">
                  <c:v>6.8519021671643768E-2</c:v>
                </c:pt>
                <c:pt idx="2">
                  <c:v>5.3292572411278494E-2</c:v>
                </c:pt>
                <c:pt idx="3">
                  <c:v>5.3292572411278494E-2</c:v>
                </c:pt>
                <c:pt idx="4">
                  <c:v>7.2325633986735097E-2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ABA-E84A-BD69-DEC44030D4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overlap val="100"/>
        <c:axId val="1491295903"/>
        <c:axId val="1491297343"/>
      </c:barChart>
      <c:catAx>
        <c:axId val="1491295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91297343"/>
        <c:crosses val="autoZero"/>
        <c:auto val="1"/>
        <c:lblAlgn val="ctr"/>
        <c:lblOffset val="100"/>
        <c:noMultiLvlLbl val="0"/>
      </c:catAx>
      <c:valAx>
        <c:axId val="1491297343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4912959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4611754144199756"/>
          <c:y val="7.3698648702328964E-3"/>
          <c:w val="0.63225146109399732"/>
          <c:h val="0.8516284988310878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54F-2742-886D-076B0AF42B9B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54F-2742-886D-076B0AF42B9B}"/>
              </c:ext>
            </c:extLst>
          </c:dPt>
          <c:dPt>
            <c:idx val="2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54F-2742-886D-076B0AF42B9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04B8FAD-4784-F446-A66C-AA290678E306}" type="VALUE">
                      <a:rPr lang="en-US" b="1" dirty="0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439642074510088"/>
                      <c:h val="9.3956877028334163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54F-2742-886D-076B0AF42B9B}"/>
                </c:ext>
              </c:extLst>
            </c:dLbl>
            <c:dLbl>
              <c:idx val="1"/>
              <c:layout>
                <c:manualLayout>
                  <c:x val="-7.5676419642307133E-2"/>
                  <c:y val="0.1731754204051649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54F-2742-886D-076B0AF42B9B}"/>
                </c:ext>
              </c:extLst>
            </c:dLbl>
            <c:dLbl>
              <c:idx val="2"/>
              <c:layout>
                <c:manualLayout>
                  <c:x val="4.7605365263806787E-3"/>
                  <c:y val="-1.5600003945695624E-2"/>
                </c:manualLayout>
              </c:layout>
              <c:tx>
                <c:rich>
                  <a:bodyPr/>
                  <a:lstStyle/>
                  <a:p>
                    <a:fld id="{E2DB9324-8C92-0341-93E1-04C1166BB134}" type="VALUE">
                      <a:rPr lang="en-US" b="1">
                        <a:solidFill>
                          <a:srgbClr val="C00000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54F-2742-886D-076B0AF42B9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6-654F-2742-886D-076B0AF42B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32"/>
      </c:pieChart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10924756916144505"/>
          <c:y val="7.3086147484493449E-2"/>
          <c:w val="0.89075191147323329"/>
          <c:h val="0.918779602718952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181-4FEF-9D13-0918302A656C}"/>
              </c:ext>
            </c:extLst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181-4FEF-9D13-0918302A656C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181-4FEF-9D13-0918302A65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MMC OFFICE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55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1-4FEF-9D13-0918302A65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83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4326473473197"/>
          <c:y val="4.3286287511425783E-2"/>
          <c:w val="0.84099274334092011"/>
          <c:h val="0.81824345050893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Mentioned competitor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1EE-4A16-9189-8C48E4E074CF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E1EE-4A16-9189-8C48E4E074CF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1EE-4A16-9189-8C48E4E074CF}"/>
              </c:ext>
            </c:extLst>
          </c:dPt>
          <c:dPt>
            <c:idx val="3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E1EE-4A16-9189-8C48E4E074CF}"/>
              </c:ext>
            </c:extLst>
          </c:dPt>
          <c:dPt>
            <c:idx val="4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1EE-4A16-9189-8C48E4E074C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Ranger</c:v>
                </c:pt>
                <c:pt idx="1">
                  <c:v>Hilux</c:v>
                </c:pt>
                <c:pt idx="2">
                  <c:v>Navara</c:v>
                </c:pt>
                <c:pt idx="3">
                  <c:v>D-Max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0.47863257734640824</c:v>
                </c:pt>
                <c:pt idx="1">
                  <c:v>0.28413026811707759</c:v>
                </c:pt>
                <c:pt idx="2">
                  <c:v>6.1732975269969258E-2</c:v>
                </c:pt>
                <c:pt idx="3">
                  <c:v>4.0182448625054434E-2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EE-4A16-9189-8C48E4E074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7"/>
        <c:overlap val="-27"/>
        <c:axId val="1224304416"/>
        <c:axId val="1224293856"/>
      </c:barChart>
      <c:catAx>
        <c:axId val="1224304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224293856"/>
        <c:crosses val="autoZero"/>
        <c:auto val="1"/>
        <c:lblAlgn val="ctr"/>
        <c:lblOffset val="100"/>
        <c:noMultiLvlLbl val="0"/>
      </c:catAx>
      <c:valAx>
        <c:axId val="1224293856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224304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181-4FEF-9D13-0918302A656C}"/>
              </c:ext>
            </c:extLst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181-4FEF-9D13-0918302A656C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181-4FEF-9D13-0918302A65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MMC OFFICE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</c:v>
                </c:pt>
                <c:pt idx="1">
                  <c:v>687</c:v>
                </c:pt>
                <c:pt idx="2">
                  <c:v>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1-4FEF-9D13-0918302A65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181-4FEF-9D13-0918302A656C}"/>
              </c:ext>
            </c:extLst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181-4FEF-9D13-0918302A656C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181-4FEF-9D13-0918302A65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MMC OFFICE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112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1-4FEF-9D13-0918302A65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194283472550387"/>
          <c:y val="0.13133496592740049"/>
          <c:w val="0.54521398464104209"/>
          <c:h val="0.749845527694149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181-4FEF-9D13-0918302A656C}"/>
              </c:ext>
            </c:extLst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181-4FEF-9D13-0918302A656C}"/>
              </c:ext>
            </c:extLst>
          </c:dPt>
          <c:dPt>
            <c:idx val="2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181-4FEF-9D13-0918302A656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MMC OFFICE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457</c:v>
                </c:pt>
                <c:pt idx="2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81-4FEF-9D13-0918302A65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239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コンテンツレイアウト">
  <p:cSld name="1_コンテンツレイアウト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2"/>
          <p:cNvSpPr txBox="1"/>
          <p:nvPr>
            <p:ph type="title"/>
          </p:nvPr>
        </p:nvSpPr>
        <p:spPr>
          <a:xfrm>
            <a:off x="251520" y="186485"/>
            <a:ext cx="7920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356600" y="4863192"/>
            <a:ext cx="53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>
  <p:cSld name="タイトル スライド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" type="body"/>
          </p:nvPr>
        </p:nvSpPr>
        <p:spPr>
          <a:xfrm>
            <a:off x="250826" y="4000762"/>
            <a:ext cx="2160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2" type="body"/>
          </p:nvPr>
        </p:nvSpPr>
        <p:spPr>
          <a:xfrm>
            <a:off x="250825" y="2121700"/>
            <a:ext cx="8642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3" type="body"/>
          </p:nvPr>
        </p:nvSpPr>
        <p:spPr>
          <a:xfrm>
            <a:off x="250827" y="2571751"/>
            <a:ext cx="42756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356600" y="4863192"/>
            <a:ext cx="53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3"/>
          <p:cNvSpPr txBox="1"/>
          <p:nvPr>
            <p:ph idx="4" type="body"/>
          </p:nvPr>
        </p:nvSpPr>
        <p:spPr>
          <a:xfrm>
            <a:off x="250826" y="4236935"/>
            <a:ext cx="4816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3"/>
          <p:cNvSpPr txBox="1"/>
          <p:nvPr>
            <p:ph idx="5" type="body"/>
          </p:nvPr>
        </p:nvSpPr>
        <p:spPr>
          <a:xfrm>
            <a:off x="250825" y="4696792"/>
            <a:ext cx="48162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タイトル スライド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oogle Shape;20;p14"/>
          <p:cNvGrpSpPr/>
          <p:nvPr/>
        </p:nvGrpSpPr>
        <p:grpSpPr>
          <a:xfrm>
            <a:off x="0" y="1905372"/>
            <a:ext cx="9048750" cy="0"/>
            <a:chOff x="0" y="384"/>
            <a:chExt cx="5700" cy="0"/>
          </a:xfrm>
        </p:grpSpPr>
        <p:sp>
          <p:nvSpPr>
            <p:cNvPr id="21" name="Google Shape;21;p14"/>
            <p:cNvSpPr/>
            <p:nvPr/>
          </p:nvSpPr>
          <p:spPr>
            <a:xfrm>
              <a:off x="0" y="384"/>
              <a:ext cx="5700" cy="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" name="Google Shape;22;p14"/>
            <p:cNvCxnSpPr/>
            <p:nvPr/>
          </p:nvCxnSpPr>
          <p:spPr>
            <a:xfrm>
              <a:off x="0" y="384"/>
              <a:ext cx="5700" cy="0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" name="Google Shape;23;p14"/>
          <p:cNvGrpSpPr/>
          <p:nvPr/>
        </p:nvGrpSpPr>
        <p:grpSpPr>
          <a:xfrm>
            <a:off x="0" y="3162672"/>
            <a:ext cx="9048750" cy="0"/>
            <a:chOff x="0" y="384"/>
            <a:chExt cx="5700" cy="0"/>
          </a:xfrm>
        </p:grpSpPr>
        <p:sp>
          <p:nvSpPr>
            <p:cNvPr id="24" name="Google Shape;24;p14"/>
            <p:cNvSpPr/>
            <p:nvPr/>
          </p:nvSpPr>
          <p:spPr>
            <a:xfrm>
              <a:off x="0" y="384"/>
              <a:ext cx="5700" cy="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" name="Google Shape;25;p14"/>
            <p:cNvCxnSpPr/>
            <p:nvPr/>
          </p:nvCxnSpPr>
          <p:spPr>
            <a:xfrm>
              <a:off x="0" y="384"/>
              <a:ext cx="5700" cy="0"/>
            </a:xfrm>
            <a:prstGeom prst="straightConnector1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" name="Google Shape;26;p14"/>
          <p:cNvSpPr txBox="1"/>
          <p:nvPr>
            <p:ph type="ctrTitle"/>
          </p:nvPr>
        </p:nvSpPr>
        <p:spPr>
          <a:xfrm>
            <a:off x="685800" y="1995687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4"/>
          <p:cNvSpPr txBox="1"/>
          <p:nvPr>
            <p:ph idx="1" type="subTitle"/>
          </p:nvPr>
        </p:nvSpPr>
        <p:spPr>
          <a:xfrm>
            <a:off x="1371600" y="3423587"/>
            <a:ext cx="64008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4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4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0" name="Google Shape;3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48513" y="577328"/>
            <a:ext cx="846976" cy="9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タイトル スライド">
  <p:cSld name="3_タイトル スライド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250826" y="4000762"/>
            <a:ext cx="21609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84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2" type="body"/>
          </p:nvPr>
        </p:nvSpPr>
        <p:spPr>
          <a:xfrm>
            <a:off x="250825" y="2121700"/>
            <a:ext cx="86424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44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8"/>
          <p:cNvSpPr txBox="1"/>
          <p:nvPr>
            <p:ph idx="3" type="body"/>
          </p:nvPr>
        </p:nvSpPr>
        <p:spPr>
          <a:xfrm>
            <a:off x="250827" y="2571751"/>
            <a:ext cx="42756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8356600" y="4863192"/>
            <a:ext cx="53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686D7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8"/>
          <p:cNvSpPr txBox="1"/>
          <p:nvPr>
            <p:ph idx="4" type="body"/>
          </p:nvPr>
        </p:nvSpPr>
        <p:spPr>
          <a:xfrm>
            <a:off x="250826" y="4236935"/>
            <a:ext cx="4816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84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8"/>
          <p:cNvSpPr txBox="1"/>
          <p:nvPr>
            <p:ph idx="5" type="body"/>
          </p:nvPr>
        </p:nvSpPr>
        <p:spPr>
          <a:xfrm>
            <a:off x="250825" y="4696792"/>
            <a:ext cx="48162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/>
          <p:nvPr/>
        </p:nvSpPr>
        <p:spPr>
          <a:xfrm>
            <a:off x="252000" y="539779"/>
            <a:ext cx="8640000" cy="40500"/>
          </a:xfrm>
          <a:prstGeom prst="rect">
            <a:avLst/>
          </a:prstGeom>
          <a:solidFill>
            <a:srgbClr val="ED00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Google Shape;7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76000" y="0"/>
            <a:ext cx="516481" cy="53978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chart" Target="../charts/chart1.xml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11" Type="http://schemas.openxmlformats.org/officeDocument/2006/relationships/image" Target="../media/image13.png"/><Relationship Id="rId10" Type="http://schemas.openxmlformats.org/officeDocument/2006/relationships/image" Target="../media/image9.png"/><Relationship Id="rId12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chart" Target="../charts/chart9.xml"/><Relationship Id="rId6" Type="http://schemas.openxmlformats.org/officeDocument/2006/relationships/chart" Target="../charts/chart10.xml"/><Relationship Id="rId7" Type="http://schemas.openxmlformats.org/officeDocument/2006/relationships/chart" Target="../charts/chart11.xml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>
            <p:ph idx="1" type="body"/>
          </p:nvPr>
        </p:nvSpPr>
        <p:spPr>
          <a:xfrm>
            <a:off x="250825" y="1558025"/>
            <a:ext cx="7322993" cy="19148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MITSUBISHI ALL-NEW TRITON</a:t>
            </a:r>
            <a:endParaRPr b="1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SOCIAL LISTENING REPORT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Timeframe: 01/01 – 30/06/2025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6" name="Google Shape;46;p1"/>
          <p:cNvSpPr txBox="1"/>
          <p:nvPr>
            <p:ph idx="2" type="body"/>
          </p:nvPr>
        </p:nvSpPr>
        <p:spPr>
          <a:xfrm>
            <a:off x="250825" y="4323132"/>
            <a:ext cx="4816230" cy="54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Mitsubishi Motors Vietnam</a:t>
            </a:r>
            <a:endParaRPr b="0" i="0" sz="11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1392207" y="1374846"/>
            <a:ext cx="1895785" cy="1430700"/>
          </a:xfrm>
          <a:prstGeom prst="roundRect">
            <a:avLst>
              <a:gd fmla="val 8279" name="adj"/>
            </a:avLst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74600" y="2862348"/>
            <a:ext cx="8895900" cy="2067000"/>
          </a:xfrm>
          <a:prstGeom prst="roundRect">
            <a:avLst>
              <a:gd fmla="val 10205" name="adj"/>
            </a:avLst>
          </a:prstGeom>
          <a:noFill/>
          <a:ln cap="flat" cmpd="sng" w="9525">
            <a:solidFill>
              <a:srgbClr val="C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>
            <p:ph type="title"/>
          </p:nvPr>
        </p:nvSpPr>
        <p:spPr>
          <a:xfrm>
            <a:off x="174601" y="50363"/>
            <a:ext cx="4155992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KEY INDICATOR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9280" y="606332"/>
            <a:ext cx="8985440" cy="731171"/>
          </a:xfrm>
          <a:prstGeom prst="rect">
            <a:avLst/>
          </a:prstGeom>
          <a:solidFill>
            <a:srgbClr val="98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174599" y="620362"/>
            <a:ext cx="8830608" cy="689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Discussions about the </a:t>
            </a:r>
            <a:r>
              <a:rPr b="1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All-New Triton </a:t>
            </a: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were mainly concentrated in </a:t>
            </a:r>
            <a:r>
              <a:rPr b="1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Q1 2025</a:t>
            </a: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, driven by activities related to the event “</a:t>
            </a: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Triton Experience Days 2025”</a:t>
            </a:r>
            <a:endParaRPr b="0" i="0" sz="13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Mitsubishi Motors Vietnam, Hội Mitsubishi Triton Việt Nam™ (TritonClubVN), GearUpVN…</a:t>
            </a: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were the main source of discussion about All-New Triton</a:t>
            </a:r>
            <a:endParaRPr b="0" i="0" sz="13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32.6% positive </a:t>
            </a: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came from branding activities and customer experience related to the engine</a:t>
            </a:r>
            <a:endParaRPr b="0" i="0" sz="13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3.6% negative </a:t>
            </a: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was the experience and reviews about Rear suspension issues</a:t>
            </a:r>
            <a:endParaRPr b="0" i="0" sz="13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The All-New Triton was also frequently compared to other </a:t>
            </a:r>
            <a:r>
              <a:rPr b="1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pickup models </a:t>
            </a:r>
            <a:r>
              <a:rPr b="0" i="0" lang="en-US" sz="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in terms of engine performance, pricing, and design features.</a:t>
            </a:r>
            <a:endParaRPr b="0" i="0" sz="800" u="none" cap="none" strike="noStrike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6706900" y="3087500"/>
            <a:ext cx="2220900" cy="18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Over the last 6 months, The All-New Triton has recorded </a:t>
            </a: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&gt;35k 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discussions/mentions: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•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32% comparison with competitors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•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26% performance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•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20.1% exterior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•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12.5% pricing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Sentiment breakdown for the All–New Triton: </a:t>
            </a:r>
            <a:r>
              <a:rPr b="1" i="0" lang="en-US" sz="800" u="none" cap="none" strike="noStrike">
                <a:solidFill>
                  <a:srgbClr val="434343"/>
                </a:solidFill>
                <a:highlight>
                  <a:srgbClr val="F3F3F3"/>
                </a:highlight>
                <a:latin typeface="Play"/>
                <a:ea typeface="Play"/>
                <a:cs typeface="Play"/>
                <a:sym typeface="Play"/>
              </a:rPr>
              <a:t>63.8% neutral</a:t>
            </a:r>
            <a:r>
              <a:rPr b="1" i="0" lang="en-US" sz="800" u="none" cap="none" strike="noStrike">
                <a:solidFill>
                  <a:srgbClr val="FFFF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|</a:t>
            </a:r>
            <a:r>
              <a:rPr b="1" i="0" lang="en-US" sz="800" u="none" cap="none" strike="noStrike">
                <a:solidFill>
                  <a:srgbClr val="FFFF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800" u="none" cap="none" strike="noStrike">
                <a:solidFill>
                  <a:srgbClr val="38761D"/>
                </a:solidFill>
                <a:highlight>
                  <a:srgbClr val="D9EAD3"/>
                </a:highlight>
                <a:latin typeface="Play"/>
                <a:ea typeface="Play"/>
                <a:cs typeface="Play"/>
                <a:sym typeface="Play"/>
              </a:rPr>
              <a:t>32.6% positive</a:t>
            </a:r>
            <a:r>
              <a:rPr b="1" i="0" lang="en-US" sz="800" u="none" cap="none" strike="noStrike">
                <a:solidFill>
                  <a:srgbClr val="FFFF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800" u="none" cap="none" strike="noStrike">
                <a:solidFill>
                  <a:srgbClr val="0E0E0E"/>
                </a:solidFill>
                <a:latin typeface="Play"/>
                <a:ea typeface="Play"/>
                <a:cs typeface="Play"/>
                <a:sym typeface="Play"/>
              </a:rPr>
              <a:t>|</a:t>
            </a:r>
            <a:r>
              <a:rPr b="1" i="0" lang="en-US" sz="800" u="none" cap="none" strike="noStrike">
                <a:solidFill>
                  <a:srgbClr val="FFFF00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1" i="0" lang="en-US" sz="800" u="none" cap="none" strike="noStrike">
                <a:solidFill>
                  <a:srgbClr val="CC0000"/>
                </a:solidFill>
                <a:highlight>
                  <a:srgbClr val="EA9999"/>
                </a:highlight>
                <a:latin typeface="Play"/>
                <a:ea typeface="Play"/>
                <a:cs typeface="Play"/>
                <a:sym typeface="Play"/>
              </a:rPr>
              <a:t>3.6% negative</a:t>
            </a:r>
            <a:endParaRPr b="1" i="0" sz="800" u="none" cap="none" strike="noStrike">
              <a:solidFill>
                <a:srgbClr val="CC0000"/>
              </a:solidFill>
              <a:highlight>
                <a:srgbClr val="EA9999"/>
              </a:highlight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285" y="1305885"/>
            <a:ext cx="903300" cy="9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 txBox="1"/>
          <p:nvPr/>
        </p:nvSpPr>
        <p:spPr>
          <a:xfrm>
            <a:off x="2237406" y="2248440"/>
            <a:ext cx="1050586" cy="584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16,005</a:t>
            </a:r>
            <a:endParaRPr b="0" i="0" sz="12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of posts and shares.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re Special Lineal color icon | Freepik" id="60" name="Google Shape;6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18118" y="1554723"/>
            <a:ext cx="628042" cy="62799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-45074" y="2159293"/>
            <a:ext cx="1469705" cy="7540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0000FF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9,401,380</a:t>
            </a:r>
            <a:endParaRPr b="0" i="0" sz="1500" u="none" cap="none" strike="noStrike">
              <a:solidFill>
                <a:srgbClr val="0000FF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Total Interactions &amp; Views </a:t>
            </a:r>
            <a:endParaRPr b="0" i="0" sz="11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omment - Free social media icons" id="62" name="Google Shape;6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8293" y="1490818"/>
            <a:ext cx="760350" cy="71836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1465878" y="2248440"/>
            <a:ext cx="912829" cy="4770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35,929</a:t>
            </a:r>
            <a:endParaRPr b="0" i="0" sz="1200" u="none" cap="none" strike="noStrik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discussions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6443330" y="4898750"/>
            <a:ext cx="2700670" cy="2515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1" lang="en-U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Views were counted on Tiktok, Youtube &amp; Facebook only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1" lang="en-U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Display Comments/Shares: numbers of comments/shares display on the post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1" lang="en-US" sz="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Collectable Comments/Share: numbers of comments/shares were collected by Socialite system.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 rot="5400000">
            <a:off x="1046305" y="1911626"/>
            <a:ext cx="774800" cy="275125"/>
          </a:xfrm>
          <a:prstGeom prst="flowChartExtract">
            <a:avLst/>
          </a:prstGeom>
          <a:solidFill>
            <a:srgbClr val="C0000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1174936" y="2892566"/>
            <a:ext cx="2220896" cy="3009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Discussions Topic (%)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4076672" y="2883167"/>
            <a:ext cx="27432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Sentiment on All-New Triton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" name="Google Shape;68;p2"/>
          <p:cNvGraphicFramePr/>
          <p:nvPr/>
        </p:nvGraphicFramePr>
        <p:xfrm>
          <a:off x="3368046" y="1374469"/>
          <a:ext cx="1887578" cy="1465572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id="69" name="Google Shape;69;p2"/>
          <p:cNvSpPr/>
          <p:nvPr/>
        </p:nvSpPr>
        <p:spPr>
          <a:xfrm>
            <a:off x="3332078" y="1384571"/>
            <a:ext cx="1929300" cy="1430700"/>
          </a:xfrm>
          <a:prstGeom prst="roundRect">
            <a:avLst>
              <a:gd fmla="val 8279" name="adj"/>
            </a:avLst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 txBox="1"/>
          <p:nvPr/>
        </p:nvSpPr>
        <p:spPr>
          <a:xfrm>
            <a:off x="382231" y="4677241"/>
            <a:ext cx="391573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1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on: 6,767 discussion excluding branding activity labels, sales labels…</a:t>
            </a:r>
            <a:endParaRPr b="0" i="1" sz="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13433" y="1374469"/>
            <a:ext cx="3757200" cy="1384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"/>
          <p:cNvSpPr/>
          <p:nvPr/>
        </p:nvSpPr>
        <p:spPr>
          <a:xfrm>
            <a:off x="5305480" y="1370648"/>
            <a:ext cx="3773100" cy="1430700"/>
          </a:xfrm>
          <a:prstGeom prst="roundRect">
            <a:avLst>
              <a:gd fmla="val 8279" name="adj"/>
            </a:avLst>
          </a:prstGeom>
          <a:noFill/>
          <a:ln cap="flat" cmpd="sng" w="9525">
            <a:solidFill>
              <a:srgbClr val="C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6904449" y="1574508"/>
            <a:ext cx="296400" cy="207600"/>
          </a:xfrm>
          <a:prstGeom prst="rect">
            <a:avLst/>
          </a:prstGeom>
          <a:noFill/>
          <a:ln cap="flat" cmpd="sng" w="9525">
            <a:solidFill>
              <a:srgbClr val="E36C0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7158711" y="1331958"/>
            <a:ext cx="1769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Mini-game on Fanpage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Triton Experience Days event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Sharing pickup truck usage purposes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7596447" y="1953699"/>
            <a:ext cx="1547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Mitsubishi Festival 2025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5577283" y="1360013"/>
            <a:ext cx="1162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Buzz trendline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2236" y="3273688"/>
            <a:ext cx="3723465" cy="13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03838" y="3243992"/>
            <a:ext cx="2088900" cy="1552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/>
          <p:nvPr/>
        </p:nvSpPr>
        <p:spPr>
          <a:xfrm>
            <a:off x="-63054" y="36650"/>
            <a:ext cx="74277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CUSTOMER PERCEPTION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693389" y="581059"/>
            <a:ext cx="1738348" cy="218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Performance (32%)</a:t>
            </a:r>
            <a:endParaRPr b="1" i="0" sz="11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5" name="Google Shape;85;p3"/>
          <p:cNvGraphicFramePr/>
          <p:nvPr/>
        </p:nvGraphicFramePr>
        <p:xfrm>
          <a:off x="323197" y="753993"/>
          <a:ext cx="3563004" cy="1565613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86" name="Google Shape;86;p3"/>
          <p:cNvGraphicFramePr/>
          <p:nvPr/>
        </p:nvGraphicFramePr>
        <p:xfrm>
          <a:off x="4787300" y="753993"/>
          <a:ext cx="3452809" cy="1565613"/>
        </p:xfrm>
        <a:graphic>
          <a:graphicData uri="http://schemas.openxmlformats.org/drawingml/2006/chart">
            <c:chart r:id="rId4"/>
          </a:graphicData>
        </a:graphic>
      </p:graphicFrame>
      <p:cxnSp>
        <p:nvCxnSpPr>
          <p:cNvPr id="87" name="Google Shape;87;p3"/>
          <p:cNvCxnSpPr/>
          <p:nvPr/>
        </p:nvCxnSpPr>
        <p:spPr>
          <a:xfrm>
            <a:off x="4682359" y="774744"/>
            <a:ext cx="0" cy="15983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88" name="Google Shape;88;p3"/>
          <p:cNvGraphicFramePr/>
          <p:nvPr/>
        </p:nvGraphicFramePr>
        <p:xfrm>
          <a:off x="331793" y="3021611"/>
          <a:ext cx="3563004" cy="1621293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89" name="Google Shape;89;p3"/>
          <p:cNvSpPr txBox="1"/>
          <p:nvPr/>
        </p:nvSpPr>
        <p:spPr>
          <a:xfrm>
            <a:off x="4743079" y="587064"/>
            <a:ext cx="2501400" cy="218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Exterior (26%)</a:t>
            </a:r>
            <a:endParaRPr b="1" i="0" sz="11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936883" y="2830571"/>
            <a:ext cx="1406860" cy="218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Pricing (12.5%)</a:t>
            </a:r>
            <a:endParaRPr b="1" i="0" sz="11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5209021" y="2823895"/>
            <a:ext cx="1569516" cy="21858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Interior (9.3%)</a:t>
            </a:r>
            <a:endParaRPr b="1" i="0" sz="1100" u="none" cap="none" strike="noStrik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3"/>
          <p:cNvGraphicFramePr/>
          <p:nvPr/>
        </p:nvGraphicFramePr>
        <p:xfrm>
          <a:off x="4834597" y="3019402"/>
          <a:ext cx="3452809" cy="1621293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id="93" name="Google Shape;93;p3"/>
          <p:cNvGraphicFramePr/>
          <p:nvPr/>
        </p:nvGraphicFramePr>
        <p:xfrm>
          <a:off x="3943764" y="816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{9A2F68F5-3DCA-4795-B79B-72268EC39BE3}</a:tableStyleId>
              </a:tblPr>
              <a:tblGrid>
                <a:gridCol w="457425"/>
              </a:tblGrid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48,5%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23,9%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8,6%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5,7%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94" name="Google Shape;94;p3"/>
          <p:cNvSpPr txBox="1"/>
          <p:nvPr/>
        </p:nvSpPr>
        <p:spPr>
          <a:xfrm>
            <a:off x="113546" y="4564051"/>
            <a:ext cx="4460393" cy="51413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2WD AT GLX 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attracted many price discussions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2WD AT GLX is </a:t>
            </a: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considered overpriced 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its limited features, while the Athlete version is seen as </a:t>
            </a: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 expensive compared to competitors.</a:t>
            </a:r>
            <a:endParaRPr b="1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5" name="Google Shape;95;p3"/>
          <p:cNvGraphicFramePr/>
          <p:nvPr/>
        </p:nvGraphicFramePr>
        <p:xfrm>
          <a:off x="8345049" y="816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{9A2F68F5-3DCA-4795-B79B-72268EC39BE3}</a:tableStyleId>
              </a:tblPr>
              <a:tblGrid>
                <a:gridCol w="457425"/>
              </a:tblGrid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94,3%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1,7%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aphicFrame>
        <p:nvGraphicFramePr>
          <p:cNvPr id="96" name="Google Shape;96;p3"/>
          <p:cNvGraphicFramePr/>
          <p:nvPr/>
        </p:nvGraphicFramePr>
        <p:xfrm>
          <a:off x="3955097" y="30491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{9A2F68F5-3DCA-4795-B79B-72268EC39BE3}</a:tableStyleId>
              </a:tblPr>
              <a:tblGrid>
                <a:gridCol w="457425"/>
              </a:tblGrid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53,3%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29,7%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11,1%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2,1%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cxnSp>
        <p:nvCxnSpPr>
          <p:cNvPr id="97" name="Google Shape;97;p3"/>
          <p:cNvCxnSpPr/>
          <p:nvPr/>
        </p:nvCxnSpPr>
        <p:spPr>
          <a:xfrm>
            <a:off x="4669221" y="2994616"/>
            <a:ext cx="0" cy="159835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8" name="Google Shape;98;p3"/>
          <p:cNvGraphicFramePr/>
          <p:nvPr/>
        </p:nvGraphicFramePr>
        <p:xfrm>
          <a:off x="8345048" y="30785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{9A2F68F5-3DCA-4795-B79B-72268EC39BE3}</a:tableStyleId>
              </a:tblPr>
              <a:tblGrid>
                <a:gridCol w="457425"/>
              </a:tblGrid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40,6%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20,7%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10,2%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99" name="Google Shape;99;p3"/>
          <p:cNvSpPr txBox="1"/>
          <p:nvPr/>
        </p:nvSpPr>
        <p:spPr>
          <a:xfrm>
            <a:off x="4787300" y="2240530"/>
            <a:ext cx="4177095" cy="62122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body design is attractive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with impressive and modern color options. However, 27% of users found the design boring and less appealing than previous versions, with no significant changes in appearance.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halogen headlamps 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were unattractive and outdated.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0" name="Google Shape;100;p3"/>
          <p:cNvGraphicFramePr/>
          <p:nvPr/>
        </p:nvGraphicFramePr>
        <p:xfrm>
          <a:off x="2246008" y="1410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{4DAD28D4-AA8B-4B2A-83F1-EB518E37F37C}</a:tableStyleId>
              </a:tblPr>
              <a:tblGrid>
                <a:gridCol w="531450"/>
                <a:gridCol w="531450"/>
                <a:gridCol w="531450"/>
              </a:tblGrid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5,8%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4,7%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3,1%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0,3%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aphicFrame>
        <p:nvGraphicFramePr>
          <p:cNvPr id="101" name="Google Shape;101;p3"/>
          <p:cNvGraphicFramePr/>
          <p:nvPr/>
        </p:nvGraphicFramePr>
        <p:xfrm>
          <a:off x="6251867" y="11252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{4DAD28D4-AA8B-4B2A-83F1-EB518E37F37C}</a:tableStyleId>
              </a:tblPr>
              <a:tblGrid>
                <a:gridCol w="531450"/>
                <a:gridCol w="531450"/>
                <a:gridCol w="531450"/>
              </a:tblGrid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0,2%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0,2%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1,6%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0,2%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1,6%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0,5%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0,7%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aphicFrame>
        <p:nvGraphicFramePr>
          <p:cNvPr id="102" name="Google Shape;102;p3"/>
          <p:cNvGraphicFramePr/>
          <p:nvPr/>
        </p:nvGraphicFramePr>
        <p:xfrm>
          <a:off x="2049828" y="36482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{4DAD28D4-AA8B-4B2A-83F1-EB518E37F37C}</a:tableStyleId>
              </a:tblPr>
              <a:tblGrid>
                <a:gridCol w="531450"/>
                <a:gridCol w="531450"/>
                <a:gridCol w="531450"/>
              </a:tblGrid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11,1%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0,6%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aphicFrame>
        <p:nvGraphicFramePr>
          <p:cNvPr id="103" name="Google Shape;103;p3"/>
          <p:cNvGraphicFramePr/>
          <p:nvPr/>
        </p:nvGraphicFramePr>
        <p:xfrm>
          <a:off x="6645771" y="36543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{4DAD28D4-AA8B-4B2A-83F1-EB518E37F37C}</a:tableStyleId>
              </a:tblPr>
              <a:tblGrid>
                <a:gridCol w="531450"/>
                <a:gridCol w="531450"/>
                <a:gridCol w="531450"/>
              </a:tblGrid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3,1%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5,1%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5,3%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3,4%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6,9%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  <a:tr h="28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3,1%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2,3%</a:t>
                      </a:r>
                      <a:endParaRPr sz="1400" u="none" cap="none" strike="noStrike"/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graphicFrame>
        <p:nvGraphicFramePr>
          <p:cNvPr id="104" name="Google Shape;104;p3"/>
          <p:cNvGraphicFramePr/>
          <p:nvPr/>
        </p:nvGraphicFramePr>
        <p:xfrm>
          <a:off x="-77127" y="960240"/>
          <a:ext cx="770516" cy="1088250"/>
        </p:xfrm>
        <a:graphic>
          <a:graphicData uri="http://schemas.openxmlformats.org/drawingml/2006/chart">
            <c:chart r:id="rId7"/>
          </a:graphicData>
        </a:graphic>
      </p:graphicFrame>
      <p:sp>
        <p:nvSpPr>
          <p:cNvPr id="105" name="Google Shape;105;p3"/>
          <p:cNvSpPr txBox="1"/>
          <p:nvPr/>
        </p:nvSpPr>
        <p:spPr>
          <a:xfrm>
            <a:off x="167991" y="2294669"/>
            <a:ext cx="4501230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2.4L Bi-Turbo engine 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offers smooth performance and confident handling on mountain roads, </a:t>
            </a: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4WD and 7 driving modes.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However, </a:t>
            </a: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2.4 engine is weaker and noisier than the 2.0L</a:t>
            </a:r>
            <a:r>
              <a:rPr b="1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Rear suspension leaks oil 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shifts to one side when started.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637845" y="4479657"/>
            <a:ext cx="4392609" cy="65758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Comfortable, spacious interior 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good sound insulation and air conditioning.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Despite its large exterior, the cabin feels cramped to some users.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Stereo System and speakers 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are perceived to be of lower quality compared to competitors.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Customers complain about the </a:t>
            </a: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removal of the paddle shifter </a:t>
            </a: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the All-New Triton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3959317" y="585812"/>
            <a:ext cx="38830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8379605" y="592833"/>
            <a:ext cx="38830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8392421" y="2800339"/>
            <a:ext cx="38830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3993987" y="2795378"/>
            <a:ext cx="388302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4"/>
          <p:cNvGraphicFramePr/>
          <p:nvPr/>
        </p:nvGraphicFramePr>
        <p:xfrm>
          <a:off x="5688277" y="2581578"/>
          <a:ext cx="2758200" cy="17616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7" name="Google Shape;117;p4"/>
          <p:cNvSpPr txBox="1"/>
          <p:nvPr/>
        </p:nvSpPr>
        <p:spPr>
          <a:xfrm>
            <a:off x="153250" y="35326"/>
            <a:ext cx="8463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COMPARISON ALL–NEW TRITON VS. COMPETITORS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" name="Google Shape;118;p4"/>
          <p:cNvGraphicFramePr/>
          <p:nvPr/>
        </p:nvGraphicFramePr>
        <p:xfrm>
          <a:off x="182188" y="664337"/>
          <a:ext cx="3057600" cy="2821500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119" name="Google Shape;119;p4"/>
          <p:cNvGraphicFramePr/>
          <p:nvPr/>
        </p:nvGraphicFramePr>
        <p:xfrm>
          <a:off x="2615064" y="536715"/>
          <a:ext cx="2758200" cy="1761600"/>
        </p:xfrm>
        <a:graphic>
          <a:graphicData uri="http://schemas.openxmlformats.org/drawingml/2006/chart">
            <c:chart r:id="rId5"/>
          </a:graphicData>
        </a:graphic>
      </p:graphicFrame>
      <p:graphicFrame>
        <p:nvGraphicFramePr>
          <p:cNvPr id="120" name="Google Shape;120;p4"/>
          <p:cNvGraphicFramePr/>
          <p:nvPr/>
        </p:nvGraphicFramePr>
        <p:xfrm>
          <a:off x="2930030" y="2661519"/>
          <a:ext cx="2758200" cy="1761600"/>
        </p:xfrm>
        <a:graphic>
          <a:graphicData uri="http://schemas.openxmlformats.org/drawingml/2006/chart">
            <c:chart r:id="rId6"/>
          </a:graphicData>
        </a:graphic>
      </p:graphicFrame>
      <p:graphicFrame>
        <p:nvGraphicFramePr>
          <p:cNvPr id="121" name="Google Shape;121;p4"/>
          <p:cNvGraphicFramePr/>
          <p:nvPr/>
        </p:nvGraphicFramePr>
        <p:xfrm>
          <a:off x="5072083" y="760130"/>
          <a:ext cx="2486400" cy="1731900"/>
        </p:xfrm>
        <a:graphic>
          <a:graphicData uri="http://schemas.openxmlformats.org/drawingml/2006/chart">
            <c:chart r:id="rId7"/>
          </a:graphicData>
        </a:graphic>
      </p:graphicFrame>
      <p:sp>
        <p:nvSpPr>
          <p:cNvPr id="122" name="Google Shape;122;p4"/>
          <p:cNvSpPr txBox="1"/>
          <p:nvPr/>
        </p:nvSpPr>
        <p:spPr>
          <a:xfrm>
            <a:off x="228592" y="3353212"/>
            <a:ext cx="23211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195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Competitor mentions account for over </a:t>
            </a:r>
            <a:r>
              <a:rPr b="1" i="0" lang="en-US" sz="11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6% </a:t>
            </a:r>
            <a:r>
              <a:rPr b="0" i="0" lang="en-US" sz="11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 the total discussion</a:t>
            </a:r>
            <a:endParaRPr b="0" i="0" sz="11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2471441" y="582785"/>
            <a:ext cx="10350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All-New-Triton</a:t>
            </a:r>
            <a:r>
              <a:rPr b="0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has a better overall </a:t>
            </a:r>
            <a:r>
              <a:rPr b="1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r>
              <a:rPr b="0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superior durability </a:t>
            </a:r>
            <a:r>
              <a:rPr b="0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compared to the Ranger.</a:t>
            </a:r>
            <a:endParaRPr b="0" i="0" sz="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542600" y="507469"/>
            <a:ext cx="1145700" cy="6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Arial"/>
              <a:buChar char="•"/>
            </a:pPr>
            <a:r>
              <a:rPr b="1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Poor driving feel, 2.4 Bi-Turbo engine is not more powerful </a:t>
            </a:r>
            <a:r>
              <a:rPr b="0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than Ranger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All-New Triton cannot replace the Ranger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4248287" y="2322310"/>
            <a:ext cx="14019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All-New-Triton has </a:t>
            </a:r>
            <a:r>
              <a:rPr b="1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weak engine </a:t>
            </a:r>
            <a:r>
              <a:rPr b="0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bad driving feeling</a:t>
            </a:r>
            <a:r>
              <a:rPr b="0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compared to Navara</a:t>
            </a:r>
            <a:endParaRPr b="0" i="0" sz="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3322010" y="2553568"/>
            <a:ext cx="10089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Stronger, more aggressive design </a:t>
            </a:r>
            <a:r>
              <a:rPr b="0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than Navara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D RANGER XLT 3.0 (4x4) Novated Lease | Save Thousands" id="127" name="Google Shape;12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98334" y="933490"/>
            <a:ext cx="649951" cy="622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een NCAP assessment of the Ford Ranger Raptor 3.0 EcoBoost petrol 4x4  automatic, 2023" id="128" name="Google Shape;128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84763" y="1359764"/>
            <a:ext cx="555460" cy="3559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ộ diện Nissan Navara đời mới đủ sức đối đầu Ford Ranger Raptor - Blog Xe  Hơi Carmudi" id="129" name="Google Shape;12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73693" y="3332580"/>
            <a:ext cx="830888" cy="452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SUZU DMAX 2025 PRESTIGE 4x2 MT 1 Cầu Số Sàn" id="130" name="Google Shape;130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26583" y="3247720"/>
            <a:ext cx="704283" cy="449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497404" y="548841"/>
            <a:ext cx="16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Competitors mentions</a:t>
            </a:r>
            <a:endParaRPr b="0" i="0" sz="1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oyota Hilux 2025 | Giá bán, Kh/Mãi | Toyota Bắc Ninh" id="132" name="Google Shape;132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90782" y="1435245"/>
            <a:ext cx="1089645" cy="41298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5726106" y="521607"/>
            <a:ext cx="15849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All-New Triton is </a:t>
            </a:r>
            <a:r>
              <a:rPr b="1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more durable, better-looking</a:t>
            </a:r>
            <a:r>
              <a:rPr b="0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, and has a more </a:t>
            </a:r>
            <a:r>
              <a:rPr b="1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impressive interior </a:t>
            </a:r>
            <a:r>
              <a:rPr b="0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than Hilux.</a:t>
            </a:r>
            <a:endParaRPr b="0" i="0" sz="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933376" y="933508"/>
            <a:ext cx="12627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Compared to the Hilux, the All-New Triton is complain for its </a:t>
            </a:r>
            <a:r>
              <a:rPr b="1" i="0" lang="en-US" sz="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less appealing design</a:t>
            </a:r>
            <a:r>
              <a:rPr b="0" i="0" lang="en-US" sz="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expensive spare parts</a:t>
            </a:r>
            <a:r>
              <a:rPr b="0" i="0" lang="en-US" sz="7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, and limited options in the base version.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5606667" y="2581579"/>
            <a:ext cx="10908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All-New-Triton is rated for powerful performance and advanced technology.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468822" y="2553466"/>
            <a:ext cx="1224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D-Max performs better than All-New Triton.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2357598" y="1781900"/>
            <a:ext cx="1262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Sales comparison between the Ranger and Triton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Ask for opinions on the mechanical differences between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Char char="•"/>
            </a:pPr>
            <a:r>
              <a:rPr b="0" i="0" lang="en-US" sz="7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Which model is worth buying?</a:t>
            </a:r>
            <a:endParaRPr b="0" i="0" sz="7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6899632" y="1745735"/>
            <a:ext cx="1330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Sharing the experience of driving the Hilux.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Mention about Hilux comparison with Triton</a:t>
            </a:r>
            <a:endParaRPr b="0" i="0" sz="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2629306" y="3495433"/>
            <a:ext cx="12444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Share the impressions of Navara vs Triton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Compare Navara with other pickup brands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5761691" y="3875079"/>
            <a:ext cx="11478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Request opinions comparing Triton and D-Max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-24950" y="4479850"/>
            <a:ext cx="6552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Comparison with Hilux:</a:t>
            </a:r>
            <a:endParaRPr b="1" i="0" sz="9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-&gt; </a:t>
            </a:r>
            <a:r>
              <a:rPr b="1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The 2.4L Bi-Turbo </a:t>
            </a:r>
            <a:r>
              <a:rPr b="0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engine is a key strength, offering a better driving experience than Hilux</a:t>
            </a:r>
            <a:endParaRPr b="0" i="0" sz="9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-&gt; Triton's </a:t>
            </a:r>
            <a:r>
              <a:rPr b="1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off-road</a:t>
            </a:r>
            <a:r>
              <a:rPr b="0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 driving performance is rated higher than that of the Hilux</a:t>
            </a:r>
            <a:endParaRPr b="0" i="0" sz="9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-&gt; The Triton's </a:t>
            </a:r>
            <a:r>
              <a:rPr b="1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interior </a:t>
            </a:r>
            <a:r>
              <a:rPr b="0" i="0" lang="en-US" sz="9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is slightly better than the Hilux's.</a:t>
            </a:r>
            <a:endParaRPr b="0" i="0" sz="9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06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/>
          <p:nvPr/>
        </p:nvSpPr>
        <p:spPr>
          <a:xfrm>
            <a:off x="850765" y="2710898"/>
            <a:ext cx="3311400" cy="27690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  <a:t>Top Positive Conversation:</a:t>
            </a:r>
            <a:endParaRPr b="1" i="0" sz="1200" u="none" cap="none" strike="noStrike">
              <a:solidFill>
                <a:srgbClr val="00B05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185911" y="57150"/>
            <a:ext cx="2598110" cy="4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KEY FINDINGS</a:t>
            </a:r>
            <a:endParaRPr b="0" i="0" sz="2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636816" y="3036909"/>
            <a:ext cx="3771900" cy="1353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(31%) Branding activities received the most positive mentions in the first half of 2025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event and user reviews of the All-New Triton’s off-road performance.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(29.1%) The 2.4L Bi-Turbo engine 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offers smooth performance and confident handling on mountain roads, with 4WD and 7 driving modes.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(32.7%) Comfortable, spacious interior 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with good sound insulation and air conditioning  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Additionally, (</a:t>
            </a: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48%) the design and body styling 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are seen as more modern and attractive compared to previous versions.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5410815" y="2681136"/>
            <a:ext cx="3311400" cy="276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0000"/>
                </a:solidFill>
                <a:latin typeface="Play"/>
                <a:ea typeface="Play"/>
                <a:cs typeface="Play"/>
                <a:sym typeface="Play"/>
              </a:rPr>
              <a:t>Top Negative Conversation:</a:t>
            </a:r>
            <a:endParaRPr b="1" i="0" sz="1200" u="none" cap="none" strike="noStrike">
              <a:solidFill>
                <a:srgbClr val="C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5103696" y="3080599"/>
            <a:ext cx="3771900" cy="1227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6.1% of mentions rear suspension leaks oil. </a:t>
            </a:r>
            <a:endParaRPr b="1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(5.2%) The 2.4L engine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is weaker than the Ranger’s, and the handling is not smooth 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(7.2%) Cramped interior space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, especially when compared to its large exterior 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(3.4%) High price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for base models with fewer options. 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(0.1%) The grille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has received more negative design feedback compared to previous versions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5325815" y="749744"/>
            <a:ext cx="3311400" cy="276900"/>
          </a:xfrm>
          <a:prstGeom prst="rect">
            <a:avLst/>
          </a:prstGeom>
          <a:noFill/>
          <a:ln cap="flat" cmpd="sng" w="9525">
            <a:solidFill>
              <a:srgbClr val="3F3F3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Play"/>
                <a:ea typeface="Play"/>
                <a:cs typeface="Play"/>
                <a:sym typeface="Play"/>
              </a:rPr>
              <a:t>Comparisons with Competitors</a:t>
            </a:r>
            <a:endParaRPr b="1" i="0" sz="1200" u="none" cap="none" strike="noStrike">
              <a:solidFill>
                <a:srgbClr val="595959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5103703" y="1098210"/>
            <a:ext cx="3771900" cy="1353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93675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(0.3%) All-New Triton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is perceived to have relatively high maintenance costs compared to its competitors. 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193675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(14%) Ranger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is rated higher than the Triton for its popularity and stylish design, and is preferred for driving enjoyment despite having less power. It also leads in pickup brand sales 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193675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(2.9%) Hilux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: All-New Triton is more durable, better-looking, and has a more impressive interior than Hilux. </a:t>
            </a:r>
            <a:endParaRPr b="0" i="0" sz="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-193675" lvl="0" marL="2000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1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(0.2%) Hilux </a:t>
            </a:r>
            <a:r>
              <a:rPr b="0" i="0" lang="en-US" sz="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is more durable with lower maintenance needs than All-New Triton.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755056" y="757243"/>
            <a:ext cx="3311400" cy="276900"/>
          </a:xfrm>
          <a:prstGeom prst="rect">
            <a:avLst/>
          </a:prstGeom>
          <a:noFill/>
          <a:ln cap="flat" cmpd="sng" w="9525">
            <a:solidFill>
              <a:srgbClr val="0070C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Play"/>
                <a:ea typeface="Play"/>
                <a:cs typeface="Play"/>
                <a:sym typeface="Play"/>
              </a:rPr>
              <a:t>Overview about Mitsubishi All-New Triton</a:t>
            </a:r>
            <a:endParaRPr b="1" i="0" sz="1200" u="none" cap="none" strike="noStrike">
              <a:solidFill>
                <a:srgbClr val="595959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36814" y="1105710"/>
            <a:ext cx="3771900" cy="13536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1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All-New Triton</a:t>
            </a:r>
            <a:r>
              <a:rPr b="0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recorded over &gt;35K discussions in the past 6 months, with sentiment breakdown as follows: </a:t>
            </a:r>
            <a:r>
              <a:rPr b="1" i="0" lang="en-US" sz="800" u="none" cap="none" strike="noStrike">
                <a:solidFill>
                  <a:srgbClr val="00B050"/>
                </a:solidFill>
                <a:latin typeface="Play"/>
                <a:ea typeface="Play"/>
                <a:cs typeface="Play"/>
                <a:sym typeface="Play"/>
              </a:rPr>
              <a:t>32.6% positive</a:t>
            </a:r>
            <a:r>
              <a:rPr b="1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b="1" i="0" lang="en-US" sz="800" u="none" cap="none" strike="noStrike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3.6% negative</a:t>
            </a:r>
            <a:r>
              <a:rPr b="1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, and 63.8% neutral. </a:t>
            </a:r>
            <a:endParaRPr b="1" i="0" sz="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1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Branding activities accounted for 47.6% of total discussions</a:t>
            </a:r>
            <a:r>
              <a:rPr b="0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, mainly driven by events such as the “Minigame on fanpage”(URL), Triton Experience Day 2025 (Mar), and the Mitsubishi Festival 2025 (Jun). Comparison with competitors </a:t>
            </a:r>
            <a:r>
              <a:rPr b="1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contributed 6% of total discussion</a:t>
            </a:r>
            <a:r>
              <a:rPr b="0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. </a:t>
            </a:r>
            <a:endParaRPr b="0" i="0" sz="8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-"/>
            </a:pPr>
            <a:r>
              <a:rPr b="1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2.4L Bi-Turbo and rear suspension</a:t>
            </a:r>
            <a:r>
              <a:rPr b="0" i="0" lang="en-US" sz="800" u="none" cap="none" strike="noStrike">
                <a:solidFill>
                  <a:srgbClr val="000000"/>
                </a:solidFill>
                <a:latin typeface="Play"/>
                <a:ea typeface="Play"/>
                <a:cs typeface="Play"/>
                <a:sym typeface="Play"/>
              </a:rPr>
              <a:t> were mentioned in 48.5% and 23.9% of all conversations related to performance.</a:t>
            </a:r>
            <a:endParaRPr b="0" i="0" sz="1400" u="none" cap="none" strike="noStrike">
              <a:solidFill>
                <a:srgbClr val="00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>
            <p:ph type="ctrTitle"/>
          </p:nvPr>
        </p:nvSpPr>
        <p:spPr>
          <a:xfrm>
            <a:off x="0" y="2270667"/>
            <a:ext cx="9180450" cy="536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US" sz="3000">
                <a:latin typeface="Arial"/>
                <a:ea typeface="Arial"/>
                <a:cs typeface="Arial"/>
                <a:sym typeface="Arial"/>
              </a:rPr>
              <a:t>APPENDIX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/>
          <p:nvPr>
            <p:ph type="title"/>
          </p:nvPr>
        </p:nvSpPr>
        <p:spPr>
          <a:xfrm>
            <a:off x="174600" y="103913"/>
            <a:ext cx="8431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VOICE | </a:t>
            </a:r>
            <a:r>
              <a:rPr b="1" i="0" lang="en-US" sz="2000" u="none" cap="none" strike="noStrike">
                <a:solidFill>
                  <a:schemeClr val="lt1"/>
                </a:solidFill>
                <a:highlight>
                  <a:srgbClr val="A42617"/>
                </a:highlight>
                <a:latin typeface="Arial"/>
                <a:ea typeface="Arial"/>
                <a:cs typeface="Arial"/>
                <a:sym typeface="Arial"/>
              </a:rPr>
              <a:t>PERFORMANCE</a:t>
            </a:r>
            <a:endParaRPr b="1" i="0" sz="1400" u="none" cap="none" strike="noStrike">
              <a:solidFill>
                <a:schemeClr val="lt1"/>
              </a:solidFill>
              <a:highlight>
                <a:srgbClr val="A4261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500269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039042"/>
          </a:solidFill>
          <a:ln cap="flat" cmpd="sng" w="9525">
            <a:solidFill>
              <a:srgbClr val="3652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237356" y="1121624"/>
            <a:ext cx="1119338" cy="688351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:go="http://customooxmlschemas.google.com/" textRoundtripDataId="6"/>
                  </a:ext>
                </a:extLst>
              </a:rPr>
              <a:t>2.4L</a:t>
            </a: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Bi-turbo</a:t>
            </a:r>
            <a:endParaRPr b="1" i="0" sz="900" u="none" cap="none" strike="noStrike">
              <a:solidFill>
                <a:srgbClr val="ED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(48.5%)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Pos: 29.1% | Neu: 14.1% | Neg: 5.1%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223294" y="1862326"/>
            <a:ext cx="1133400" cy="603000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REAR SUSPENSION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(23.9%)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Pos: 0.9% | Neu: 16.9% | Neg: 6.1%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223294" y="2529075"/>
            <a:ext cx="1133400" cy="941400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HANDLING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(8.6%)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5.8% | Neu: 1.4% | Neg: 1.4%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223294" y="3537525"/>
            <a:ext cx="1133400" cy="642900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SAFETY SYSTEM</a:t>
            </a:r>
            <a:endParaRPr b="1" i="0" sz="800" u="none" cap="none" strike="noStrike">
              <a:solidFill>
                <a:srgbClr val="ED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(5.7%)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0.4% | Neu: 4.7% | Neg: 0.7%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1500262" y="1112363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 than Ford Ranger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Char char="•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Durable and powerful engine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375593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0E0E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250917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A42617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270704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Customers' Expectation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3375586" y="1112363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for the driving experience &amp; engine efficiency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the engine between versions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5250910" y="1112363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Loud engine noise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Unsmooth and engine roars under acceleration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7270697" y="1112363"/>
            <a:ext cx="17943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larger engine dimension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3375592" y="1438630"/>
            <a:ext cx="1794300" cy="37431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“Cái 4H trên Triton sử dụng chạy thường xuyên dc ko? Tốc độ tối đa để chạy 4H là bao nhiêu?”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“Đi đường phố 50 km, vòng tua gần 2000 trong khi đời cũ 50km khoảng 1200 đời cũ êm ru”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5250914" y="1438630"/>
            <a:ext cx="1794300" cy="37431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"Xe này chạy ồn lắm, Chạy ngang cái máy cày”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“Thi thoảng vào đường cua , ổ gà hay sốc thì phần xe trước bánh xe có hiện tượng kêu khẹt khẹt rồi thôi”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“Nghe anh em nói chạy tốc độ cao hơi rung”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“Dải tốc 45-50. 67-70 bị gìm số bác à”</a:t>
            </a:r>
            <a:endParaRPr b="0" i="0" sz="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1500269" y="1438630"/>
            <a:ext cx="1794300" cy="37431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“Không cần phải cua dốc nhiều. Chỉ cần chạy đường mưa ướt là đã thấy hiệu quả của 4H rồi”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“Động cơ triton quá ngon” “Triton đi như máy xăng luôn. Động cơ và hộp số của nó là số 1”</a:t>
            </a:r>
            <a:endParaRPr b="0" i="0" sz="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7270699" y="1438630"/>
            <a:ext cx="1794300" cy="37431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“Triton bản này mà thông số 200hp 500nm nữa thì càng bá đạo”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“2025 chỉ để chạy dc đèo thôi chạy thành phố thì vòng tua cao kinh khủng”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1500262" y="1862348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There’s no problem with the fault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Feel secure with the warranty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3375586" y="1862348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Discuss about the suspension and the warranty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250910" y="1862348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better than the other’s old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 lifespan with no definite cure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7270697" y="1862348"/>
            <a:ext cx="17943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better solution that cans longer the using time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3375587" y="2188613"/>
            <a:ext cx="1794300" cy="276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"Triton 2024, xì dầu như này có đc bảo hành k mấy anh chị nhỉ?”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“Lỗi chung bác ơi... Vào hãng bảo hành thay mới thôi”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5250911" y="2188613"/>
            <a:ext cx="1794300" cy="276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 thấy mấy bác hội triton than phuộc sau bị xì dầu à bác? Bảo hành thay mới vẫn bị???” “Bệnh kinh niên của Triton”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“Xe đời này có vẻ kém ! Đời 2009 mình 20 vạn mới thay”</a:t>
            </a:r>
            <a:endParaRPr b="0" i="0" sz="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1500263" y="2188613"/>
            <a:ext cx="1794300" cy="276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“Cảm giác bị rồi phấn khích lắm , lên đồ vào đại lý dí thay mới”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“Chở 6kg đi 3 vạn rồi chả thấy j”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7270698" y="2188613"/>
            <a:ext cx="1794300" cy="276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“vấn đề là thay rồi sau bị tiếp á bác , phiền lắm”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 txBox="1"/>
          <p:nvPr/>
        </p:nvSpPr>
        <p:spPr>
          <a:xfrm>
            <a:off x="1475363" y="2529085"/>
            <a:ext cx="1794300" cy="381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 handling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Ride comfort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 txBox="1"/>
          <p:nvPr/>
        </p:nvSpPr>
        <p:spPr>
          <a:xfrm>
            <a:off x="3350687" y="2529085"/>
            <a:ext cx="1794300" cy="381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for the difference of handling between pick-up trucks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 txBox="1"/>
          <p:nvPr/>
        </p:nvSpPr>
        <p:spPr>
          <a:xfrm>
            <a:off x="5226011" y="2529085"/>
            <a:ext cx="1794300" cy="38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Too smoothly to be a pick-up truck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Not stable at high speeds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Heavy steering</a:t>
            </a:r>
            <a:endParaRPr b="1" i="0" sz="500" u="none" cap="none" strike="noStrik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 txBox="1"/>
          <p:nvPr/>
        </p:nvSpPr>
        <p:spPr>
          <a:xfrm>
            <a:off x="7245800" y="2529075"/>
            <a:ext cx="1800900" cy="381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3350687" y="2972952"/>
            <a:ext cx="1794300" cy="4974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“chạy k tải nó có sóc như wildtrak đời cũ k bác? e ngồi ghế sau con ford vào đường xấu sóc lộn mề 😂”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5226011" y="2972952"/>
            <a:ext cx="1794300" cy="4974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”Vô lăng nặng và chuyển số vòng tua cao nên cảm giác gầm rú của máy ko tương thích với độ êm nhẹ nhàng cảm giác xe mang lại như trước”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“Bản mới chả giống bán tải gì, nhún ghê quá em đi đèo tưởng đang lái suv say xe”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“Thế lái nặng lắm”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7"/>
          <p:cNvSpPr txBox="1"/>
          <p:nvPr/>
        </p:nvSpPr>
        <p:spPr>
          <a:xfrm>
            <a:off x="1475363" y="2972952"/>
            <a:ext cx="1794300" cy="4974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“Hổm lái thử đáp 160km/h nhẹ hều”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“Tôi chọn triton vì đi thử ford phải căng cơ chân đạp ga còn triton không cần”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“Mình chạy thấy đầm mà lướt, chắc ông đi bản cụ chứ bản mới ra chạy sướng thật”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7245800" y="2972943"/>
            <a:ext cx="1800900" cy="4974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475363" y="3537530"/>
            <a:ext cx="1794300" cy="21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Love the hand-brake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3350687" y="3537530"/>
            <a:ext cx="1794300" cy="212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the driving issues (ABS, hand-brake, etc)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5226011" y="3537530"/>
            <a:ext cx="1794300" cy="212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Disappointed with the hand-brake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7245800" y="3537526"/>
            <a:ext cx="1800900" cy="21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Electronic Parking Brake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3350687" y="3799031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"Chạy tốc độ 60km/h - ôm cua hoặc lách né gì đó thường có cảm giác cạ cạ gì ở phía trước nhỉ 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“Mọi người thích phanh tay điện tử chứ mình chả thích tý nào”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 txBox="1"/>
          <p:nvPr/>
        </p:nvSpPr>
        <p:spPr>
          <a:xfrm>
            <a:off x="5226011" y="3799035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“Cái phanh tay điện tử nữa bố ơi, và rất nhiều cái ranger có mà nó không có”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“Điểm trừ duy nhất là mọi thứ đang hiện đại thì có sự xuất hiện của phanh tay cơ thôi”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475363" y="3799035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“Phanh tay cơ với đúng chất bán tải bác ạ, Drift”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“Giá trị cốt lõi là cái phanh tay đó”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“Bán tải tớ thấy phanh tay điện tử không hợp, để phanh cơ nhìn đúng chất hơn”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7245800" y="3799032"/>
            <a:ext cx="18009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“Có phanh tay điện tử thì mới sang đẹp hơn”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“Con này có thêm phanh tự động và giữ làn đường thì ngon”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223294" y="4232775"/>
            <a:ext cx="1133400" cy="734400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DRIVESHAFT</a:t>
            </a:r>
            <a:endParaRPr b="1" i="0" sz="800" u="none" cap="none" strike="noStrike">
              <a:solidFill>
                <a:srgbClr val="ED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(5.4%)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3.1% | Neu: 2.0% | Neg: 0.3%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1475372" y="4232780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Better than Ford Ranger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3350696" y="4232780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demand between versions  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5226021" y="4232780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The 2WD version has heavy steering.</a:t>
            </a:r>
            <a:endParaRPr b="1" i="0" sz="500" u="none" cap="none" strike="noStrik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7245875" y="4232779"/>
            <a:ext cx="18009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RWD / AWD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3350684" y="4563713"/>
            <a:ext cx="1794300" cy="405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"Bác có thường xuyên sử dụng 2 cầu ko, off bản GLX liệu có ổn ko nhỉ”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“Bán tải phải 2 cầu, 1 cầu thì mua bán tải làm gì”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5226005" y="4563713"/>
            <a:ext cx="1794300" cy="405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“Đi phố 1 cầu Triton vẫn trợ lực dầu hơi nặng”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“bản 1 cầu thì k lực bằng bản này đâu”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1475363" y="4563713"/>
            <a:ext cx="1794300" cy="405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“Nói về dẫn động thì ranger gọi triton bằng cụ”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“Có cái AWD của Triton đi tốc lớn đường nhựa thích thật”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“Nói về hệ dẫn động tầm giá này triton tốp một vô đối”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 txBox="1"/>
          <p:nvPr/>
        </p:nvSpPr>
        <p:spPr>
          <a:xfrm>
            <a:off x="7245856" y="4563713"/>
            <a:ext cx="1800900" cy="405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“Chờ mãi bản 2 cầu số sàn mà vẫn chưa thấy đâu, hơi hụt hẫng thật sự”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“Nếu có phanh đĩa phía sau nữa thì tuyệt”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“Dòng Triton chỉ có bản 2 cầu mới có trợ lực điện”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7"/>
          <p:cNvCxnSpPr/>
          <p:nvPr/>
        </p:nvCxnSpPr>
        <p:spPr>
          <a:xfrm flipH="1">
            <a:off x="7145791" y="846300"/>
            <a:ext cx="24900" cy="3920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217" name="Google Shape;2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321999" y="630350"/>
            <a:ext cx="405300" cy="4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"/>
          <p:cNvSpPr txBox="1"/>
          <p:nvPr>
            <p:ph type="title"/>
          </p:nvPr>
        </p:nvSpPr>
        <p:spPr>
          <a:xfrm>
            <a:off x="174600" y="103913"/>
            <a:ext cx="8431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VOICE | </a:t>
            </a:r>
            <a:r>
              <a:rPr b="1" i="0" lang="en-US" sz="2000" u="none" cap="none" strike="noStrike">
                <a:solidFill>
                  <a:schemeClr val="lt1"/>
                </a:solidFill>
                <a:highlight>
                  <a:srgbClr val="000080"/>
                </a:highlight>
                <a:latin typeface="Arial"/>
                <a:ea typeface="Arial"/>
                <a:cs typeface="Arial"/>
                <a:sym typeface="Arial"/>
              </a:rPr>
              <a:t>EXTERIOR</a:t>
            </a:r>
            <a:endParaRPr b="1" i="0" sz="1400" u="none" cap="none" strike="noStrike">
              <a:solidFill>
                <a:schemeClr val="lt1"/>
              </a:solidFill>
              <a:highlight>
                <a:srgbClr val="00008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500269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039042"/>
          </a:solidFill>
          <a:ln cap="flat" cmpd="sng" w="9525">
            <a:solidFill>
              <a:srgbClr val="3652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223294" y="1035650"/>
            <a:ext cx="1133400" cy="760463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BODY &amp; STRUCTURE</a:t>
            </a:r>
            <a:endParaRPr b="1" i="0" sz="600" u="none" cap="none" strike="noStrike">
              <a:solidFill>
                <a:schemeClr val="lt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(94.3%)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Pos: 48.0% | Neu: 19.2% | Neg: 27.0%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223294" y="1870818"/>
            <a:ext cx="1133400" cy="655349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GRILLE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(2.0%)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Pos: 0.2% | Neu: 0.2% | Neg: 1.6%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223294" y="2607236"/>
            <a:ext cx="1133400" cy="863105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HEADLIGHTS + TAIL LIGHTS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(1.7%)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Neu: 0.2% | Neg: 1.6%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223294" y="3537525"/>
            <a:ext cx="1133400" cy="642900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WHEELS/TIRES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(1.0%)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0.5% | Neg: 0.5%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1500262" y="1112363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Rugged and tough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Commanding road presence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375593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0E0E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250917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A42617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270704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Customers' Expectation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3375586" y="1112363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joke about the design without personal opinion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 more attention to the engine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5250910" y="1112363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as beautiful as the previous versions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Thin body panels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7270697" y="1112363"/>
            <a:ext cx="17943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sport bar &amp; thinner body panels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3375592" y="1438631"/>
            <a:ext cx="1794300" cy="333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“Team thiết kế tập trung dồn lực vào làm cục máy hết òy nên ngoại hình chỉ được tới vậy thôi”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“Không chảy dầu là đc rồi anh, xấu cũng đc ạ”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5250914" y="1438631"/>
            <a:ext cx="1794300" cy="333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“Xấu hơn đời trước từ trong ra ngoài, Mitsu đặt biệt là Triton có thù với thiết kế”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“Nếu đầu xe sàn từ xforce qua thì tạm đc. còn đầu all new xấu đau”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“Tôn mỏng quá”</a:t>
            </a:r>
            <a:endParaRPr b="0" i="0" sz="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1500269" y="1438631"/>
            <a:ext cx="1794300" cy="333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“Vua bán tải ra đường là thấy nên lái chiếc này tạo dấu ấn rất tốt cho người bên ngoài”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“Ngoại thất toát lên vẻ nam tính, thiết kế mạnh mẽ”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“Triton form mới trông chiến thật”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7270699" y="1438631"/>
            <a:ext cx="1794300" cy="3339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“Có thanh thể thao nữa thì đẹp”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“Phần đầu của triton xấu cục mịch ko thanh thoát và thể thao so với ranger. Cần thay đổi thì mới đấu đc với ranger”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1500262" y="1862348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Black color is the best version of grille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3375586" y="1862348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ideas to improve the grille’s design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5250910" y="1862348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Criticize the beauty of the grille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7270697" y="1862348"/>
            <a:ext cx="17943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a more beautiful grille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3375587" y="2188613"/>
            <a:ext cx="1794300" cy="333022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“Calang sơn đen sẽ đẹp hơn rất nhiều có điểm nhấn+mặt calang lên làm dạng tổ ong sẽ đẹp hơn bặc thang thưa”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5250911" y="2188613"/>
            <a:ext cx="1794300" cy="333022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“Mặt ca lăng 3 sọc xấu kinh hoàng,ca lăng bản thấp trông còn đẹp hơn.”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“Calang nhìn nó "tù" ntn ấy bác”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1500263" y="2188613"/>
            <a:ext cx="1794300" cy="333022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“Triton mặt calang đen nhìn chất liền a nhỉ"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7270698" y="2188613"/>
            <a:ext cx="1794300" cy="333022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“Con này về thay mặt calang của ford vào thì ngon”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"/>
          <p:cNvSpPr txBox="1"/>
          <p:nvPr/>
        </p:nvSpPr>
        <p:spPr>
          <a:xfrm>
            <a:off x="1475363" y="2607247"/>
            <a:ext cx="1794300" cy="381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3350687" y="2607247"/>
            <a:ext cx="1794300" cy="381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personal upgrade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5226011" y="2607247"/>
            <a:ext cx="1794300" cy="381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Dislike the halogen light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Criticize visibility in low light condition/bad weather</a:t>
            </a:r>
            <a:endParaRPr b="1" i="0" sz="500" u="none" cap="none" strike="noStrik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7245800" y="2607237"/>
            <a:ext cx="1800900" cy="381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 removing the halogen and better upgrade than Ford Ranger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3350687" y="3042590"/>
            <a:ext cx="1794300" cy="42776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“Mới chốt con này, đổi đèn Halogen thành bóng Led 2tr”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 txBox="1"/>
          <p:nvPr/>
        </p:nvSpPr>
        <p:spPr>
          <a:xfrm>
            <a:off x="5226011" y="3042590"/>
            <a:ext cx="1794300" cy="42776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“Cụm đèn đẹp như thế mà còn cố nhét mấy cái bóng xi-nhan halogen vào cho đc”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“Đèn halogen là không thích rồi”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“Dúng cải lùi thật. Ví dụ như đèn nè, tối lắm, đi mưa hay sương mù ko thấy gì”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8"/>
          <p:cNvSpPr txBox="1"/>
          <p:nvPr/>
        </p:nvSpPr>
        <p:spPr>
          <a:xfrm>
            <a:off x="1475363" y="3042583"/>
            <a:ext cx="1794300" cy="427769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7245800" y="3042581"/>
            <a:ext cx="1800900" cy="42776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“Cụm đèn đẹp như thế mà còn cố nhét mấy cái bóng xi-nhan halogen vào cho đc. Những gì ranger đã có rồi thì phải làm bằng hoặc hơn may ra mới cạnh tranh đc đằng này làm toàn những cải lùi”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8"/>
          <p:cNvSpPr txBox="1"/>
          <p:nvPr/>
        </p:nvSpPr>
        <p:spPr>
          <a:xfrm>
            <a:off x="1475363" y="3537530"/>
            <a:ext cx="1794300" cy="212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Bigger tires than Ford Ranger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 txBox="1"/>
          <p:nvPr/>
        </p:nvSpPr>
        <p:spPr>
          <a:xfrm>
            <a:off x="3350687" y="3537530"/>
            <a:ext cx="1794300" cy="212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8"/>
          <p:cNvSpPr txBox="1"/>
          <p:nvPr/>
        </p:nvSpPr>
        <p:spPr>
          <a:xfrm>
            <a:off x="5226011" y="3537530"/>
            <a:ext cx="1794300" cy="212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Rough wheels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Not beautiful wheels</a:t>
            </a:r>
            <a:endParaRPr b="1" i="0" sz="500" u="none" cap="none" strike="noStrik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7245800" y="3537526"/>
            <a:ext cx="1800900" cy="212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bigger tires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3350687" y="3799031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5226011" y="3799035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“Gầm bánh ko đẹp mấy”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“Chỗ bánh xe xấu và hơi thô”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1475363" y="3799035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“Trên video vậy thôi chứ ngoài thực nhìn lốp nó to hơn ranger WT đó bạn”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8"/>
          <p:cNvSpPr txBox="1"/>
          <p:nvPr/>
        </p:nvSpPr>
        <p:spPr>
          <a:xfrm>
            <a:off x="7245800" y="3799032"/>
            <a:ext cx="18009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“Con này về lắp space cho rộng chân, lắp cặp lốp to hơn tý bao ngoại hình ngầu cân đối”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 txBox="1"/>
          <p:nvPr/>
        </p:nvSpPr>
        <p:spPr>
          <a:xfrm>
            <a:off x="223294" y="4232775"/>
            <a:ext cx="1133400" cy="806812"/>
          </a:xfrm>
          <a:prstGeom prst="rect">
            <a:avLst/>
          </a:prstGeom>
          <a:solidFill>
            <a:srgbClr val="FABF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DOORS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(0.7%)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Neg: 0.7%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8"/>
          <p:cNvSpPr txBox="1"/>
          <p:nvPr/>
        </p:nvSpPr>
        <p:spPr>
          <a:xfrm>
            <a:off x="1475372" y="4232780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3350696" y="4232780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5226021" y="4232780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Negative if comparing  with Ranger</a:t>
            </a:r>
            <a:endParaRPr b="1" i="0" sz="500" u="none" cap="none" strike="noStrik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 txBox="1"/>
          <p:nvPr/>
        </p:nvSpPr>
        <p:spPr>
          <a:xfrm>
            <a:off x="7245875" y="4232779"/>
            <a:ext cx="18009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air vent in the back seat 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 txBox="1"/>
          <p:nvPr/>
        </p:nvSpPr>
        <p:spPr>
          <a:xfrm>
            <a:off x="3350684" y="4563713"/>
            <a:ext cx="1794300" cy="475874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 txBox="1"/>
          <p:nvPr/>
        </p:nvSpPr>
        <p:spPr>
          <a:xfrm>
            <a:off x="5226005" y="4563713"/>
            <a:ext cx="1794300" cy="475874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“Nguyên cái cánh cửa mỏng và khi đóng ko chắc là đã thua ranger rồi”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“Cửa mỏng như xe con. đã là bán tải phải to góc cạnh cái gì cũng phải dày”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b="0" i="0" lang="en-US" sz="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“Đã từ phân vân na với triton. Sau khi đóng cửa xe con triton thì xuống tiền na luôn”</a:t>
            </a:r>
            <a:endParaRPr b="0" i="0" sz="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1475363" y="4563713"/>
            <a:ext cx="1794300" cy="475874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7245856" y="4563713"/>
            <a:ext cx="1800900" cy="475874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“Ko có cửa gió hàng sau nhỉ”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8"/>
          <p:cNvCxnSpPr/>
          <p:nvPr/>
        </p:nvCxnSpPr>
        <p:spPr>
          <a:xfrm flipH="1">
            <a:off x="7145791" y="846300"/>
            <a:ext cx="24900" cy="3920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</p:cxnSp>
      <p:pic>
        <p:nvPicPr>
          <p:cNvPr id="274" name="Google Shape;2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321999" y="630350"/>
            <a:ext cx="405300" cy="4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/>
          <p:nvPr>
            <p:ph type="title"/>
          </p:nvPr>
        </p:nvSpPr>
        <p:spPr>
          <a:xfrm>
            <a:off x="174600" y="103913"/>
            <a:ext cx="8431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VOICE | </a:t>
            </a:r>
            <a:r>
              <a:rPr b="1" i="0" lang="en-US" sz="2000" u="none" cap="none" strike="noStrike">
                <a:solidFill>
                  <a:schemeClr val="lt1"/>
                </a:solidFill>
                <a:highlight>
                  <a:srgbClr val="A85628"/>
                </a:highlight>
                <a:latin typeface="Arial"/>
                <a:ea typeface="Arial"/>
                <a:cs typeface="Arial"/>
                <a:sym typeface="Arial"/>
              </a:rPr>
              <a:t>PRICING</a:t>
            </a:r>
            <a:endParaRPr b="1" i="0" sz="1400" u="none" cap="none" strike="noStrike">
              <a:solidFill>
                <a:schemeClr val="lt1"/>
              </a:solidFill>
              <a:highlight>
                <a:srgbClr val="A8562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237356" y="1121625"/>
            <a:ext cx="1105200" cy="922200"/>
          </a:xfrm>
          <a:prstGeom prst="rect">
            <a:avLst/>
          </a:prstGeom>
          <a:solidFill>
            <a:srgbClr val="F8B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2WD AT GLX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(53.3%)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4.2% | Neu: 47.4%  Neg: 1.7%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223350" y="2111096"/>
            <a:ext cx="1133400" cy="986400"/>
          </a:xfrm>
          <a:prstGeom prst="rect">
            <a:avLst/>
          </a:prstGeom>
          <a:solidFill>
            <a:srgbClr val="F8B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4WD AT ATHLETE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(29.7%)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223350" y="3165037"/>
            <a:ext cx="1133400" cy="934630"/>
          </a:xfrm>
          <a:prstGeom prst="rect">
            <a:avLst/>
          </a:prstGeom>
          <a:solidFill>
            <a:srgbClr val="F8B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TRITON OLD VERSION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(17%)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0.0% | Neu: 10%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Neg: 0%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1500263" y="1112362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selling price is at a reasonable level within its segment.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3375587" y="1112362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about the price of the GLX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5250912" y="1112362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price has increased compared to previous years.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It's more expensive now, but many features from earlier versions have been removed.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7278637" y="1112362"/>
            <a:ext cx="17943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discounts that better reflect the reduced features/options.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3375587" y="1464441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“Xin giá bản 1 cầu biển tỉnh”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“Giá lăn bánh glx đắk nông bao nhiêu ạ”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“Triton GLX có màu cam không,giá lăn bánh bao nhiêu?”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5250911" y="1464441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“Em nay con phải giảm nữa vì cat quá nhiều có cái đèn cũng cắt”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“Đúng rồi. Glx trước có lúc lăn bánh 585. Giờ lên cả trăm tr”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“Toàn nâng giá xong ưu đãi😂😂 chiêu tròvl😅”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1500263" y="1464441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“Xe đẹp mà rẻ quá”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“giá ok rồi.”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“Giá bán ở mức hợp lý, bản GLX dễ tiếp cận nhưng bản cao cấp trên 900 triệu thì hơi sát với các mẫu bán tải hạng sang”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7278636" y="1464441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“Giảm xuống tí nữa”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1500308" y="2111123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Pricing is reasonable in relation to its competitors.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3375633" y="2111123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about the price of the Athlete version.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5250957" y="2111123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2WD version is considered overpriced.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7278682" y="2111123"/>
            <a:ext cx="17943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Expect the 4WD AT ATHLETE to be more affordable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9"/>
          <p:cNvSpPr txBox="1"/>
          <p:nvPr/>
        </p:nvSpPr>
        <p:spPr>
          <a:xfrm>
            <a:off x="3375638" y="2437388"/>
            <a:ext cx="1794300" cy="660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“Xin giá bản At”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“Em xin giá lăn bánh bản này”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“Bản athtele ra biển HP giờ bao nhiêu ad”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“triton này bản cao nhất giờ lăn bánh tỉnh bnhieu bác, để e biết đường ước mơ”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5250957" y="2437388"/>
            <a:ext cx="1794300" cy="660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“mitsu hơi ngáo giá đó bác.”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“Giá vẫn cao quá - lăn bánh bản 2 cầu full vào tầm 880 là hợp lý . Chứ lăn bánh 950-960 thì chịu rồi”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“Xe như cc mà 940tr vkl”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9"/>
          <p:cNvSpPr txBox="1"/>
          <p:nvPr/>
        </p:nvSpPr>
        <p:spPr>
          <a:xfrm>
            <a:off x="1500319" y="2437388"/>
            <a:ext cx="1794300" cy="660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“Giá xe hợp lý với các đối thủ mà anh ơi 😅”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“All new ra biển dao động tầm bnh z bác ơi?”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“Ngon bổ rẻ 🥰”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 txBox="1"/>
          <p:nvPr/>
        </p:nvSpPr>
        <p:spPr>
          <a:xfrm>
            <a:off x="7278676" y="2437388"/>
            <a:ext cx="1794300" cy="660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“bản 2 cầu full vào tầm 880 là hợp lý”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1475400" y="3174325"/>
            <a:ext cx="1794300" cy="240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3350729" y="3174325"/>
            <a:ext cx="1794300" cy="240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10063" lvl="0" marL="1185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 about the price of the old version</a:t>
            </a:r>
            <a:endParaRPr b="1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5226058" y="3174325"/>
            <a:ext cx="1794300" cy="240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9"/>
          <p:cNvSpPr txBox="1"/>
          <p:nvPr/>
        </p:nvSpPr>
        <p:spPr>
          <a:xfrm>
            <a:off x="7253789" y="3174319"/>
            <a:ext cx="1800900" cy="24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3350738" y="3466667"/>
            <a:ext cx="1794300" cy="6330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“Giá xe về 800tr chưa shop ??”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“Báo giá”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“Cho sin giá 3 phiên bản”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5226056" y="3466667"/>
            <a:ext cx="1794300" cy="6330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9"/>
          <p:cNvSpPr txBox="1"/>
          <p:nvPr/>
        </p:nvSpPr>
        <p:spPr>
          <a:xfrm>
            <a:off x="1475419" y="3466667"/>
            <a:ext cx="1794300" cy="6330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7253794" y="3466668"/>
            <a:ext cx="1800900" cy="6330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9"/>
          <p:cNvSpPr txBox="1"/>
          <p:nvPr/>
        </p:nvSpPr>
        <p:spPr>
          <a:xfrm>
            <a:off x="223294" y="4240629"/>
            <a:ext cx="1133400" cy="738545"/>
          </a:xfrm>
          <a:prstGeom prst="rect">
            <a:avLst/>
          </a:prstGeom>
          <a:solidFill>
            <a:srgbClr val="F8B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HIGH PRICE</a:t>
            </a:r>
            <a:endParaRPr b="1" i="0" sz="1000" u="none" cap="none" strike="noStrike">
              <a:solidFill>
                <a:srgbClr val="ED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(3.4%)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Neg: 3.4%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9"/>
          <p:cNvSpPr txBox="1"/>
          <p:nvPr/>
        </p:nvSpPr>
        <p:spPr>
          <a:xfrm>
            <a:off x="1475401" y="4183720"/>
            <a:ext cx="1800900" cy="21101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3357260" y="4183722"/>
            <a:ext cx="1794300" cy="2110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63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5226057" y="4183713"/>
            <a:ext cx="1800900" cy="211017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price compared to other versions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7260376" y="4181110"/>
            <a:ext cx="1800900" cy="213625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rgbClr val="0E0E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3357264" y="4469986"/>
            <a:ext cx="1794300" cy="509413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5232580" y="4469987"/>
            <a:ext cx="1794300" cy="509413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“Đắt ngang xls 2 cầu”, “quá đắt xo với fo”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“Nam Nam nó đắt lắm không mua nổi”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“Đẹp mà giá cao”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1475419" y="4469987"/>
            <a:ext cx="1800900" cy="509413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7260376" y="4469986"/>
            <a:ext cx="1800900" cy="509413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9"/>
          <p:cNvCxnSpPr/>
          <p:nvPr/>
        </p:nvCxnSpPr>
        <p:spPr>
          <a:xfrm flipH="1">
            <a:off x="7145791" y="846300"/>
            <a:ext cx="24900" cy="3920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8" name="Google Shape;318;p9"/>
          <p:cNvSpPr/>
          <p:nvPr/>
        </p:nvSpPr>
        <p:spPr>
          <a:xfrm>
            <a:off x="7270704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Customers' Expectation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32117" y="2729525"/>
            <a:ext cx="15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18% | Neu: 67%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Neg: 15%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321999" y="630350"/>
            <a:ext cx="405300" cy="4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9"/>
          <p:cNvSpPr/>
          <p:nvPr/>
        </p:nvSpPr>
        <p:spPr>
          <a:xfrm>
            <a:off x="1500269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039042"/>
          </a:solidFill>
          <a:ln cap="flat" cmpd="sng" w="9525">
            <a:solidFill>
              <a:srgbClr val="3652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3375593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0E0E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250917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A42617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 txBox="1"/>
          <p:nvPr>
            <p:ph type="title"/>
          </p:nvPr>
        </p:nvSpPr>
        <p:spPr>
          <a:xfrm>
            <a:off x="174600" y="103913"/>
            <a:ext cx="8431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VOICE | </a:t>
            </a:r>
            <a:r>
              <a:rPr b="1" i="0" lang="en-US" sz="2000" u="none" cap="none" strike="noStrike">
                <a:solidFill>
                  <a:schemeClr val="lt1"/>
                </a:solidFill>
                <a:highlight>
                  <a:srgbClr val="351C75"/>
                </a:highlight>
                <a:latin typeface="Arial"/>
                <a:ea typeface="Arial"/>
                <a:cs typeface="Arial"/>
                <a:sym typeface="Arial"/>
              </a:rPr>
              <a:t>INTERIOR</a:t>
            </a:r>
            <a:endParaRPr b="1" i="0" sz="1400" u="none" cap="none" strike="noStrike">
              <a:solidFill>
                <a:schemeClr val="lt1"/>
              </a:solidFill>
              <a:highlight>
                <a:srgbClr val="351C75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 txBox="1"/>
          <p:nvPr/>
        </p:nvSpPr>
        <p:spPr>
          <a:xfrm>
            <a:off x="237356" y="1121625"/>
            <a:ext cx="1105200" cy="809700"/>
          </a:xfrm>
          <a:prstGeom prst="rect">
            <a:avLst/>
          </a:prstGeom>
          <a:solidFill>
            <a:srgbClr val="F8B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Interior Space</a:t>
            </a:r>
            <a:endParaRPr b="1" i="0" sz="1000" u="none" cap="none" strike="noStrike">
              <a:solidFill>
                <a:srgbClr val="ED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(40.6%)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32% | Neu: 0.7%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Neg: 7%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 txBox="1"/>
          <p:nvPr/>
        </p:nvSpPr>
        <p:spPr>
          <a:xfrm>
            <a:off x="223350" y="2006433"/>
            <a:ext cx="1133400" cy="986400"/>
          </a:xfrm>
          <a:prstGeom prst="rect">
            <a:avLst/>
          </a:prstGeom>
          <a:solidFill>
            <a:srgbClr val="F8B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Stereo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(20.7%)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Neu: 14.8%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Neg: 5.3%</a:t>
            </a:r>
            <a:endParaRPr b="1" i="0" sz="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232528" y="3068100"/>
            <a:ext cx="1133400" cy="683100"/>
          </a:xfrm>
          <a:prstGeom prst="rect">
            <a:avLst/>
          </a:prstGeom>
          <a:solidFill>
            <a:srgbClr val="F8B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Steering Wheel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(13.4%)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Pos: 3.1% | Neu: 5.1%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Neg: 5.3%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1500263" y="1112362"/>
            <a:ext cx="1794300" cy="276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Good-designed interior with ample cabin space.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3375587" y="1112362"/>
            <a:ext cx="1794300" cy="276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Pay attention to the material of the interior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Asking about information interior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5250912" y="1112362"/>
            <a:ext cx="1794300" cy="276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cabin feels cramped, and it's easy to bump head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interior design not luxurious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7278637" y="1112362"/>
            <a:ext cx="1794300" cy="276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dark-tone interiors with leather upholstery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3375587" y="1464448"/>
            <a:ext cx="1794300" cy="466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“Nội thất đc chọn màu ghế da nữa là ổn. Cái màu cam này nó hơi rực nhình ko sang”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"Bác quay nội thất chiếc này được ko? “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5250912" y="1464448"/>
            <a:ext cx="1794300" cy="466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“Hàng 2 bán tải con nào cũng chật” “Ông nào cao to ngồi đầu gần trạm nóc 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“chưa thấy cái nột thất con bán tải nào xấu bằng con triton mới”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1500263" y="1464448"/>
            <a:ext cx="1794300" cy="466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“Nội thất đẹp”,  “nội thất nịnh mắt nhỉ”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“hàng 2 rộng , nọ cho thằng cu m8 ngồi còn ok”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“Nội thất triton đẹp thật “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7278637" y="1464448"/>
            <a:ext cx="1794300" cy="4668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“Mình thấy nội thất loè loẹt ko hợp bán tải 1 mầu tối chút là OK hơn nhìn ko rối mắt”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1500300" y="2006455"/>
            <a:ext cx="1794300" cy="360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3375625" y="2006455"/>
            <a:ext cx="1794300" cy="36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more information about car audio speakers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Speaker used on Triton are similar to Pajero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5250950" y="2006455"/>
            <a:ext cx="1794300" cy="360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speaker sound quality is not good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7278675" y="2006455"/>
            <a:ext cx="1794300" cy="360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Expect stereo System like Ranger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3375638" y="2413687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“không biết xe này loa nghe hay không nhể”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“bác làm về âm thanh trên triton mới này đi !”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“Con này và pajero sử dụng cùng loa à anh ơi”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5250956" y="2413687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“Triton loa nghe như xe tải vậy”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“Dở một 9 một mười với vf8 plus”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“Mitsu này loa kém e đi thử mấy dòng mitsu rồi loa đều không hay cả lùng bùng lắm”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“Chê mỗi phần loa🙂”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1500319" y="2413687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 txBox="1"/>
          <p:nvPr/>
        </p:nvSpPr>
        <p:spPr>
          <a:xfrm>
            <a:off x="7278675" y="2413687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b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“Loa trêm ranger đánh hay hơn nhiều!^^”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“Loa fodr nghe vẫn hay hơn”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 txBox="1"/>
          <p:nvPr/>
        </p:nvSpPr>
        <p:spPr>
          <a:xfrm>
            <a:off x="1484578" y="3077388"/>
            <a:ext cx="1794300" cy="240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Steering wheel provides good driving feel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 txBox="1"/>
          <p:nvPr/>
        </p:nvSpPr>
        <p:spPr>
          <a:xfrm>
            <a:off x="3359907" y="3077388"/>
            <a:ext cx="1794300" cy="240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Ask about the feeling steering wheel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rgbClr val="0E0E0E"/>
                </a:solidFill>
                <a:latin typeface="Arial"/>
                <a:ea typeface="Arial"/>
                <a:cs typeface="Arial"/>
                <a:sym typeface="Arial"/>
              </a:rPr>
              <a:t>Like  the old version steering wheel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5235236" y="3077388"/>
            <a:ext cx="1794300" cy="2403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steering wheel design is unattractive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7262967" y="3077381"/>
            <a:ext cx="1800900" cy="24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the steering wheel to feel good.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3359916" y="3369730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“@ e thích vô lăng đời cũ hơn”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“Vô lăng cảm giác lái phê lắm hả bác?”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“Vườn đào ở khu nào thế ? Triton GLS đấy chạy vô lăng có nặng ko?”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5235234" y="3369730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“Ghét mỗi vô lăng hơi nặng”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“Xe bán tải nhìn cai vô lăn chán”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“Cả cái xe vuông vắn làm cái vô lăng như lạc quẻ luôn 🥺’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1484597" y="3369730"/>
            <a:ext cx="17943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“vô lăng rất cảm xúc, nặng, siết căng, độ mịn và rõ nét”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“@@ vô lăng như xe 500 triệu ạ, e thấy vô lăng con này phê quả mê luôn”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7262972" y="3369732"/>
            <a:ext cx="1800900" cy="381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“Quang Che điện vẫn thấy nặng, chắc do xe mới chứ thấy nó chưa nhẹ như 4 😳”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223294" y="3826463"/>
            <a:ext cx="1133400" cy="1122300"/>
          </a:xfrm>
          <a:prstGeom prst="rect">
            <a:avLst/>
          </a:prstGeom>
          <a:solidFill>
            <a:srgbClr val="F8B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D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Paddle Shifter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(10.2%)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Neu: 3.4% |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Neg: 6.9%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1475419" y="3826463"/>
            <a:ext cx="1812900" cy="466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3369090" y="3826471"/>
            <a:ext cx="1794300" cy="466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Ask about using the paddle shifter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5237887" y="3826463"/>
            <a:ext cx="1800900" cy="4668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255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Complaints about the removal of the Paddle Shifter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7272206" y="3826469"/>
            <a:ext cx="1800900" cy="466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171450" spcFirstLastPara="1" rIns="91425" wrap="square" tIns="91425">
            <a:noAutofit/>
          </a:bodyPr>
          <a:lstStyle/>
          <a:p>
            <a:pPr indent="-3810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0E0E"/>
              </a:buClr>
              <a:buSzPts val="500"/>
              <a:buFont typeface="Arial"/>
              <a:buChar char="●"/>
            </a:pPr>
            <a:r>
              <a:rPr b="1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Expect paddle shifters for a better design</a:t>
            </a:r>
            <a:endParaRPr b="1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3357264" y="4369500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“Khi vượt xe dài thì chuyển về số tay à a,e chưa hiểu cái đó lắm”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“Quang Trần hãng bỏ lẫy tập trung vào nội thất với kéo dài chân rồi 😂”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5232580" y="4369500"/>
            <a:ext cx="17943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“tự nhiên lại cắt lẫy chuyển số trên vô lăng”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“Có nẫy chuyển số đâu”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“Đc cais lẫy chuyển số cần thiết thì đem tháo đi, đầu thì xấu. Mình là fan của mitsu nhưng thật sự buồn chả muốn nói….”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1475419" y="4369500"/>
            <a:ext cx="18009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n/a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7260375" y="4369500"/>
            <a:ext cx="1800900" cy="579300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“Con triton mà cơ cái lẫy gẩy số như đời cũ thì đẹp, tiếc là🤣🤣😆”</a:t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10"/>
          <p:cNvCxnSpPr/>
          <p:nvPr/>
        </p:nvCxnSpPr>
        <p:spPr>
          <a:xfrm flipH="1">
            <a:off x="7145791" y="846300"/>
            <a:ext cx="24900" cy="3920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7" name="Google Shape;367;p10"/>
          <p:cNvSpPr/>
          <p:nvPr/>
        </p:nvSpPr>
        <p:spPr>
          <a:xfrm>
            <a:off x="7270704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0B5394"/>
          </a:solidFill>
          <a:ln cap="flat" cmpd="sng" w="952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Customers' Expectation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7321999" y="630350"/>
            <a:ext cx="405300" cy="40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"/>
          <p:cNvSpPr/>
          <p:nvPr/>
        </p:nvSpPr>
        <p:spPr>
          <a:xfrm>
            <a:off x="1500269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039042"/>
          </a:solidFill>
          <a:ln cap="flat" cmpd="sng" w="9525">
            <a:solidFill>
              <a:srgbClr val="3652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375593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0E0E0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250917" y="655650"/>
            <a:ext cx="1794300" cy="381300"/>
          </a:xfrm>
          <a:prstGeom prst="roundRect">
            <a:avLst>
              <a:gd fmla="val 16667" name="adj"/>
            </a:avLst>
          </a:prstGeom>
          <a:solidFill>
            <a:srgbClr val="A42617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​​テーマ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Tran Thanh. Phuc</dc:creator>
</cp:coreProperties>
</file>